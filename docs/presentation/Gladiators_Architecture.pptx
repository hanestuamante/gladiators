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Số object</c:v>
                </c:pt>
              </c:strCache>
            </c:strRef>
          </c:tx>
          <c:dPt>
            <c:idx val="0"/>
            <c:spPr>
              <a:solidFill>
                <a:srgbClr val="1E4D8C"/>
              </a:solidFill>
            </c:spPr>
          </c:dPt>
          <c:dPt>
            <c:idx val="1"/>
            <c:spPr>
              <a:solidFill>
                <a:srgbClr val="0E7C86"/>
              </a:solidFill>
            </c:spPr>
          </c:dPt>
          <c:dPt>
            <c:idx val="2"/>
            <c:spPr>
              <a:solidFill>
                <a:srgbClr val="C96F1E"/>
              </a:solidFill>
            </c:spPr>
          </c:dPt>
          <c:dPt>
            <c:idx val="3"/>
            <c:spPr>
              <a:solidFill>
                <a:srgbClr val="6B468F"/>
              </a:solidFill>
            </c:spPr>
          </c:dPt>
          <c:dPt>
            <c:idx val="4"/>
            <c:spPr>
              <a:solidFill>
                <a:srgbClr val="8A97A5"/>
              </a:solidFill>
            </c:spPr>
          </c:dPt>
          <c:cat>
            <c:strRef>
              <c:f>Sheet1!$A$2:$A$6</c:f>
              <c:strCache>
                <c:ptCount val="5"/>
                <c:pt idx="0">
                  <c:v>derived_metric</c:v>
                </c:pt>
                <c:pt idx="1">
                  <c:v>measure</c:v>
                </c:pt>
                <c:pt idx="2">
                  <c:v>dimension</c:v>
                </c:pt>
                <c:pt idx="3">
                  <c:v>entity</c:v>
                </c:pt>
                <c:pt idx="4">
                  <c:v>context</c:v>
                </c:pt>
              </c:strCache>
            </c:strRef>
          </c:cat>
          <c:val>
            <c:numRef>
              <c:f>Sheet1!$B$2:$B$6</c:f>
              <c:numCache>
                <c:formatCode>General</c:formatCode>
                <c:ptCount val="5"/>
                <c:pt idx="0">
                  <c:v>33</c:v>
                </c:pt>
                <c:pt idx="1">
                  <c:v>25</c:v>
                </c:pt>
                <c:pt idx="2">
                  <c:v>14</c:v>
                </c:pt>
                <c:pt idx="3">
                  <c:v>11</c:v>
                </c:pt>
                <c:pt idx="4">
                  <c:v>3</c:v>
                </c:pt>
              </c:numCache>
            </c:numRef>
          </c:val>
        </c:ser>
        <c:dLbls>
          <c:numFmt formatCode="0" sourceLinked="0"/>
          <c:txPr>
            <a:bodyPr/>
            <a:lstStyle/>
            <a:p>
              <a:pPr>
                <a:defRPr sz="1100" b="1">
                  <a:solidFill>
                    <a:srgbClr val="FFFFFF"/>
                  </a:solidFill>
                  <a:latin typeface="Segoe UI"/>
                </a:defRPr>
              </a:pPr>
            </a:p>
          </c:txPr>
          <c:showLegendKey val="0"/>
          <c:showVal val="0"/>
          <c:showCatName val="0"/>
          <c:showSerName val="0"/>
          <c:showPercent val="0"/>
          <c:showBubbleSize val="0"/>
          <c:showLeaderLines val="1"/>
        </c:dLbls>
        <c:firstSliceAng val="0"/>
        <c:holeSize val="50"/>
      </c:doughnutChart>
    </c:plotArea>
    <c:legend>
      <c:legendPos val="b"/>
      <c:layout/>
      <c:overlay val="0"/>
    </c:legend>
    <c:plotVisOnly val="1"/>
    <c:dispBlanksAs val="gap"/>
    <c:showDLblsOverMax val="0"/>
  </c:chart>
  <c:txPr>
    <a:bodyPr/>
    <a:lstStyle/>
    <a:p>
      <a:pPr>
        <a:defRPr sz="1100">
          <a:solidFill>
            <a:srgbClr val="33414E"/>
          </a:solidFill>
          <a:latin typeface="Segoe UI"/>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Token budget</c:v>
                </c:pt>
              </c:strCache>
            </c:strRef>
          </c:tx>
          <c:dPt>
            <c:idx val="0"/>
            <c:spPr>
              <a:solidFill>
                <a:srgbClr val="1E4D8C"/>
              </a:solidFill>
            </c:spPr>
          </c:dPt>
          <c:dPt>
            <c:idx val="1"/>
            <c:spPr>
              <a:solidFill>
                <a:srgbClr val="1E4D8C"/>
              </a:solidFill>
            </c:spPr>
          </c:dPt>
          <c:dPt>
            <c:idx val="2"/>
            <c:spPr>
              <a:solidFill>
                <a:srgbClr val="0E7C86"/>
              </a:solidFill>
            </c:spPr>
          </c:dPt>
          <c:dPt>
            <c:idx val="3"/>
            <c:spPr>
              <a:solidFill>
                <a:srgbClr val="0E7C86"/>
              </a:solidFill>
            </c:spPr>
          </c:dPt>
          <c:dPt>
            <c:idx val="4"/>
            <c:spPr>
              <a:solidFill>
                <a:srgbClr val="C96F1E"/>
              </a:solidFill>
            </c:spPr>
          </c:dPt>
          <c:dPt>
            <c:idx val="5"/>
            <c:spPr>
              <a:solidFill>
                <a:srgbClr val="C96F1E"/>
              </a:solidFill>
            </c:spPr>
          </c:dPt>
          <c:dPt>
            <c:idx val="6"/>
            <c:spPr>
              <a:solidFill>
                <a:srgbClr val="6B468F"/>
              </a:solidFill>
            </c:spPr>
          </c:dPt>
          <c:dPt>
            <c:idx val="7"/>
            <c:spPr>
              <a:solidFill>
                <a:srgbClr val="8A97A5"/>
              </a:solidFill>
            </c:spPr>
          </c:dPt>
          <c:cat>
            <c:strRef>
              <c:f>Sheet1!$A$2:$A$9</c:f>
              <c:strCache>
                <c:ptCount val="8"/>
                <c:pt idx="0">
                  <c:v>AtomicPlan
/P8</c:v>
                </c:pt>
                <c:pt idx="1">
                  <c:v>Alternate
/P10</c:v>
                </c:pt>
                <c:pt idx="2">
                  <c:v>Generate
/P2</c:v>
                </c:pt>
                <c:pt idx="3">
                  <c:v>Critic
/P9</c:v>
                </c:pt>
                <c:pt idx="4">
                  <c:v>Decomp.
proposal</c:v>
                </c:pt>
                <c:pt idx="5">
                  <c:v>Atomic
repair</c:v>
                </c:pt>
                <c:pt idx="6">
                  <c:v>Adjudicate
/P11</c:v>
                </c:pt>
                <c:pt idx="7">
                  <c:v>Extract
/P6</c:v>
                </c:pt>
              </c:strCache>
            </c:strRef>
          </c:cat>
          <c:val>
            <c:numRef>
              <c:f>Sheet1!$B$2:$B$9</c:f>
              <c:numCache>
                <c:formatCode>General</c:formatCode>
                <c:ptCount val="8"/>
                <c:pt idx="0">
                  <c:v>6000</c:v>
                </c:pt>
                <c:pt idx="1">
                  <c:v>6000</c:v>
                </c:pt>
                <c:pt idx="2">
                  <c:v>4000</c:v>
                </c:pt>
                <c:pt idx="3">
                  <c:v>4000</c:v>
                </c:pt>
                <c:pt idx="4">
                  <c:v>3000</c:v>
                </c:pt>
                <c:pt idx="5">
                  <c:v>3000</c:v>
                </c:pt>
                <c:pt idx="6">
                  <c:v>3000</c:v>
                </c:pt>
                <c:pt idx="7">
                  <c:v>2000</c:v>
                </c:pt>
              </c:numCache>
            </c:numRef>
          </c:val>
        </c:ser>
        <c:dLbls>
          <c:txPr>
            <a:bodyPr/>
            <a:lstStyle/>
            <a:p>
              <a:pPr>
                <a:defRPr sz="1000" b="1">
                  <a:solidFill>
                    <a:srgbClr val="141B24"/>
                  </a:solidFill>
                  <a:latin typeface="Segoe UI"/>
                </a:defRPr>
              </a:pPr>
            </a:p>
          </c:txPr>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D8E0E8"/>
            </a:solidFill>
          </a:ln>
        </c:spPr>
        <c:crossAx val="-2113994440"/>
        <c:crosses val="autoZero"/>
        <c:auto val="1"/>
        <c:lblAlgn val="ctr"/>
        <c:lblOffset val="100"/>
        <c:noMultiLvlLbl val="0"/>
      </c:catAx>
      <c:valAx>
        <c:axId val="-2113994440"/>
        <c:scaling/>
        <c:delete val="0"/>
        <c:axPos val="l"/>
        <c:majorGridlines>
          <c:spPr>
            <a:ln>
              <a:solidFill>
                <a:srgbClr val="D8E0E8"/>
              </a:solidFill>
            </a:ln>
          </c:spPr>
        </c:majorGridlines>
        <c:majorTickMark val="out"/>
        <c:minorTickMark val="none"/>
        <c:tickLblPos val="nextTo"/>
        <c:spPr>
          <a:ln>
            <a:noFill/>
          </a:ln>
        </c:spPr>
        <c:crossAx val="-2068027336"/>
        <c:crosses val="autoZero"/>
      </c:valAx>
    </c:plotArea>
    <c:dispBlanksAs val="gap"/>
  </c:chart>
  <c:txPr>
    <a:bodyPr/>
    <a:lstStyle/>
    <a:p>
      <a:pPr>
        <a:defRPr sz="1000">
          <a:solidFill>
            <a:srgbClr val="33414E"/>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Số câu / 20</c:v>
                </c:pt>
              </c:strCache>
            </c:strRef>
          </c:tx>
          <c:dPt>
            <c:idx val="0"/>
            <c:spPr>
              <a:solidFill>
                <a:srgbClr val="1E4D8C"/>
              </a:solidFill>
            </c:spPr>
          </c:dPt>
          <c:dPt>
            <c:idx val="1"/>
            <c:spPr>
              <a:solidFill>
                <a:srgbClr val="A6333F"/>
              </a:solidFill>
            </c:spPr>
          </c:dPt>
          <c:dPt>
            <c:idx val="2"/>
            <c:spPr>
              <a:solidFill>
                <a:srgbClr val="2F7A4F"/>
              </a:solidFill>
            </c:spPr>
          </c:dPt>
          <c:dPt>
            <c:idx val="3"/>
            <c:spPr>
              <a:solidFill>
                <a:srgbClr val="C96F1E"/>
              </a:solidFill>
            </c:spPr>
          </c:dPt>
          <c:cat>
            <c:strRef>
              <c:f>Sheet1!$A$2:$A$5</c:f>
              <c:strCache>
                <c:ptCount val="4"/>
                <c:pt idx="0">
                  <c:v>Bỏ lỡ
(đáng lẽ trả lời được)</c:v>
                </c:pt>
                <c:pt idx="1">
                  <c:v>Từ chối đúng</c:v>
                </c:pt>
                <c:pt idx="2">
                  <c:v>Hiển thị SỐ SAI</c:v>
                </c:pt>
                <c:pt idx="3">
                  <c:v>Trả lời đúng</c:v>
                </c:pt>
              </c:strCache>
            </c:strRef>
          </c:cat>
          <c:val>
            <c:numRef>
              <c:f>Sheet1!$B$2:$B$5</c:f>
              <c:numCache>
                <c:formatCode>General</c:formatCode>
                <c:ptCount val="4"/>
                <c:pt idx="0">
                  <c:v>9</c:v>
                </c:pt>
                <c:pt idx="1">
                  <c:v>6</c:v>
                </c:pt>
                <c:pt idx="2">
                  <c:v>3</c:v>
                </c:pt>
                <c:pt idx="3">
                  <c:v>2</c:v>
                </c:pt>
              </c:numCache>
            </c:numRef>
          </c:val>
        </c:ser>
        <c:dLbls>
          <c:txPr>
            <a:bodyPr/>
            <a:lstStyle/>
            <a:p>
              <a:pPr>
                <a:defRPr sz="1200" b="1">
                  <a:solidFill>
                    <a:srgbClr val="141B24"/>
                  </a:solidFill>
                  <a:latin typeface="Segoe UI"/>
                </a:defRPr>
              </a:pPr>
            </a:p>
          </c:txPr>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spPr>
            <a:ln>
              <a:solidFill>
                <a:srgbClr val="D8E0E8"/>
              </a:solidFill>
            </a:ln>
          </c:spPr>
        </c:majorGridlines>
        <c:majorTickMark val="out"/>
        <c:minorTickMark val="none"/>
        <c:tickLblPos val="nextTo"/>
        <c:spPr>
          <a:ln>
            <a:noFill/>
          </a:ln>
        </c:spPr>
        <c:crossAx val="-2068027336"/>
        <c:crosses val="autoZero"/>
      </c:valAx>
    </c:plotArea>
    <c:dispBlanksAs val="gap"/>
  </c:chart>
  <c:txPr>
    <a:bodyPr/>
    <a:lstStyle/>
    <a:p>
      <a:pPr>
        <a:defRPr sz="1050">
          <a:solidFill>
            <a:srgbClr val="33414E"/>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Điểm</c:v>
                </c:pt>
              </c:strCache>
            </c:strRef>
          </c:tx>
          <c:dPt>
            <c:idx val="0"/>
            <c:spPr>
              <a:solidFill>
                <a:srgbClr val="2F7A4F"/>
              </a:solidFill>
            </c:spPr>
          </c:dPt>
          <c:dPt>
            <c:idx val="1"/>
            <c:spPr>
              <a:solidFill>
                <a:srgbClr val="2F7A4F"/>
              </a:solidFill>
            </c:spPr>
          </c:dPt>
          <c:dPt>
            <c:idx val="2"/>
            <c:spPr>
              <a:solidFill>
                <a:srgbClr val="2F7A4F"/>
              </a:solidFill>
            </c:spPr>
          </c:dPt>
          <c:dPt>
            <c:idx val="3"/>
            <c:spPr>
              <a:solidFill>
                <a:srgbClr val="2F7A4F"/>
              </a:solidFill>
            </c:spPr>
          </c:dPt>
          <c:dPt>
            <c:idx val="4"/>
            <c:spPr>
              <a:solidFill>
                <a:srgbClr val="2F7A4F"/>
              </a:solidFill>
            </c:spPr>
          </c:dPt>
          <c:dPt>
            <c:idx val="5"/>
            <c:spPr>
              <a:solidFill>
                <a:srgbClr val="2F7A4F"/>
              </a:solidFill>
            </c:spPr>
          </c:dPt>
          <c:dPt>
            <c:idx val="6"/>
            <c:spPr>
              <a:solidFill>
                <a:srgbClr val="2F7A4F"/>
              </a:solidFill>
            </c:spPr>
          </c:dPt>
          <c:cat>
            <c:strRef>
              <c:f>Sheet1!$A$2:$A$8</c:f>
              <c:strCache>
                <c:ptCount val="7"/>
                <c:pt idx="0">
                  <c:v>legacy questions
60×3</c:v>
                </c:pt>
                <c:pt idx="1">
                  <c:v>V2
11×3</c:v>
                </c:pt>
                <c:pt idx="2">
                  <c:v>A19
6×3</c:v>
                </c:pt>
                <c:pt idx="3">
                  <c:v>boundaries
9×3</c:v>
                </c:pt>
                <c:pt idx="4">
                  <c:v>ambiguity
4×3</c:v>
                </c:pt>
                <c:pt idx="5">
                  <c:v>critic
4×3</c:v>
                </c:pt>
                <c:pt idx="6">
                  <c:v>counting
3×3</c:v>
                </c:pt>
              </c:strCache>
            </c:strRef>
          </c:cat>
          <c:val>
            <c:numRef>
              <c:f>Sheet1!$B$2:$B$8</c:f>
              <c:numCache>
                <c:formatCode>General</c:formatCode>
                <c:ptCount val="7"/>
                <c:pt idx="0">
                  <c:v>1.0</c:v>
                </c:pt>
                <c:pt idx="1">
                  <c:v>1.0</c:v>
                </c:pt>
                <c:pt idx="2">
                  <c:v>1.0</c:v>
                </c:pt>
                <c:pt idx="3">
                  <c:v>1.0</c:v>
                </c:pt>
                <c:pt idx="4">
                  <c:v>1.0</c:v>
                </c:pt>
                <c:pt idx="5">
                  <c:v>1.0</c:v>
                </c:pt>
                <c:pt idx="6">
                  <c:v>1.0</c:v>
                </c:pt>
              </c:numCache>
            </c:numRef>
          </c:val>
        </c:ser>
        <c:dLbls>
          <c:numFmt formatCode="0.000" sourceLinked="0"/>
          <c:txPr>
            <a:bodyPr/>
            <a:lstStyle/>
            <a:p>
              <a:pPr>
                <a:defRPr sz="1050" b="1">
                  <a:solidFill>
                    <a:srgbClr val="141B24"/>
                  </a:solidFill>
                  <a:latin typeface="Segoe UI"/>
                </a:defRPr>
              </a:pPr>
            </a:p>
          </c:txPr>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0"/>
          <c:min val="0.0"/>
        </c:scaling>
        <c:delete val="0"/>
        <c:axPos val="l"/>
        <c:majorGridlines>
          <c:spPr>
            <a:ln>
              <a:solidFill>
                <a:srgbClr val="D8E0E8"/>
              </a:solidFill>
            </a:ln>
          </c:spPr>
        </c:majorGridlines>
        <c:majorTickMark val="out"/>
        <c:minorTickMark val="none"/>
        <c:tickLblPos val="nextTo"/>
        <c:spPr>
          <a:ln>
            <a:noFill/>
          </a:ln>
        </c:spPr>
        <c:crossAx val="-2068027336"/>
        <c:crosses val="autoZero"/>
      </c:valAx>
    </c:plotArea>
    <c:dispBlanksAs val="gap"/>
  </c:chart>
  <c:txPr>
    <a:bodyPr/>
    <a:lstStyle/>
    <a:p>
      <a:pPr>
        <a:defRPr sz="1000">
          <a:solidFill>
            <a:srgbClr val="33414E"/>
          </a:solidFill>
          <a:latin typeface="Segoe U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223760" y="0"/>
            <a:ext cx="4974336" cy="6858000"/>
          </a:xfrm>
          <a:prstGeom prst="rect">
            <a:avLst/>
          </a:prstGeom>
          <a:solidFill>
            <a:srgbClr val="13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6035040" cy="365760"/>
          </a:xfrm>
          <a:prstGeom prst="rect">
            <a:avLst/>
          </a:prstGeom>
          <a:noFill/>
        </p:spPr>
        <p:txBody>
          <a:bodyPr wrap="square" lIns="0" rIns="0" tIns="0" bIns="0">
            <a:spAutoFit/>
          </a:bodyPr>
          <a:lstStyle/>
          <a:p>
            <a:pPr algn="l">
              <a:spcAft>
                <a:spcPts val="0"/>
              </a:spcAft>
            </a:pPr>
            <a:r>
              <a:rPr sz="1150" b="1" i="0">
                <a:solidFill>
                  <a:srgbClr val="6FC7D1"/>
                </a:solidFill>
                <a:latin typeface="Segoe UI"/>
              </a:rPr>
              <a:t>HỆ THỐNG HỎI ĐÁP PHÂN TÍCH THƯƠNG MẠI ĐIỆN TỬ</a:t>
            </a:r>
          </a:p>
        </p:txBody>
      </p:sp>
      <p:sp>
        <p:nvSpPr>
          <p:cNvPr id="6" name="TextBox 5"/>
          <p:cNvSpPr txBox="1"/>
          <p:nvPr/>
        </p:nvSpPr>
        <p:spPr>
          <a:xfrm>
            <a:off x="914400" y="1874519"/>
            <a:ext cx="6035040" cy="1828800"/>
          </a:xfrm>
          <a:prstGeom prst="rect">
            <a:avLst/>
          </a:prstGeom>
          <a:noFill/>
        </p:spPr>
        <p:txBody>
          <a:bodyPr wrap="square" lIns="0" rIns="0" tIns="0" bIns="0">
            <a:spAutoFit/>
          </a:bodyPr>
          <a:lstStyle/>
          <a:p>
            <a:pPr algn="l">
              <a:spcAft>
                <a:spcPts val="400"/>
              </a:spcAft>
            </a:pPr>
            <a:r>
              <a:rPr sz="5200" b="1" i="0">
                <a:solidFill>
                  <a:srgbClr val="FFFFFF"/>
                </a:solidFill>
                <a:latin typeface="Segoe UI"/>
              </a:rPr>
              <a:t>GLADIATORS</a:t>
            </a:r>
          </a:p>
          <a:p>
            <a:pPr algn="l">
              <a:spcAft>
                <a:spcPts val="0"/>
              </a:spcAft>
            </a:pPr>
            <a:r>
              <a:rPr sz="2500" b="0" i="0">
                <a:solidFill>
                  <a:srgbClr val="A9C4D8"/>
                </a:solidFill>
                <a:latin typeface="Segoe UI"/>
              </a:rPr>
              <a:t>Kiến trúc trả lời không-được-đoán</a:t>
            </a:r>
          </a:p>
        </p:txBody>
      </p:sp>
      <p:sp>
        <p:nvSpPr>
          <p:cNvPr id="7" name="Rectangle 6"/>
          <p:cNvSpPr/>
          <p:nvPr/>
        </p:nvSpPr>
        <p:spPr>
          <a:xfrm>
            <a:off x="914400" y="3703320"/>
            <a:ext cx="1371600" cy="274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977639"/>
            <a:ext cx="5760720" cy="1280160"/>
          </a:xfrm>
          <a:prstGeom prst="rect">
            <a:avLst/>
          </a:prstGeom>
          <a:noFill/>
        </p:spPr>
        <p:txBody>
          <a:bodyPr wrap="square" lIns="0" rIns="0" tIns="0" bIns="0">
            <a:spAutoFit/>
          </a:bodyPr>
          <a:lstStyle/>
          <a:p>
            <a:pPr algn="l">
              <a:spcAft>
                <a:spcPts val="500"/>
              </a:spcAft>
            </a:pPr>
            <a:r>
              <a:rPr sz="1400" b="0" i="0">
                <a:solidFill>
                  <a:srgbClr val="D3E1EC"/>
                </a:solidFill>
                <a:latin typeface="Segoe UI"/>
              </a:rPr>
              <a:t>Mọi con số hiển thị phải truy vết được về evidence.</a:t>
            </a:r>
          </a:p>
          <a:p>
            <a:pPr algn="l">
              <a:spcAft>
                <a:spcPts val="0"/>
              </a:spcAft>
            </a:pPr>
            <a:r>
              <a:rPr sz="1400" b="0" i="0">
                <a:solidFill>
                  <a:srgbClr val="D3E1EC"/>
                </a:solidFill>
                <a:latin typeface="Segoe UI"/>
              </a:rPr>
              <a:t>Không chắc thì từ chối — im lặng trả lời sai là chế độ hỏng tệ nhất.</a:t>
            </a:r>
          </a:p>
        </p:txBody>
      </p:sp>
      <p:sp>
        <p:nvSpPr>
          <p:cNvPr id="9" name="TextBox 8"/>
          <p:cNvSpPr txBox="1"/>
          <p:nvPr/>
        </p:nvSpPr>
        <p:spPr>
          <a:xfrm>
            <a:off x="914400" y="5715000"/>
            <a:ext cx="6035040" cy="548640"/>
          </a:xfrm>
          <a:prstGeom prst="rect">
            <a:avLst/>
          </a:prstGeom>
          <a:noFill/>
        </p:spPr>
        <p:txBody>
          <a:bodyPr wrap="square" lIns="0" rIns="0" tIns="0" bIns="0">
            <a:spAutoFit/>
          </a:bodyPr>
          <a:lstStyle/>
          <a:p>
            <a:pPr algn="l">
              <a:spcAft>
                <a:spcPts val="0"/>
              </a:spcAft>
            </a:pPr>
            <a:r>
              <a:rPr sz="1000" b="0" i="0">
                <a:solidFill>
                  <a:srgbClr val="7F9AB0"/>
                </a:solidFill>
                <a:latin typeface="Segoe UI"/>
              </a:rPr>
              <a:t>Source of truth: docs/design/ultimate solution.md  ·  Baseline ef3a380  ·  09/08/2026</a:t>
            </a:r>
          </a:p>
        </p:txBody>
      </p:sp>
      <p:sp>
        <p:nvSpPr>
          <p:cNvPr id="10" name="Rectangle 9"/>
          <p:cNvSpPr/>
          <p:nvPr/>
        </p:nvSpPr>
        <p:spPr>
          <a:xfrm>
            <a:off x="7818120" y="1600200"/>
            <a:ext cx="32004" cy="7132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1563624"/>
            <a:ext cx="3749039" cy="822960"/>
          </a:xfrm>
          <a:prstGeom prst="rect">
            <a:avLst/>
          </a:prstGeom>
          <a:noFill/>
        </p:spPr>
        <p:txBody>
          <a:bodyPr wrap="square" lIns="0" rIns="0" tIns="0" bIns="0">
            <a:spAutoFit/>
          </a:bodyPr>
          <a:lstStyle/>
          <a:p>
            <a:pPr algn="l">
              <a:spcAft>
                <a:spcPts val="200"/>
              </a:spcAft>
            </a:pPr>
            <a:r>
              <a:rPr sz="2700" b="1" i="0">
                <a:solidFill>
                  <a:srgbClr val="FFFFFF"/>
                </a:solidFill>
                <a:latin typeface="Segoe UI"/>
              </a:rPr>
              <a:t>86</a:t>
            </a:r>
          </a:p>
          <a:p>
            <a:pPr algn="l">
              <a:spcAft>
                <a:spcPts val="0"/>
              </a:spcAft>
            </a:pPr>
            <a:r>
              <a:rPr sz="1050" b="0" i="0">
                <a:solidFill>
                  <a:srgbClr val="9FBACF"/>
                </a:solidFill>
                <a:latin typeface="Segoe UI"/>
              </a:rPr>
              <a:t>semantic object trong catalog</a:t>
            </a:r>
          </a:p>
        </p:txBody>
      </p:sp>
      <p:sp>
        <p:nvSpPr>
          <p:cNvPr id="12" name="Rectangle 11"/>
          <p:cNvSpPr/>
          <p:nvPr/>
        </p:nvSpPr>
        <p:spPr>
          <a:xfrm>
            <a:off x="7818120" y="2651760"/>
            <a:ext cx="32004" cy="7132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65008" y="2615184"/>
            <a:ext cx="3749039" cy="822960"/>
          </a:xfrm>
          <a:prstGeom prst="rect">
            <a:avLst/>
          </a:prstGeom>
          <a:noFill/>
        </p:spPr>
        <p:txBody>
          <a:bodyPr wrap="square" lIns="0" rIns="0" tIns="0" bIns="0">
            <a:spAutoFit/>
          </a:bodyPr>
          <a:lstStyle/>
          <a:p>
            <a:pPr algn="l">
              <a:spcAft>
                <a:spcPts val="200"/>
              </a:spcAft>
            </a:pPr>
            <a:r>
              <a:rPr sz="2700" b="1" i="0">
                <a:solidFill>
                  <a:srgbClr val="FFFFFF"/>
                </a:solidFill>
                <a:latin typeface="Segoe UI"/>
              </a:rPr>
              <a:t>S1→S9</a:t>
            </a:r>
          </a:p>
          <a:p>
            <a:pPr algn="l">
              <a:spcAft>
                <a:spcPts val="0"/>
              </a:spcAft>
            </a:pPr>
            <a:r>
              <a:rPr sz="1050" b="0" i="0">
                <a:solidFill>
                  <a:srgbClr val="9FBACF"/>
                </a:solidFill>
                <a:latin typeface="Segoe UI"/>
              </a:rPr>
              <a:t>chín chặng, ba lớp kiểm độc lập</a:t>
            </a:r>
          </a:p>
        </p:txBody>
      </p:sp>
      <p:sp>
        <p:nvSpPr>
          <p:cNvPr id="14" name="Rectangle 13"/>
          <p:cNvSpPr/>
          <p:nvPr/>
        </p:nvSpPr>
        <p:spPr>
          <a:xfrm>
            <a:off x="7818120" y="3703320"/>
            <a:ext cx="32004" cy="7132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666744"/>
            <a:ext cx="3749039" cy="822960"/>
          </a:xfrm>
          <a:prstGeom prst="rect">
            <a:avLst/>
          </a:prstGeom>
          <a:noFill/>
        </p:spPr>
        <p:txBody>
          <a:bodyPr wrap="square" lIns="0" rIns="0" tIns="0" bIns="0">
            <a:spAutoFit/>
          </a:bodyPr>
          <a:lstStyle/>
          <a:p>
            <a:pPr algn="l">
              <a:spcAft>
                <a:spcPts val="200"/>
              </a:spcAft>
            </a:pPr>
            <a:r>
              <a:rPr sz="2700" b="1" i="0">
                <a:solidFill>
                  <a:srgbClr val="FFFFFF"/>
                </a:solidFill>
                <a:latin typeface="Segoe UI"/>
              </a:rPr>
              <a:t>0</a:t>
            </a:r>
          </a:p>
          <a:p>
            <a:pPr algn="l">
              <a:spcAft>
                <a:spcPts val="0"/>
              </a:spcAft>
            </a:pPr>
            <a:r>
              <a:rPr sz="1050" b="0" i="0">
                <a:solidFill>
                  <a:srgbClr val="9FBACF"/>
                </a:solidFill>
                <a:latin typeface="Segoe UI"/>
              </a:rPr>
              <a:t>SQL do LLM sinh</a:t>
            </a:r>
          </a:p>
        </p:txBody>
      </p:sp>
      <p:sp>
        <p:nvSpPr>
          <p:cNvPr id="16" name="Rectangle 15"/>
          <p:cNvSpPr/>
          <p:nvPr/>
        </p:nvSpPr>
        <p:spPr>
          <a:xfrm>
            <a:off x="7818120" y="4754880"/>
            <a:ext cx="32004" cy="7132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65008" y="4718304"/>
            <a:ext cx="3749039" cy="822960"/>
          </a:xfrm>
          <a:prstGeom prst="rect">
            <a:avLst/>
          </a:prstGeom>
          <a:noFill/>
        </p:spPr>
        <p:txBody>
          <a:bodyPr wrap="square" lIns="0" rIns="0" tIns="0" bIns="0">
            <a:spAutoFit/>
          </a:bodyPr>
          <a:lstStyle/>
          <a:p>
            <a:pPr algn="l">
              <a:spcAft>
                <a:spcPts val="200"/>
              </a:spcAft>
            </a:pPr>
            <a:r>
              <a:rPr sz="2700" b="1" i="0">
                <a:solidFill>
                  <a:srgbClr val="FFFFFF"/>
                </a:solidFill>
                <a:latin typeface="Segoe UI"/>
              </a:rPr>
              <a:t>1.0</a:t>
            </a:r>
          </a:p>
          <a:p>
            <a:pPr algn="l">
              <a:spcAft>
                <a:spcPts val="0"/>
              </a:spcAft>
            </a:pPr>
            <a:r>
              <a:rPr sz="1050" b="0" i="0">
                <a:solidFill>
                  <a:srgbClr val="9FBACF"/>
                </a:solidFill>
                <a:latin typeface="Segoe UI"/>
              </a:rPr>
              <a:t>verifier mutation detection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Bài toán và ranh giới</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Vì sao một hệ hỏi-đáp analytics lại phải được thiết kế quanh việc TỪ CHỐI</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02</a:t>
            </a:r>
          </a:p>
        </p:txBody>
      </p:sp>
      <p:sp>
        <p:nvSpPr>
          <p:cNvPr id="9" name="TextBox 8"/>
          <p:cNvSpPr txBox="1"/>
          <p:nvPr/>
        </p:nvSpPr>
        <p:spPr>
          <a:xfrm>
            <a:off x="566928" y="1481328"/>
            <a:ext cx="5943600" cy="4206240"/>
          </a:xfrm>
          <a:prstGeom prst="rect">
            <a:avLst/>
          </a:prstGeom>
          <a:noFill/>
        </p:spPr>
        <p:txBody>
          <a:bodyPr wrap="square" lIns="0" rIns="0" tIns="0" bIns="0">
            <a:spAutoFit/>
          </a:bodyPr>
          <a:lstStyle/>
          <a:p>
            <a:pPr>
              <a:spcAft>
                <a:spcPts val="1300"/>
              </a:spcAft>
            </a:pPr>
            <a:r>
              <a:rPr sz="1350">
                <a:solidFill>
                  <a:srgbClr val="0E7C86"/>
                </a:solidFill>
                <a:latin typeface="Segoe UI"/>
              </a:rPr>
              <a:t>▪  </a:t>
            </a:r>
            <a:r>
              <a:rPr sz="1350" b="1">
                <a:solidFill>
                  <a:srgbClr val="141B24"/>
                </a:solidFill>
                <a:latin typeface="Segoe UI"/>
              </a:rPr>
              <a:t>Đầu vào:</a:t>
            </a:r>
            <a:r>
              <a:rPr sz="1350">
                <a:solidFill>
                  <a:srgbClr val="33414E"/>
                </a:solidFill>
                <a:latin typeface="Segoe UI"/>
              </a:rPr>
              <a:t> câu hỏi tiếng Việt / Anh / Bahasa về dữ liệu sàn TMĐT hai thị trường VN + ID.</a:t>
            </a:r>
          </a:p>
          <a:p>
            <a:pPr>
              <a:spcAft>
                <a:spcPts val="1300"/>
              </a:spcAft>
            </a:pPr>
            <a:r>
              <a:rPr sz="1350">
                <a:solidFill>
                  <a:srgbClr val="0E7C86"/>
                </a:solidFill>
                <a:latin typeface="Segoe UI"/>
              </a:rPr>
              <a:t>▪  </a:t>
            </a:r>
            <a:r>
              <a:rPr sz="1350" b="1">
                <a:solidFill>
                  <a:srgbClr val="141B24"/>
                </a:solidFill>
                <a:latin typeface="Segoe UI"/>
              </a:rPr>
              <a:t>Dataset đóng băng:</a:t>
            </a:r>
            <a:r>
              <a:rPr sz="1350">
                <a:solidFill>
                  <a:srgbClr val="33414E"/>
                </a:solidFill>
                <a:latin typeface="Segoe UI"/>
              </a:rPr>
              <a:t> không cập nhật, không suy diễn ngoài phạm vi quan sát được.</a:t>
            </a:r>
          </a:p>
          <a:p>
            <a:pPr>
              <a:spcAft>
                <a:spcPts val="1300"/>
              </a:spcAft>
            </a:pPr>
            <a:r>
              <a:rPr sz="1350">
                <a:solidFill>
                  <a:srgbClr val="0E7C86"/>
                </a:solidFill>
                <a:latin typeface="Segoe UI"/>
              </a:rPr>
              <a:t>▪  </a:t>
            </a:r>
            <a:r>
              <a:rPr sz="1350" b="1">
                <a:solidFill>
                  <a:srgbClr val="141B24"/>
                </a:solidFill>
                <a:latin typeface="Segoe UI"/>
              </a:rPr>
              <a:t>Ràng buộc lõi:</a:t>
            </a:r>
            <a:r>
              <a:rPr sz="1350">
                <a:solidFill>
                  <a:srgbClr val="33414E"/>
                </a:solidFill>
                <a:latin typeface="Segoe UI"/>
              </a:rPr>
              <a:t> mọi con số hiển thị phải truy được về evidence — artifact, row key, công thức, unit, dataset version, caveat.</a:t>
            </a:r>
          </a:p>
          <a:p>
            <a:pPr>
              <a:spcAft>
                <a:spcPts val="1300"/>
              </a:spcAft>
            </a:pPr>
            <a:r>
              <a:rPr sz="1350">
                <a:solidFill>
                  <a:srgbClr val="0E7C86"/>
                </a:solidFill>
                <a:latin typeface="Segoe UI"/>
              </a:rPr>
              <a:t>▪  </a:t>
            </a:r>
            <a:r>
              <a:rPr sz="1350" b="1">
                <a:solidFill>
                  <a:srgbClr val="141B24"/>
                </a:solidFill>
                <a:latin typeface="Segoe UI"/>
              </a:rPr>
              <a:t>Chế độ hỏng cần chống:</a:t>
            </a:r>
            <a:r>
              <a:rPr sz="1350">
                <a:solidFill>
                  <a:srgbClr val="33414E"/>
                </a:solidFill>
                <a:latin typeface="Segoe UI"/>
              </a:rPr>
              <a:t> không phải crash. Crash thì ồn ào. Nguy hiểm là câu trả lời trôi chảy, có evidence, có mục “Độ tin cậy: High” — nhưng trả lời một câu hỏi khác.</a:t>
            </a:r>
          </a:p>
        </p:txBody>
      </p:sp>
      <p:sp>
        <p:nvSpPr>
          <p:cNvPr id="10" name="Rectangle 9"/>
          <p:cNvSpPr/>
          <p:nvPr/>
        </p:nvSpPr>
        <p:spPr>
          <a:xfrm>
            <a:off x="566928" y="4343400"/>
            <a:ext cx="5943600" cy="1691640"/>
          </a:xfrm>
          <a:prstGeom prst="rect">
            <a:avLst/>
          </a:prstGeom>
          <a:solidFill>
            <a:srgbClr val="FD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4343400"/>
            <a:ext cx="45720" cy="1691640"/>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4517136"/>
            <a:ext cx="5486400" cy="1371600"/>
          </a:xfrm>
          <a:prstGeom prst="rect">
            <a:avLst/>
          </a:prstGeom>
          <a:noFill/>
        </p:spPr>
        <p:txBody>
          <a:bodyPr wrap="square" lIns="0" rIns="0" tIns="0" bIns="0">
            <a:spAutoFit/>
          </a:bodyPr>
          <a:lstStyle/>
          <a:p>
            <a:pPr algn="l">
              <a:spcAft>
                <a:spcPts val="600"/>
              </a:spcAft>
            </a:pPr>
            <a:r>
              <a:rPr sz="1200" b="1" i="0">
                <a:solidFill>
                  <a:srgbClr val="A6333F"/>
                </a:solidFill>
                <a:latin typeface="Segoe UI"/>
              </a:rPr>
              <a:t>Ca kinh điển — bgk13, đo 09/08</a:t>
            </a:r>
          </a:p>
          <a:p>
            <a:pPr algn="l">
              <a:spcAft>
                <a:spcPts val="300"/>
              </a:spcAft>
            </a:pPr>
            <a:r>
              <a:rPr sz="1050" b="0" i="0">
                <a:solidFill>
                  <a:srgbClr val="33414E"/>
                </a:solidFill>
                <a:latin typeface="Segoe UI"/>
              </a:rPr>
              <a:t>Hỏi:  “Vì sao số listing tại VN giảm mạnh từ 01/07 đến 03/07?”</a:t>
            </a:r>
          </a:p>
          <a:p>
            <a:pPr algn="l">
              <a:spcAft>
                <a:spcPts val="300"/>
              </a:spcAft>
            </a:pPr>
            <a:r>
              <a:rPr sz="1050" b="0" i="0">
                <a:solidFill>
                  <a:srgbClr val="33414E"/>
                </a:solidFill>
                <a:latin typeface="Segoe UI"/>
              </a:rPr>
              <a:t>Thật: 581 → 668. Listing TĂNG 87. Tiền đề “giảm mạnh” là sai.</a:t>
            </a:r>
          </a:p>
          <a:p>
            <a:pPr algn="l">
              <a:spcAft>
                <a:spcPts val="300"/>
              </a:spcAft>
            </a:pPr>
            <a:r>
              <a:rPr sz="1050" b="0" i="0">
                <a:solidFill>
                  <a:srgbClr val="33414E"/>
                </a:solidFill>
                <a:latin typeface="Segoe UI"/>
              </a:rPr>
              <a:t>Hệ (trước sửa): “Có 668 listing.”  gate=allow · verified=True · High</a:t>
            </a:r>
          </a:p>
        </p:txBody>
      </p:sp>
      <p:sp>
        <p:nvSpPr>
          <p:cNvPr id="13" name="Rectangle 12"/>
          <p:cNvSpPr/>
          <p:nvPr/>
        </p:nvSpPr>
        <p:spPr>
          <a:xfrm>
            <a:off x="6858000" y="1481328"/>
            <a:ext cx="4754880" cy="2148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0" y="1481328"/>
            <a:ext cx="41148" cy="214884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59168" y="1627632"/>
            <a:ext cx="4389120" cy="187452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Năm yêu cầu đồng thời (§1.1)</a:t>
            </a:r>
          </a:p>
          <a:p>
            <a:pPr algn="l">
              <a:spcAft>
                <a:spcPts val="300"/>
              </a:spcAft>
            </a:pPr>
            <a:r>
              <a:rPr sz="1050" b="0" i="0">
                <a:solidFill>
                  <a:srgbClr val="33414E"/>
                </a:solidFill>
                <a:latin typeface="Segoe UI"/>
              </a:rPr>
              <a:t>1  Không trả lời bằng capability gần đúng</a:t>
            </a:r>
          </a:p>
          <a:p>
            <a:pPr algn="l">
              <a:spcAft>
                <a:spcPts val="300"/>
              </a:spcAft>
            </a:pPr>
            <a:r>
              <a:rPr sz="1050" b="0" i="0">
                <a:solidFill>
                  <a:srgbClr val="33414E"/>
                </a:solidFill>
                <a:latin typeface="Segoe UI"/>
              </a:rPr>
              <a:t>2  Analytical ngoài macro vẫn chạy được offline</a:t>
            </a:r>
          </a:p>
          <a:p>
            <a:pPr algn="l">
              <a:spcAft>
                <a:spcPts val="300"/>
              </a:spcAft>
            </a:pPr>
            <a:r>
              <a:rPr sz="1050" b="0" i="0">
                <a:solidFill>
                  <a:srgbClr val="33414E"/>
                </a:solidFill>
                <a:latin typeface="Segoe UI"/>
              </a:rPr>
              <a:t>3  Context chọn theo chủ đề, có budget đo được</a:t>
            </a:r>
          </a:p>
          <a:p>
            <a:pPr algn="l">
              <a:spcAft>
                <a:spcPts val="300"/>
              </a:spcAft>
            </a:pPr>
            <a:r>
              <a:rPr sz="1050" b="0" i="0">
                <a:solidFill>
                  <a:srgbClr val="33414E"/>
                </a:solidFill>
                <a:latin typeface="Segoe UI"/>
              </a:rPr>
              <a:t>4  Câu phức hợp tách được, ghép deterministic</a:t>
            </a:r>
          </a:p>
          <a:p>
            <a:pPr algn="l">
              <a:spcAft>
                <a:spcPts val="300"/>
              </a:spcAft>
            </a:pPr>
            <a:r>
              <a:rPr sz="1050" b="0" i="0">
                <a:solidFill>
                  <a:srgbClr val="33414E"/>
                </a:solidFill>
                <a:latin typeface="Segoe UI"/>
              </a:rPr>
              <a:t>5  Mọi số truy ngược tới artifact + row key</a:t>
            </a:r>
          </a:p>
        </p:txBody>
      </p:sp>
      <p:sp>
        <p:nvSpPr>
          <p:cNvPr id="16" name="Rectangle 15"/>
          <p:cNvSpPr/>
          <p:nvPr/>
        </p:nvSpPr>
        <p:spPr>
          <a:xfrm>
            <a:off x="6858000" y="3794760"/>
            <a:ext cx="4754880" cy="22402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0" y="3794760"/>
            <a:ext cx="41148" cy="224028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59168" y="3941064"/>
            <a:ext cx="4389120" cy="196596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Ba lớp kiểm hỏi ba câu khác nhau</a:t>
            </a:r>
          </a:p>
          <a:p>
            <a:pPr algn="l">
              <a:spcAft>
                <a:spcPts val="300"/>
              </a:spcAft>
            </a:pPr>
            <a:r>
              <a:rPr sz="1050" b="0" i="0">
                <a:solidFill>
                  <a:srgbClr val="33414E"/>
                </a:solidFill>
                <a:latin typeface="Segoe UI"/>
              </a:rPr>
              <a:t>Gate        →  Được phép trả lời không?</a:t>
            </a:r>
          </a:p>
          <a:p>
            <a:pPr algn="l">
              <a:spcAft>
                <a:spcPts val="300"/>
              </a:spcAft>
            </a:pPr>
            <a:r>
              <a:rPr sz="1050" b="0" i="0">
                <a:solidFill>
                  <a:srgbClr val="33414E"/>
                </a:solidFill>
                <a:latin typeface="Segoe UI"/>
              </a:rPr>
              <a:t>Alignment   →  Có đang trả lời ĐÚNG câu hỏi?</a:t>
            </a:r>
          </a:p>
          <a:p>
            <a:pPr algn="l">
              <a:spcAft>
                <a:spcPts val="300"/>
              </a:spcAft>
            </a:pPr>
            <a:r>
              <a:rPr sz="1050" b="0" i="0">
                <a:solidFill>
                  <a:srgbClr val="33414E"/>
                </a:solidFill>
                <a:latin typeface="Segoe UI"/>
              </a:rPr>
              <a:t>Verifier    →  Số hiển thị có evidence không?</a:t>
            </a:r>
          </a:p>
          <a:p>
            <a:pPr algn="l">
              <a:spcAft>
                <a:spcPts val="300"/>
              </a:spcAft>
            </a:pPr>
            <a:r>
              <a:rPr sz="1050" b="0" i="0">
                <a:solidFill>
                  <a:srgbClr val="33414E"/>
                </a:solidFill>
                <a:latin typeface="Segoe UI"/>
              </a:rPr>
              <a:t/>
            </a:r>
          </a:p>
          <a:p>
            <a:pPr algn="l">
              <a:spcAft>
                <a:spcPts val="300"/>
              </a:spcAft>
            </a:pPr>
            <a:r>
              <a:rPr sz="1050" b="0" i="0">
                <a:solidFill>
                  <a:srgbClr val="33414E"/>
                </a:solidFill>
                <a:latin typeface="Segoe UI"/>
              </a:rPr>
              <a:t>bgk13 lọt vì Gate ✓ và Verifier ✓. Lớp Alignment (A22)</a:t>
            </a:r>
          </a:p>
          <a:p>
            <a:pPr algn="l">
              <a:spcAft>
                <a:spcPts val="300"/>
              </a:spcAft>
            </a:pPr>
            <a:r>
              <a:rPr sz="1050" b="0" i="0">
                <a:solidFill>
                  <a:srgbClr val="33414E"/>
                </a:solidFill>
                <a:latin typeface="Segoe UI"/>
              </a:rPr>
              <a:t>sinh ra để lấp đúng khe hở đó.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Mô hình dữ liệu và vì sao bài toán hữu hạn hoá được</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Không gian câu trả lời bị đóng lại một cách có chủ đích</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03</a:t>
            </a:r>
          </a:p>
        </p:txBody>
      </p:sp>
      <p:sp>
        <p:nvSpPr>
          <p:cNvPr id="9" name="TextBox 8"/>
          <p:cNvSpPr txBox="1"/>
          <p:nvPr/>
        </p:nvSpPr>
        <p:spPr>
          <a:xfrm>
            <a:off x="566928" y="1481328"/>
            <a:ext cx="2103120" cy="914400"/>
          </a:xfrm>
          <a:prstGeom prst="rect">
            <a:avLst/>
          </a:prstGeom>
          <a:noFill/>
        </p:spPr>
        <p:txBody>
          <a:bodyPr wrap="square" lIns="0" rIns="0" tIns="0" bIns="0">
            <a:spAutoFit/>
          </a:bodyPr>
          <a:lstStyle/>
          <a:p>
            <a:pPr algn="l">
              <a:spcAft>
                <a:spcPts val="100"/>
              </a:spcAft>
            </a:pPr>
            <a:r>
              <a:rPr sz="3000" b="1" i="0">
                <a:solidFill>
                  <a:srgbClr val="1E4D8C"/>
                </a:solidFill>
                <a:latin typeface="Segoe UI"/>
              </a:rPr>
              <a:t>3</a:t>
            </a:r>
          </a:p>
          <a:p>
            <a:pPr algn="l">
              <a:spcAft>
                <a:spcPts val="0"/>
              </a:spcAft>
            </a:pPr>
            <a:r>
              <a:rPr sz="1000" b="0" i="0">
                <a:solidFill>
                  <a:srgbClr val="6B7A8A"/>
                </a:solidFill>
                <a:latin typeface="Segoe UI"/>
              </a:rPr>
              <a:t>snapshot: 01–03/07/2026</a:t>
            </a:r>
          </a:p>
        </p:txBody>
      </p:sp>
      <p:sp>
        <p:nvSpPr>
          <p:cNvPr id="10" name="TextBox 9"/>
          <p:cNvSpPr txBox="1"/>
          <p:nvPr/>
        </p:nvSpPr>
        <p:spPr>
          <a:xfrm>
            <a:off x="2834640" y="1481328"/>
            <a:ext cx="2103120" cy="914400"/>
          </a:xfrm>
          <a:prstGeom prst="rect">
            <a:avLst/>
          </a:prstGeom>
          <a:noFill/>
        </p:spPr>
        <p:txBody>
          <a:bodyPr wrap="square" lIns="0" rIns="0" tIns="0" bIns="0">
            <a:spAutoFit/>
          </a:bodyPr>
          <a:lstStyle/>
          <a:p>
            <a:pPr algn="l">
              <a:spcAft>
                <a:spcPts val="100"/>
              </a:spcAft>
            </a:pPr>
            <a:r>
              <a:rPr sz="3000" b="1" i="0">
                <a:solidFill>
                  <a:srgbClr val="0E7C86"/>
                </a:solidFill>
                <a:latin typeface="Segoe UI"/>
              </a:rPr>
              <a:t>3.341</a:t>
            </a:r>
          </a:p>
          <a:p>
            <a:pPr algn="l">
              <a:spcAft>
                <a:spcPts val="0"/>
              </a:spcAft>
            </a:pPr>
            <a:r>
              <a:rPr sz="1000" b="0" i="0">
                <a:solidFill>
                  <a:srgbClr val="6B7A8A"/>
                </a:solidFill>
                <a:latin typeface="Segoe UI"/>
              </a:rPr>
              <a:t>dòng dữ liệu</a:t>
            </a:r>
          </a:p>
        </p:txBody>
      </p:sp>
      <p:sp>
        <p:nvSpPr>
          <p:cNvPr id="11" name="TextBox 10"/>
          <p:cNvSpPr txBox="1"/>
          <p:nvPr/>
        </p:nvSpPr>
        <p:spPr>
          <a:xfrm>
            <a:off x="5102352" y="1481328"/>
            <a:ext cx="2103120" cy="914400"/>
          </a:xfrm>
          <a:prstGeom prst="rect">
            <a:avLst/>
          </a:prstGeom>
          <a:noFill/>
        </p:spPr>
        <p:txBody>
          <a:bodyPr wrap="square" lIns="0" rIns="0" tIns="0" bIns="0">
            <a:spAutoFit/>
          </a:bodyPr>
          <a:lstStyle/>
          <a:p>
            <a:pPr algn="l">
              <a:spcAft>
                <a:spcPts val="100"/>
              </a:spcAft>
            </a:pPr>
            <a:r>
              <a:rPr sz="3000" b="1" i="0">
                <a:solidFill>
                  <a:srgbClr val="C96F1E"/>
                </a:solidFill>
                <a:latin typeface="Segoe UI"/>
              </a:rPr>
              <a:t>1.157</a:t>
            </a:r>
          </a:p>
          <a:p>
            <a:pPr algn="l">
              <a:spcAft>
                <a:spcPts val="0"/>
              </a:spcAft>
            </a:pPr>
            <a:r>
              <a:rPr sz="1000" b="0" i="0">
                <a:solidFill>
                  <a:srgbClr val="6B7A8A"/>
                </a:solidFill>
                <a:latin typeface="Segoe UI"/>
              </a:rPr>
              <a:t>product listing</a:t>
            </a:r>
          </a:p>
        </p:txBody>
      </p:sp>
      <p:sp>
        <p:nvSpPr>
          <p:cNvPr id="12" name="TextBox 11"/>
          <p:cNvSpPr txBox="1"/>
          <p:nvPr/>
        </p:nvSpPr>
        <p:spPr>
          <a:xfrm>
            <a:off x="7370064" y="1481328"/>
            <a:ext cx="2103120" cy="914400"/>
          </a:xfrm>
          <a:prstGeom prst="rect">
            <a:avLst/>
          </a:prstGeom>
          <a:noFill/>
        </p:spPr>
        <p:txBody>
          <a:bodyPr wrap="square" lIns="0" rIns="0" tIns="0" bIns="0">
            <a:spAutoFit/>
          </a:bodyPr>
          <a:lstStyle/>
          <a:p>
            <a:pPr algn="l">
              <a:spcAft>
                <a:spcPts val="100"/>
              </a:spcAft>
            </a:pPr>
            <a:r>
              <a:rPr sz="3000" b="1" i="0">
                <a:solidFill>
                  <a:srgbClr val="6B468F"/>
                </a:solidFill>
                <a:latin typeface="Segoe UI"/>
              </a:rPr>
              <a:t>20</a:t>
            </a:r>
          </a:p>
          <a:p>
            <a:pPr algn="l">
              <a:spcAft>
                <a:spcPts val="0"/>
              </a:spcAft>
            </a:pPr>
            <a:r>
              <a:rPr sz="1000" b="0" i="0">
                <a:solidFill>
                  <a:srgbClr val="6B7A8A"/>
                </a:solidFill>
                <a:latin typeface="Segoe UI"/>
              </a:rPr>
              <a:t>shop</a:t>
            </a:r>
          </a:p>
        </p:txBody>
      </p:sp>
      <p:sp>
        <p:nvSpPr>
          <p:cNvPr id="13" name="TextBox 12"/>
          <p:cNvSpPr txBox="1"/>
          <p:nvPr/>
        </p:nvSpPr>
        <p:spPr>
          <a:xfrm>
            <a:off x="9637776" y="1481328"/>
            <a:ext cx="2103120" cy="914400"/>
          </a:xfrm>
          <a:prstGeom prst="rect">
            <a:avLst/>
          </a:prstGeom>
          <a:noFill/>
        </p:spPr>
        <p:txBody>
          <a:bodyPr wrap="square" lIns="0" rIns="0" tIns="0" bIns="0">
            <a:spAutoFit/>
          </a:bodyPr>
          <a:lstStyle/>
          <a:p>
            <a:pPr algn="l">
              <a:spcAft>
                <a:spcPts val="100"/>
              </a:spcAft>
            </a:pPr>
            <a:r>
              <a:rPr sz="3000" b="1" i="0">
                <a:solidFill>
                  <a:srgbClr val="2F7A4F"/>
                </a:solidFill>
                <a:latin typeface="Segoe UI"/>
              </a:rPr>
              <a:t>2</a:t>
            </a:r>
          </a:p>
          <a:p>
            <a:pPr algn="l">
              <a:spcAft>
                <a:spcPts val="0"/>
              </a:spcAft>
            </a:pPr>
            <a:r>
              <a:rPr sz="1000" b="0" i="0">
                <a:solidFill>
                  <a:srgbClr val="6B7A8A"/>
                </a:solidFill>
                <a:latin typeface="Segoe UI"/>
              </a:rPr>
              <a:t>thị trường (vn · id)</a:t>
            </a:r>
          </a:p>
        </p:txBody>
      </p:sp>
      <p:sp>
        <p:nvSpPr>
          <p:cNvPr id="14" name="Rectangle 13"/>
          <p:cNvSpPr/>
          <p:nvPr/>
        </p:nvSpPr>
        <p:spPr>
          <a:xfrm>
            <a:off x="566928" y="2487168"/>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743200"/>
            <a:ext cx="5852160" cy="4206240"/>
          </a:xfrm>
          <a:prstGeom prst="rect">
            <a:avLst/>
          </a:prstGeom>
          <a:noFill/>
        </p:spPr>
        <p:txBody>
          <a:bodyPr wrap="square" lIns="0" rIns="0" tIns="0" bIns="0">
            <a:spAutoFit/>
          </a:bodyPr>
          <a:lstStyle/>
          <a:p>
            <a:pPr>
              <a:spcAft>
                <a:spcPts val="1100"/>
              </a:spcAft>
            </a:pPr>
            <a:r>
              <a:rPr sz="1250">
                <a:solidFill>
                  <a:srgbClr val="0E7C86"/>
                </a:solidFill>
                <a:latin typeface="Segoe UI"/>
              </a:rPr>
              <a:t>▪  </a:t>
            </a:r>
            <a:r>
              <a:rPr sz="1250" b="1">
                <a:solidFill>
                  <a:srgbClr val="141B24"/>
                </a:solidFill>
                <a:latin typeface="Segoe UI"/>
              </a:rPr>
              <a:t>Grain nhỏ nhất là product listing</a:t>
            </a:r>
            <a:r>
              <a:rPr sz="1250">
                <a:solidFill>
                  <a:srgbClr val="33414E"/>
                </a:solidFill>
                <a:latin typeface="Segoe UI"/>
              </a:rPr>
              <a:t> = {country}:{shop_id}:{item_id}. Không có SKU, không có customer, không có order-level.</a:t>
            </a:r>
          </a:p>
          <a:p>
            <a:pPr>
              <a:spcAft>
                <a:spcPts val="1100"/>
              </a:spcAft>
            </a:pPr>
            <a:r>
              <a:rPr sz="1250">
                <a:solidFill>
                  <a:srgbClr val="0E7C86"/>
                </a:solidFill>
                <a:latin typeface="Segoe UI"/>
              </a:rPr>
              <a:t>▪  </a:t>
            </a:r>
            <a:r>
              <a:rPr sz="1250" b="1">
                <a:solidFill>
                  <a:srgbClr val="141B24"/>
                </a:solidFill>
                <a:latin typeface="Segoe UI"/>
              </a:rPr>
              <a:t>86 semantic object</a:t>
            </a:r>
            <a:r>
              <a:rPr sz="1250">
                <a:solidFill>
                  <a:srgbClr val="33414E"/>
                </a:solidFill>
                <a:latin typeface="Segoe UI"/>
              </a:rPr>
              <a:t> trong catalog. Câu hỏi không rơi vào tập này thì bị từ chối — đây chính là thứ làm không gian trả lời trở nên hữu hạn và kiểm được.</a:t>
            </a:r>
          </a:p>
          <a:p>
            <a:pPr>
              <a:spcAft>
                <a:spcPts val="1100"/>
              </a:spcAft>
            </a:pPr>
            <a:r>
              <a:rPr sz="1250">
                <a:solidFill>
                  <a:srgbClr val="0E7C86"/>
                </a:solidFill>
                <a:latin typeface="Segoe UI"/>
              </a:rPr>
              <a:t>▪  </a:t>
            </a:r>
            <a:r>
              <a:rPr sz="1250" b="1">
                <a:solidFill>
                  <a:srgbClr val="141B24"/>
                </a:solidFill>
                <a:latin typeface="Segoe UI"/>
              </a:rPr>
              <a:t>monthly_sold là proxy hiển thị</a:t>
            </a:r>
            <a:r>
              <a:rPr sz="1250">
                <a:solidFill>
                  <a:srgbClr val="33414E"/>
                </a:solidFill>
                <a:latin typeface="Segoe UI"/>
              </a:rPr>
              <a:t> của một cửa sổ chưa xác nhận → cấm cộng qua các snapshot vì sẽ tính trùng.</a:t>
            </a:r>
          </a:p>
        </p:txBody>
      </p:sp>
      <p:sp>
        <p:nvSpPr>
          <p:cNvPr id="16" name="Rectangle 15"/>
          <p:cNvSpPr/>
          <p:nvPr/>
        </p:nvSpPr>
        <p:spPr>
          <a:xfrm>
            <a:off x="6675120" y="2743200"/>
            <a:ext cx="493776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675120" y="2743200"/>
            <a:ext cx="41148" cy="3108960"/>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76288" y="2889504"/>
            <a:ext cx="4572000" cy="283464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Zero-variance đã biết — không phân tích được, và hệ phải nói thế</a:t>
            </a:r>
          </a:p>
          <a:p>
            <a:pPr algn="l">
              <a:spcAft>
                <a:spcPts val="300"/>
              </a:spcAft>
            </a:pPr>
            <a:r>
              <a:rPr sz="1050" b="0" i="0">
                <a:solidFill>
                  <a:srgbClr val="33414E"/>
                </a:solidFill>
                <a:latin typeface="Segoe UI"/>
              </a:rPr>
              <a:t>is_ad_bool          → False trên toàn bộ dữ liệu</a:t>
            </a:r>
          </a:p>
          <a:p>
            <a:pPr algn="l">
              <a:spcAft>
                <a:spcPts val="300"/>
              </a:spcAft>
            </a:pPr>
            <a:r>
              <a:rPr sz="1050" b="0" i="0">
                <a:solidFill>
                  <a:srgbClr val="33414E"/>
                </a:solidFill>
                <a:latin typeface="Segoe UI"/>
              </a:rPr>
              <a:t>is_sold_out_bool    → False trên toàn bộ dữ liệu</a:t>
            </a:r>
          </a:p>
          <a:p>
            <a:pPr algn="l">
              <a:spcAft>
                <a:spcPts val="300"/>
              </a:spcAft>
            </a:pPr>
            <a:r>
              <a:rPr sz="1050" b="0" i="0">
                <a:solidFill>
                  <a:srgbClr val="33414E"/>
                </a:solidFill>
                <a:latin typeface="Segoe UI"/>
              </a:rPr>
              <a:t/>
            </a:r>
          </a:p>
          <a:p>
            <a:pPr algn="l">
              <a:spcAft>
                <a:spcPts val="300"/>
              </a:spcAft>
            </a:pPr>
            <a:r>
              <a:rPr sz="1050" b="0" i="0">
                <a:solidFill>
                  <a:srgbClr val="33414E"/>
                </a:solidFill>
                <a:latin typeface="Segoe UI"/>
              </a:rPr>
              <a:t>Hệ không được trả lời “0% listing chạy quảng cáo”.</a:t>
            </a:r>
          </a:p>
          <a:p>
            <a:pPr algn="l">
              <a:spcAft>
                <a:spcPts val="300"/>
              </a:spcAft>
            </a:pPr>
            <a:r>
              <a:rPr sz="1050" b="0" i="0">
                <a:solidFill>
                  <a:srgbClr val="33414E"/>
                </a:solidFill>
                <a:latin typeface="Segoe UI"/>
              </a:rPr>
              <a:t>Câu đúng là “dataset không quan sát được thuộc tính này”.</a:t>
            </a:r>
          </a:p>
          <a:p>
            <a:pPr algn="l">
              <a:spcAft>
                <a:spcPts val="300"/>
              </a:spcAft>
            </a:pPr>
            <a:r>
              <a:rPr sz="1050" b="0" i="0">
                <a:solidFill>
                  <a:srgbClr val="33414E"/>
                </a:solidFill>
                <a:latin typeface="Segoe UI"/>
              </a:rPr>
              <a:t/>
            </a:r>
          </a:p>
          <a:p>
            <a:pPr algn="l">
              <a:spcAft>
                <a:spcPts val="300"/>
              </a:spcAft>
            </a:pPr>
            <a:r>
              <a:rPr sz="1050" b="0" i="0">
                <a:solidFill>
                  <a:srgbClr val="33414E"/>
                </a:solidFill>
                <a:latin typeface="Segoe UI"/>
              </a:rPr>
              <a:t>Cùng nguyên tắc: thiếu dữ liệu thì GẮN CỜ, không điền 0.</a:t>
            </a:r>
          </a:p>
          <a:p>
            <a:pPr algn="l">
              <a:spcAft>
                <a:spcPts val="300"/>
              </a:spcAft>
            </a:pPr>
            <a:r>
              <a:rPr sz="1050" b="0" i="0">
                <a:solidFill>
                  <a:srgbClr val="33414E"/>
                </a:solidFill>
                <a:latin typeface="Segoe UI"/>
              </a:rPr>
              <a:t>Điền 0 làm “không đo được” trông giống hệt “đo được và</a:t>
            </a:r>
          </a:p>
          <a:p>
            <a:pPr algn="l">
              <a:spcAft>
                <a:spcPts val="300"/>
              </a:spcAft>
            </a:pPr>
            <a:r>
              <a:rPr sz="1050" b="0" i="0">
                <a:solidFill>
                  <a:srgbClr val="33414E"/>
                </a:solidFill>
                <a:latin typeface="Segoe UI"/>
              </a:rPr>
              <a:t>bằng phẳng” — hai kết luận trái ngược, một hiển thị.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Kiến trúc đích — chín chặng, mỗi chặng một hợp đồng kiểu</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Không chặng nào được phép tin chặng trước mà không kiểm lại</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04</a:t>
            </a:r>
          </a:p>
        </p:txBody>
      </p:sp>
      <p:sp>
        <p:nvSpPr>
          <p:cNvPr id="9" name="Rectangle 8"/>
          <p:cNvSpPr/>
          <p:nvPr/>
        </p:nvSpPr>
        <p:spPr>
          <a:xfrm>
            <a:off x="566928" y="1481328"/>
            <a:ext cx="1207008" cy="22128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81328"/>
            <a:ext cx="1207008" cy="47548"/>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627632"/>
            <a:ext cx="1005840" cy="1920240"/>
          </a:xfrm>
          <a:prstGeom prst="rect">
            <a:avLst/>
          </a:prstGeom>
          <a:noFill/>
        </p:spPr>
        <p:txBody>
          <a:bodyPr wrap="square" lIns="0" rIns="0" tIns="0" bIns="0">
            <a:spAutoFit/>
          </a:bodyPr>
          <a:lstStyle/>
          <a:p>
            <a:pPr algn="l">
              <a:spcAft>
                <a:spcPts val="300"/>
              </a:spcAft>
            </a:pPr>
            <a:r>
              <a:rPr sz="1050" b="1" i="0">
                <a:solidFill>
                  <a:srgbClr val="1E4D8C"/>
                </a:solidFill>
                <a:latin typeface="Segoe UI"/>
              </a:rPr>
              <a:t>S1</a:t>
            </a:r>
          </a:p>
          <a:p>
            <a:pPr algn="l">
              <a:spcAft>
                <a:spcPts val="600"/>
              </a:spcAft>
            </a:pPr>
            <a:r>
              <a:rPr sz="1100" b="1" i="0">
                <a:solidFill>
                  <a:srgbClr val="141B24"/>
                </a:solidFill>
                <a:latin typeface="Segoe UI"/>
              </a:rPr>
              <a:t>PARSE</a:t>
            </a:r>
          </a:p>
          <a:p>
            <a:pPr algn="l">
              <a:spcAft>
                <a:spcPts val="500"/>
              </a:spcAft>
            </a:pPr>
            <a:r>
              <a:rPr sz="850" b="0" i="1">
                <a:solidFill>
                  <a:srgbClr val="6B7A8A"/>
                </a:solidFill>
                <a:latin typeface="Segoe UI"/>
              </a:rPr>
              <a:t>parser.py</a:t>
            </a:r>
          </a:p>
          <a:p>
            <a:pPr algn="l">
              <a:spcAft>
                <a:spcPts val="0"/>
              </a:spcAft>
            </a:pPr>
            <a:r>
              <a:rPr sz="900" b="0" i="0">
                <a:solidFill>
                  <a:srgbClr val="33414E"/>
                </a:solidFill>
                <a:latin typeface="Segoe UI"/>
              </a:rPr>
              <a:t>StructuredRequest</a:t>
            </a:r>
          </a:p>
        </p:txBody>
      </p:sp>
      <p:sp>
        <p:nvSpPr>
          <p:cNvPr id="12" name="TextBox 11"/>
          <p:cNvSpPr txBox="1"/>
          <p:nvPr/>
        </p:nvSpPr>
        <p:spPr>
          <a:xfrm>
            <a:off x="1755648" y="2441448"/>
            <a:ext cx="128016"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13" name="Rectangle 12"/>
          <p:cNvSpPr/>
          <p:nvPr/>
        </p:nvSpPr>
        <p:spPr>
          <a:xfrm>
            <a:off x="1856232" y="1481328"/>
            <a:ext cx="1207008" cy="22128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56232" y="1481328"/>
            <a:ext cx="1207008" cy="47548"/>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65960" y="1627632"/>
            <a:ext cx="1005840" cy="1920240"/>
          </a:xfrm>
          <a:prstGeom prst="rect">
            <a:avLst/>
          </a:prstGeom>
          <a:noFill/>
        </p:spPr>
        <p:txBody>
          <a:bodyPr wrap="square" lIns="0" rIns="0" tIns="0" bIns="0">
            <a:spAutoFit/>
          </a:bodyPr>
          <a:lstStyle/>
          <a:p>
            <a:pPr algn="l">
              <a:spcAft>
                <a:spcPts val="300"/>
              </a:spcAft>
            </a:pPr>
            <a:r>
              <a:rPr sz="1050" b="1" i="0">
                <a:solidFill>
                  <a:srgbClr val="1E4D8C"/>
                </a:solidFill>
                <a:latin typeface="Segoe UI"/>
              </a:rPr>
              <a:t>S2</a:t>
            </a:r>
          </a:p>
          <a:p>
            <a:pPr algn="l">
              <a:spcAft>
                <a:spcPts val="600"/>
              </a:spcAft>
            </a:pPr>
            <a:r>
              <a:rPr sz="1100" b="1" i="0">
                <a:solidFill>
                  <a:srgbClr val="141B24"/>
                </a:solidFill>
                <a:latin typeface="Segoe UI"/>
              </a:rPr>
              <a:t>ROUTE</a:t>
            </a:r>
          </a:p>
          <a:p>
            <a:pPr algn="l">
              <a:spcAft>
                <a:spcPts val="500"/>
              </a:spcAft>
            </a:pPr>
            <a:r>
              <a:rPr sz="850" b="0" i="1">
                <a:solidFill>
                  <a:srgbClr val="6B7A8A"/>
                </a:solidFill>
                <a:latin typeface="Segoe UI"/>
              </a:rPr>
              <a:t>external/router.py</a:t>
            </a:r>
          </a:p>
          <a:p>
            <a:pPr algn="l">
              <a:spcAft>
                <a:spcPts val="0"/>
              </a:spcAft>
            </a:pPr>
            <a:r>
              <a:rPr sz="900" b="0" i="0">
                <a:solidFill>
                  <a:srgbClr val="33414E"/>
                </a:solidFill>
                <a:latin typeface="Segoe UI"/>
              </a:rPr>
              <a:t>internal · hybrid · abstain</a:t>
            </a:r>
          </a:p>
        </p:txBody>
      </p:sp>
      <p:sp>
        <p:nvSpPr>
          <p:cNvPr id="16" name="TextBox 15"/>
          <p:cNvSpPr txBox="1"/>
          <p:nvPr/>
        </p:nvSpPr>
        <p:spPr>
          <a:xfrm>
            <a:off x="3044952" y="2441448"/>
            <a:ext cx="128016"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17" name="Rectangle 16"/>
          <p:cNvSpPr/>
          <p:nvPr/>
        </p:nvSpPr>
        <p:spPr>
          <a:xfrm>
            <a:off x="3145536" y="1481328"/>
            <a:ext cx="1207008" cy="22128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45536" y="1481328"/>
            <a:ext cx="1207008" cy="47548"/>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55264" y="1627632"/>
            <a:ext cx="1005840" cy="1920240"/>
          </a:xfrm>
          <a:prstGeom prst="rect">
            <a:avLst/>
          </a:prstGeom>
          <a:noFill/>
        </p:spPr>
        <p:txBody>
          <a:bodyPr wrap="square" lIns="0" rIns="0" tIns="0" bIns="0">
            <a:spAutoFit/>
          </a:bodyPr>
          <a:lstStyle/>
          <a:p>
            <a:pPr algn="l">
              <a:spcAft>
                <a:spcPts val="300"/>
              </a:spcAft>
            </a:pPr>
            <a:r>
              <a:rPr sz="1050" b="1" i="0">
                <a:solidFill>
                  <a:srgbClr val="1E4D8C"/>
                </a:solidFill>
                <a:latin typeface="Segoe UI"/>
              </a:rPr>
              <a:t>S3</a:t>
            </a:r>
          </a:p>
          <a:p>
            <a:pPr algn="l">
              <a:spcAft>
                <a:spcPts val="600"/>
              </a:spcAft>
            </a:pPr>
            <a:r>
              <a:rPr sz="1100" b="1" i="0">
                <a:solidFill>
                  <a:srgbClr val="141B24"/>
                </a:solidFill>
                <a:latin typeface="Segoe UI"/>
              </a:rPr>
              <a:t>ENTITY</a:t>
            </a:r>
          </a:p>
          <a:p>
            <a:pPr algn="l">
              <a:spcAft>
                <a:spcPts val="500"/>
              </a:spcAft>
            </a:pPr>
            <a:r>
              <a:rPr sz="850" b="0" i="1">
                <a:solidFill>
                  <a:srgbClr val="6B7A8A"/>
                </a:solidFill>
                <a:latin typeface="Segoe UI"/>
              </a:rPr>
              <a:t>entity_resolution.py</a:t>
            </a:r>
          </a:p>
          <a:p>
            <a:pPr algn="l">
              <a:spcAft>
                <a:spcPts val="0"/>
              </a:spcAft>
            </a:pPr>
            <a:r>
              <a:rPr sz="900" b="0" i="0">
                <a:solidFill>
                  <a:srgbClr val="33414E"/>
                </a:solidFill>
                <a:latin typeface="Segoe UI"/>
              </a:rPr>
              <a:t>ID → tên → fuzzy → BGE</a:t>
            </a:r>
          </a:p>
        </p:txBody>
      </p:sp>
      <p:sp>
        <p:nvSpPr>
          <p:cNvPr id="20" name="TextBox 19"/>
          <p:cNvSpPr txBox="1"/>
          <p:nvPr/>
        </p:nvSpPr>
        <p:spPr>
          <a:xfrm>
            <a:off x="4334256" y="2441448"/>
            <a:ext cx="128016"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21" name="Rectangle 20"/>
          <p:cNvSpPr/>
          <p:nvPr/>
        </p:nvSpPr>
        <p:spPr>
          <a:xfrm>
            <a:off x="4434840" y="1481328"/>
            <a:ext cx="1207008" cy="22128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1481328"/>
            <a:ext cx="1207008" cy="47548"/>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44568" y="1627632"/>
            <a:ext cx="1005840" cy="1920240"/>
          </a:xfrm>
          <a:prstGeom prst="rect">
            <a:avLst/>
          </a:prstGeom>
          <a:noFill/>
        </p:spPr>
        <p:txBody>
          <a:bodyPr wrap="square" lIns="0" rIns="0" tIns="0" bIns="0">
            <a:spAutoFit/>
          </a:bodyPr>
          <a:lstStyle/>
          <a:p>
            <a:pPr algn="l">
              <a:spcAft>
                <a:spcPts val="300"/>
              </a:spcAft>
            </a:pPr>
            <a:r>
              <a:rPr sz="1050" b="1" i="0">
                <a:solidFill>
                  <a:srgbClr val="C96F1E"/>
                </a:solidFill>
                <a:latin typeface="Segoe UI"/>
              </a:rPr>
              <a:t>S4</a:t>
            </a:r>
          </a:p>
          <a:p>
            <a:pPr algn="l">
              <a:spcAft>
                <a:spcPts val="600"/>
              </a:spcAft>
            </a:pPr>
            <a:r>
              <a:rPr sz="1100" b="1" i="0">
                <a:solidFill>
                  <a:srgbClr val="141B24"/>
                </a:solidFill>
                <a:latin typeface="Segoe UI"/>
              </a:rPr>
              <a:t>GATE-PRE</a:t>
            </a:r>
          </a:p>
          <a:p>
            <a:pPr algn="l">
              <a:spcAft>
                <a:spcPts val="500"/>
              </a:spcAft>
            </a:pPr>
            <a:r>
              <a:rPr sz="850" b="0" i="1">
                <a:solidFill>
                  <a:srgbClr val="6B7A8A"/>
                </a:solidFill>
                <a:latin typeface="Segoe UI"/>
              </a:rPr>
              <a:t>gate.py</a:t>
            </a:r>
          </a:p>
          <a:p>
            <a:pPr algn="l">
              <a:spcAft>
                <a:spcPts val="0"/>
              </a:spcAft>
            </a:pPr>
            <a:r>
              <a:rPr sz="900" b="0" i="0">
                <a:solidFill>
                  <a:srgbClr val="33414E"/>
                </a:solidFill>
                <a:latin typeface="Segoe UI"/>
              </a:rPr>
              <a:t>allow · clarify · abstain</a:t>
            </a:r>
          </a:p>
        </p:txBody>
      </p:sp>
      <p:sp>
        <p:nvSpPr>
          <p:cNvPr id="24" name="TextBox 23"/>
          <p:cNvSpPr txBox="1"/>
          <p:nvPr/>
        </p:nvSpPr>
        <p:spPr>
          <a:xfrm>
            <a:off x="5623560" y="2441448"/>
            <a:ext cx="128016"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25" name="Rectangle 24"/>
          <p:cNvSpPr/>
          <p:nvPr/>
        </p:nvSpPr>
        <p:spPr>
          <a:xfrm>
            <a:off x="5724144" y="1481328"/>
            <a:ext cx="1207008" cy="22128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724144" y="1481328"/>
            <a:ext cx="1207008" cy="475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33872" y="1627632"/>
            <a:ext cx="1005840" cy="1920240"/>
          </a:xfrm>
          <a:prstGeom prst="rect">
            <a:avLst/>
          </a:prstGeom>
          <a:noFill/>
        </p:spPr>
        <p:txBody>
          <a:bodyPr wrap="square" lIns="0" rIns="0" tIns="0" bIns="0">
            <a:spAutoFit/>
          </a:bodyPr>
          <a:lstStyle/>
          <a:p>
            <a:pPr algn="l">
              <a:spcAft>
                <a:spcPts val="300"/>
              </a:spcAft>
            </a:pPr>
            <a:r>
              <a:rPr sz="1050" b="1" i="0">
                <a:solidFill>
                  <a:srgbClr val="0E7C86"/>
                </a:solidFill>
                <a:latin typeface="Segoe UI"/>
              </a:rPr>
              <a:t>S5</a:t>
            </a:r>
          </a:p>
          <a:p>
            <a:pPr algn="l">
              <a:spcAft>
                <a:spcPts val="600"/>
              </a:spcAft>
            </a:pPr>
            <a:r>
              <a:rPr sz="1100" b="1" i="0">
                <a:solidFill>
                  <a:srgbClr val="141B24"/>
                </a:solidFill>
                <a:latin typeface="Segoe UI"/>
              </a:rPr>
              <a:t>PLAN</a:t>
            </a:r>
          </a:p>
          <a:p>
            <a:pPr algn="l">
              <a:spcAft>
                <a:spcPts val="500"/>
              </a:spcAft>
            </a:pPr>
            <a:r>
              <a:rPr sz="850" b="0" i="1">
                <a:solidFill>
                  <a:srgbClr val="6B7A8A"/>
                </a:solidFill>
                <a:latin typeface="Segoe UI"/>
              </a:rPr>
              <a:t>synthesizer / decomposer</a:t>
            </a:r>
          </a:p>
          <a:p>
            <a:pPr algn="l">
              <a:spcAft>
                <a:spcPts val="0"/>
              </a:spcAft>
            </a:pPr>
            <a:r>
              <a:rPr sz="900" b="0" i="0">
                <a:solidFill>
                  <a:srgbClr val="33414E"/>
                </a:solidFill>
                <a:latin typeface="Segoe UI"/>
              </a:rPr>
              <a:t>LogicalQueryPlan (IR v1.0)</a:t>
            </a:r>
          </a:p>
        </p:txBody>
      </p:sp>
      <p:sp>
        <p:nvSpPr>
          <p:cNvPr id="28" name="TextBox 27"/>
          <p:cNvSpPr txBox="1"/>
          <p:nvPr/>
        </p:nvSpPr>
        <p:spPr>
          <a:xfrm>
            <a:off x="6912864" y="2441448"/>
            <a:ext cx="128016"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29" name="Rectangle 28"/>
          <p:cNvSpPr/>
          <p:nvPr/>
        </p:nvSpPr>
        <p:spPr>
          <a:xfrm>
            <a:off x="7013448" y="1481328"/>
            <a:ext cx="1207008" cy="22128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13448" y="1481328"/>
            <a:ext cx="1207008" cy="475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23176" y="1627632"/>
            <a:ext cx="1005840" cy="1920240"/>
          </a:xfrm>
          <a:prstGeom prst="rect">
            <a:avLst/>
          </a:prstGeom>
          <a:noFill/>
        </p:spPr>
        <p:txBody>
          <a:bodyPr wrap="square" lIns="0" rIns="0" tIns="0" bIns="0">
            <a:spAutoFit/>
          </a:bodyPr>
          <a:lstStyle/>
          <a:p>
            <a:pPr algn="l">
              <a:spcAft>
                <a:spcPts val="300"/>
              </a:spcAft>
            </a:pPr>
            <a:r>
              <a:rPr sz="1050" b="1" i="0">
                <a:solidFill>
                  <a:srgbClr val="0E7C86"/>
                </a:solidFill>
                <a:latin typeface="Segoe UI"/>
              </a:rPr>
              <a:t>S6</a:t>
            </a:r>
          </a:p>
          <a:p>
            <a:pPr algn="l">
              <a:spcAft>
                <a:spcPts val="600"/>
              </a:spcAft>
            </a:pPr>
            <a:r>
              <a:rPr sz="1100" b="1" i="0">
                <a:solidFill>
                  <a:srgbClr val="141B24"/>
                </a:solidFill>
                <a:latin typeface="Segoe UI"/>
              </a:rPr>
              <a:t>EXECUTE</a:t>
            </a:r>
          </a:p>
          <a:p>
            <a:pPr algn="l">
              <a:spcAft>
                <a:spcPts val="500"/>
              </a:spcAft>
            </a:pPr>
            <a:r>
              <a:rPr sz="850" b="0" i="1">
                <a:solidFill>
                  <a:srgbClr val="6B7A8A"/>
                </a:solidFill>
                <a:latin typeface="Segoe UI"/>
              </a:rPr>
              <a:t>compiler + executor</a:t>
            </a:r>
          </a:p>
          <a:p>
            <a:pPr algn="l">
              <a:spcAft>
                <a:spcPts val="0"/>
              </a:spcAft>
            </a:pPr>
            <a:r>
              <a:rPr sz="900" b="0" i="0">
                <a:solidFill>
                  <a:srgbClr val="33414E"/>
                </a:solidFill>
                <a:latin typeface="Segoe UI"/>
              </a:rPr>
              <a:t>SQLGlot · DuckDB read-only</a:t>
            </a:r>
          </a:p>
        </p:txBody>
      </p:sp>
      <p:sp>
        <p:nvSpPr>
          <p:cNvPr id="32" name="TextBox 31"/>
          <p:cNvSpPr txBox="1"/>
          <p:nvPr/>
        </p:nvSpPr>
        <p:spPr>
          <a:xfrm>
            <a:off x="8202168" y="2441448"/>
            <a:ext cx="128016"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33" name="Rectangle 32"/>
          <p:cNvSpPr/>
          <p:nvPr/>
        </p:nvSpPr>
        <p:spPr>
          <a:xfrm>
            <a:off x="8302752" y="1481328"/>
            <a:ext cx="1207008" cy="22128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02752" y="1481328"/>
            <a:ext cx="1207008" cy="47548"/>
          </a:xfrm>
          <a:prstGeom prst="rect">
            <a:avLst/>
          </a:prstGeom>
          <a:solidFill>
            <a:srgbClr val="6B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0" y="1627632"/>
            <a:ext cx="1005840" cy="1920240"/>
          </a:xfrm>
          <a:prstGeom prst="rect">
            <a:avLst/>
          </a:prstGeom>
          <a:noFill/>
        </p:spPr>
        <p:txBody>
          <a:bodyPr wrap="square" lIns="0" rIns="0" tIns="0" bIns="0">
            <a:spAutoFit/>
          </a:bodyPr>
          <a:lstStyle/>
          <a:p>
            <a:pPr algn="l">
              <a:spcAft>
                <a:spcPts val="300"/>
              </a:spcAft>
            </a:pPr>
            <a:r>
              <a:rPr sz="1050" b="1" i="0">
                <a:solidFill>
                  <a:srgbClr val="6B468F"/>
                </a:solidFill>
                <a:latin typeface="Segoe UI"/>
              </a:rPr>
              <a:t>S7</a:t>
            </a:r>
          </a:p>
          <a:p>
            <a:pPr algn="l">
              <a:spcAft>
                <a:spcPts val="600"/>
              </a:spcAft>
            </a:pPr>
            <a:r>
              <a:rPr sz="1100" b="1" i="0">
                <a:solidFill>
                  <a:srgbClr val="141B24"/>
                </a:solidFill>
                <a:latin typeface="Segoe UI"/>
              </a:rPr>
              <a:t>EVIDENCE</a:t>
            </a:r>
          </a:p>
          <a:p>
            <a:pPr algn="l">
              <a:spcAft>
                <a:spcPts val="500"/>
              </a:spcAft>
            </a:pPr>
            <a:r>
              <a:rPr sz="850" b="0" i="1">
                <a:solidFill>
                  <a:srgbClr val="6B7A8A"/>
                </a:solidFill>
                <a:latin typeface="Segoe UI"/>
              </a:rPr>
              <a:t>contracts.Evidence</a:t>
            </a:r>
          </a:p>
          <a:p>
            <a:pPr algn="l">
              <a:spcAft>
                <a:spcPts val="0"/>
              </a:spcAft>
            </a:pPr>
            <a:r>
              <a:rPr sz="900" b="0" i="0">
                <a:solidFill>
                  <a:srgbClr val="33414E"/>
                </a:solidFill>
                <a:latin typeface="Segoe UI"/>
              </a:rPr>
              <a:t>bản ghi bất biến</a:t>
            </a:r>
          </a:p>
        </p:txBody>
      </p:sp>
      <p:sp>
        <p:nvSpPr>
          <p:cNvPr id="36" name="TextBox 35"/>
          <p:cNvSpPr txBox="1"/>
          <p:nvPr/>
        </p:nvSpPr>
        <p:spPr>
          <a:xfrm>
            <a:off x="9491472" y="2441448"/>
            <a:ext cx="128016"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37" name="Rectangle 36"/>
          <p:cNvSpPr/>
          <p:nvPr/>
        </p:nvSpPr>
        <p:spPr>
          <a:xfrm>
            <a:off x="9592056" y="1481328"/>
            <a:ext cx="1207008" cy="22128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592056" y="1481328"/>
            <a:ext cx="1207008" cy="47548"/>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01784" y="1627632"/>
            <a:ext cx="1005840" cy="1920240"/>
          </a:xfrm>
          <a:prstGeom prst="rect">
            <a:avLst/>
          </a:prstGeom>
          <a:noFill/>
        </p:spPr>
        <p:txBody>
          <a:bodyPr wrap="square" lIns="0" rIns="0" tIns="0" bIns="0">
            <a:spAutoFit/>
          </a:bodyPr>
          <a:lstStyle/>
          <a:p>
            <a:pPr algn="l">
              <a:spcAft>
                <a:spcPts val="300"/>
              </a:spcAft>
            </a:pPr>
            <a:r>
              <a:rPr sz="1050" b="1" i="0">
                <a:solidFill>
                  <a:srgbClr val="A6333F"/>
                </a:solidFill>
                <a:latin typeface="Segoe UI"/>
              </a:rPr>
              <a:t>S8</a:t>
            </a:r>
          </a:p>
          <a:p>
            <a:pPr algn="l">
              <a:spcAft>
                <a:spcPts val="600"/>
              </a:spcAft>
            </a:pPr>
            <a:r>
              <a:rPr sz="1100" b="1" i="0">
                <a:solidFill>
                  <a:srgbClr val="141B24"/>
                </a:solidFill>
                <a:latin typeface="Segoe UI"/>
              </a:rPr>
              <a:t>VERIFY</a:t>
            </a:r>
          </a:p>
          <a:p>
            <a:pPr algn="l">
              <a:spcAft>
                <a:spcPts val="500"/>
              </a:spcAft>
            </a:pPr>
            <a:r>
              <a:rPr sz="850" b="0" i="1">
                <a:solidFill>
                  <a:srgbClr val="6B7A8A"/>
                </a:solidFill>
                <a:latin typeface="Segoe UI"/>
              </a:rPr>
              <a:t>verifier.py</a:t>
            </a:r>
          </a:p>
          <a:p>
            <a:pPr algn="l">
              <a:spcAft>
                <a:spcPts val="0"/>
              </a:spcAft>
            </a:pPr>
            <a:r>
              <a:rPr sz="900" b="0" i="0">
                <a:solidFill>
                  <a:srgbClr val="33414E"/>
                </a:solidFill>
                <a:latin typeface="Segoe UI"/>
              </a:rPr>
              <a:t>mọi số phải khớp evidence</a:t>
            </a:r>
          </a:p>
        </p:txBody>
      </p:sp>
      <p:sp>
        <p:nvSpPr>
          <p:cNvPr id="40" name="TextBox 39"/>
          <p:cNvSpPr txBox="1"/>
          <p:nvPr/>
        </p:nvSpPr>
        <p:spPr>
          <a:xfrm>
            <a:off x="10780776" y="2441448"/>
            <a:ext cx="128016"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41" name="Rectangle 40"/>
          <p:cNvSpPr/>
          <p:nvPr/>
        </p:nvSpPr>
        <p:spPr>
          <a:xfrm>
            <a:off x="10881360" y="1481328"/>
            <a:ext cx="1207008" cy="22128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81360" y="1481328"/>
            <a:ext cx="1207008" cy="47548"/>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91088" y="1627632"/>
            <a:ext cx="1005840" cy="1920240"/>
          </a:xfrm>
          <a:prstGeom prst="rect">
            <a:avLst/>
          </a:prstGeom>
          <a:noFill/>
        </p:spPr>
        <p:txBody>
          <a:bodyPr wrap="square" lIns="0" rIns="0" tIns="0" bIns="0">
            <a:spAutoFit/>
          </a:bodyPr>
          <a:lstStyle/>
          <a:p>
            <a:pPr algn="l">
              <a:spcAft>
                <a:spcPts val="300"/>
              </a:spcAft>
            </a:pPr>
            <a:r>
              <a:rPr sz="1050" b="1" i="0">
                <a:solidFill>
                  <a:srgbClr val="A6333F"/>
                </a:solidFill>
                <a:latin typeface="Segoe UI"/>
              </a:rPr>
              <a:t>S9</a:t>
            </a:r>
          </a:p>
          <a:p>
            <a:pPr algn="l">
              <a:spcAft>
                <a:spcPts val="600"/>
              </a:spcAft>
            </a:pPr>
            <a:r>
              <a:rPr sz="1100" b="1" i="0">
                <a:solidFill>
                  <a:srgbClr val="141B24"/>
                </a:solidFill>
                <a:latin typeface="Segoe UI"/>
              </a:rPr>
              <a:t>GATE-OUT</a:t>
            </a:r>
          </a:p>
          <a:p>
            <a:pPr algn="l">
              <a:spcAft>
                <a:spcPts val="500"/>
              </a:spcAft>
            </a:pPr>
            <a:r>
              <a:rPr sz="850" b="0" i="1">
                <a:solidFill>
                  <a:srgbClr val="6B7A8A"/>
                </a:solidFill>
                <a:latin typeface="Segoe UI"/>
              </a:rPr>
              <a:t>alignment + verify</a:t>
            </a:r>
          </a:p>
          <a:p>
            <a:pPr algn="l">
              <a:spcAft>
                <a:spcPts val="0"/>
              </a:spcAft>
            </a:pPr>
            <a:r>
              <a:rPr sz="900" b="0" i="0">
                <a:solidFill>
                  <a:srgbClr val="33414E"/>
                </a:solidFill>
                <a:latin typeface="Segoe UI"/>
              </a:rPr>
              <a:t>fail ⇒ A-VERIFICATION-FINAL</a:t>
            </a:r>
          </a:p>
        </p:txBody>
      </p:sp>
      <p:sp>
        <p:nvSpPr>
          <p:cNvPr id="44" name="Rectangle 43"/>
          <p:cNvSpPr/>
          <p:nvPr/>
        </p:nvSpPr>
        <p:spPr>
          <a:xfrm>
            <a:off x="566928" y="3977639"/>
            <a:ext cx="11057839" cy="786384"/>
          </a:xfrm>
          <a:prstGeom prst="rect">
            <a:avLst/>
          </a:prstGeom>
          <a:solidFill>
            <a:srgbClr val="EF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66928" y="3977639"/>
            <a:ext cx="45720" cy="7863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5528" y="4114800"/>
            <a:ext cx="10600639" cy="548640"/>
          </a:xfrm>
          <a:prstGeom prst="rect">
            <a:avLst/>
          </a:prstGeom>
          <a:noFill/>
        </p:spPr>
        <p:txBody>
          <a:bodyPr wrap="square" lIns="0" rIns="0" tIns="0" bIns="0">
            <a:spAutoFit/>
          </a:bodyPr>
          <a:lstStyle/>
          <a:p>
            <a:pPr algn="l">
              <a:spcAft>
                <a:spcPts val="300"/>
              </a:spcAft>
            </a:pPr>
            <a:r>
              <a:rPr sz="1200" b="1" i="0">
                <a:solidFill>
                  <a:srgbClr val="141B24"/>
                </a:solidFill>
                <a:latin typeface="Segoe UI"/>
              </a:rPr>
              <a:t>Điểm mạnh cấu trúc: mỗi mũi tên là một hợp đồng Pydantic có schema_version, không phải một lời gọi hàm.</a:t>
            </a:r>
          </a:p>
          <a:p>
            <a:pPr algn="l">
              <a:spcAft>
                <a:spcPts val="0"/>
              </a:spcAft>
            </a:pPr>
            <a:r>
              <a:rPr sz="1100" b="0" i="0">
                <a:solidFill>
                  <a:srgbClr val="33414E"/>
                </a:solidFill>
                <a:latin typeface="Segoe UI"/>
              </a:rPr>
              <a:t>Một chặng hỏng thì hỏng ồn ào tại biên của nó, không lan thành câu trả lời sai ở cuối.</a:t>
            </a:r>
          </a:p>
        </p:txBody>
      </p:sp>
      <p:sp>
        <p:nvSpPr>
          <p:cNvPr id="47" name="Rectangle 46"/>
          <p:cNvSpPr/>
          <p:nvPr/>
        </p:nvSpPr>
        <p:spPr>
          <a:xfrm>
            <a:off x="566928" y="4956048"/>
            <a:ext cx="3566160" cy="106070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4956048"/>
            <a:ext cx="41148" cy="1060704"/>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5102352"/>
            <a:ext cx="3200400" cy="786384"/>
          </a:xfrm>
          <a:prstGeom prst="rect">
            <a:avLst/>
          </a:prstGeom>
          <a:noFill/>
        </p:spPr>
        <p:txBody>
          <a:bodyPr wrap="square" lIns="0" rIns="0" tIns="0" bIns="0">
            <a:spAutoFit/>
          </a:bodyPr>
          <a:lstStyle/>
          <a:p>
            <a:pPr algn="l">
              <a:spcAft>
                <a:spcPts val="500"/>
              </a:spcAft>
            </a:pPr>
            <a:r>
              <a:rPr sz="1100" b="1" i="0">
                <a:solidFill>
                  <a:srgbClr val="141B24"/>
                </a:solidFill>
                <a:latin typeface="Segoe UI"/>
              </a:rPr>
              <a:t>Fail-closed là mặc định</a:t>
            </a:r>
          </a:p>
          <a:p>
            <a:pPr algn="l">
              <a:spcAft>
                <a:spcPts val="300"/>
              </a:spcAft>
            </a:pPr>
            <a:r>
              <a:rPr sz="1000" b="0" i="0">
                <a:solidFill>
                  <a:srgbClr val="33414E"/>
                </a:solidFill>
                <a:latin typeface="Segoe UI"/>
              </a:rPr>
              <a:t>Không chắc ⇒ clarify hoặc abstain. Với câu mơ hồ hoặc thứ dataset không có, từ chối là HÀNH VI ĐÚNG, không phải lỗi.</a:t>
            </a:r>
          </a:p>
        </p:txBody>
      </p:sp>
      <p:sp>
        <p:nvSpPr>
          <p:cNvPr id="50" name="Rectangle 49"/>
          <p:cNvSpPr/>
          <p:nvPr/>
        </p:nvSpPr>
        <p:spPr>
          <a:xfrm>
            <a:off x="4334256" y="4956048"/>
            <a:ext cx="3566160" cy="106070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334256" y="4956048"/>
            <a:ext cx="41148" cy="1060704"/>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35424" y="5102352"/>
            <a:ext cx="3200400" cy="786384"/>
          </a:xfrm>
          <a:prstGeom prst="rect">
            <a:avLst/>
          </a:prstGeom>
          <a:noFill/>
        </p:spPr>
        <p:txBody>
          <a:bodyPr wrap="square" lIns="0" rIns="0" tIns="0" bIns="0">
            <a:spAutoFit/>
          </a:bodyPr>
          <a:lstStyle/>
          <a:p>
            <a:pPr algn="l">
              <a:spcAft>
                <a:spcPts val="500"/>
              </a:spcAft>
            </a:pPr>
            <a:r>
              <a:rPr sz="1100" b="1" i="0">
                <a:solidFill>
                  <a:srgbClr val="141B24"/>
                </a:solidFill>
                <a:latin typeface="Segoe UI"/>
              </a:rPr>
              <a:t>Không có raw-SQL path</a:t>
            </a:r>
          </a:p>
          <a:p>
            <a:pPr algn="l">
              <a:spcAft>
                <a:spcPts val="300"/>
              </a:spcAft>
            </a:pPr>
            <a:r>
              <a:rPr sz="1000" b="0" i="0">
                <a:solidFill>
                  <a:srgbClr val="33414E"/>
                </a:solidFill>
                <a:latin typeface="Segoe UI"/>
              </a:rPr>
              <a:t>Không mở ở runtime dưới bất kỳ hình thức nào. SQL chỉ do compiler deterministic sinh, chỉ chạy qua executor read-only.</a:t>
            </a:r>
          </a:p>
        </p:txBody>
      </p:sp>
      <p:sp>
        <p:nvSpPr>
          <p:cNvPr id="53" name="Rectangle 52"/>
          <p:cNvSpPr/>
          <p:nvPr/>
        </p:nvSpPr>
        <p:spPr>
          <a:xfrm>
            <a:off x="8101584" y="4956048"/>
            <a:ext cx="3566160" cy="106070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101584" y="4956048"/>
            <a:ext cx="41148" cy="1060704"/>
          </a:xfrm>
          <a:prstGeom prst="rect">
            <a:avLst/>
          </a:prstGeom>
          <a:solidFill>
            <a:srgbClr val="6B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02752" y="5102352"/>
            <a:ext cx="3200400" cy="786384"/>
          </a:xfrm>
          <a:prstGeom prst="rect">
            <a:avLst/>
          </a:prstGeom>
          <a:noFill/>
        </p:spPr>
        <p:txBody>
          <a:bodyPr wrap="square" lIns="0" rIns="0" tIns="0" bIns="0">
            <a:spAutoFit/>
          </a:bodyPr>
          <a:lstStyle/>
          <a:p>
            <a:pPr algn="l">
              <a:spcAft>
                <a:spcPts val="500"/>
              </a:spcAft>
            </a:pPr>
            <a:r>
              <a:rPr sz="1100" b="1" i="0">
                <a:solidFill>
                  <a:srgbClr val="141B24"/>
                </a:solidFill>
                <a:latin typeface="Segoe UI"/>
              </a:rPr>
              <a:t>Evidence bất biến</a:t>
            </a:r>
          </a:p>
          <a:p>
            <a:pPr algn="l">
              <a:spcAft>
                <a:spcPts val="300"/>
              </a:spcAft>
            </a:pPr>
            <a:r>
              <a:rPr sz="1000" b="0" i="0">
                <a:solidFill>
                  <a:srgbClr val="33414E"/>
                </a:solidFill>
                <a:latin typeface="Segoe UI"/>
              </a:rPr>
              <a:t>ContextBundle chỉ chứa bản copy đã guard. Sửa Evidence gốc ⇒ verifier lệch ⇒ mọi câu chuyển A-VERIFICATION-FINAL.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Ba lớp kiểm độc lập — và khe hở giữa chúng</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Đây là luận điểm kiến trúc trung tâm của hệ thống</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05</a:t>
            </a:r>
          </a:p>
        </p:txBody>
      </p:sp>
      <p:sp>
        <p:nvSpPr>
          <p:cNvPr id="9" name="Rectangle 8"/>
          <p:cNvSpPr/>
          <p:nvPr/>
        </p:nvSpPr>
        <p:spPr>
          <a:xfrm>
            <a:off x="566928" y="1481328"/>
            <a:ext cx="3566160" cy="28803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81328"/>
            <a:ext cx="3566160" cy="50292"/>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664208"/>
            <a:ext cx="3154680" cy="2560320"/>
          </a:xfrm>
          <a:prstGeom prst="rect">
            <a:avLst/>
          </a:prstGeom>
          <a:noFill/>
        </p:spPr>
        <p:txBody>
          <a:bodyPr wrap="square" lIns="0" rIns="0" tIns="0" bIns="0">
            <a:spAutoFit/>
          </a:bodyPr>
          <a:lstStyle/>
          <a:p>
            <a:pPr algn="l">
              <a:spcAft>
                <a:spcPts val="200"/>
              </a:spcAft>
            </a:pPr>
            <a:r>
              <a:rPr sz="1400" b="1" i="0">
                <a:solidFill>
                  <a:srgbClr val="141B24"/>
                </a:solidFill>
                <a:latin typeface="Segoe UI"/>
              </a:rPr>
              <a:t>GATE</a:t>
            </a:r>
          </a:p>
          <a:p>
            <a:pPr algn="l">
              <a:spcAft>
                <a:spcPts val="700"/>
              </a:spcAft>
            </a:pPr>
            <a:r>
              <a:rPr sz="900" b="0" i="1">
                <a:solidFill>
                  <a:srgbClr val="6B7A8A"/>
                </a:solidFill>
                <a:latin typeface="Segoe UI"/>
              </a:rPr>
              <a:t>gate.py</a:t>
            </a:r>
          </a:p>
          <a:p>
            <a:pPr algn="l">
              <a:spcAft>
                <a:spcPts val="800"/>
              </a:spcAft>
            </a:pPr>
            <a:r>
              <a:rPr sz="1100" b="1" i="0">
                <a:solidFill>
                  <a:srgbClr val="C96F1E"/>
                </a:solidFill>
                <a:latin typeface="Segoe UI"/>
              </a:rPr>
              <a:t>Được phép trả lời không?</a:t>
            </a:r>
          </a:p>
          <a:p>
            <a:pPr algn="l">
              <a:spcAft>
                <a:spcPts val="200"/>
              </a:spcAft>
            </a:pPr>
            <a:r>
              <a:rPr sz="950" b="0" i="0">
                <a:solidFill>
                  <a:srgbClr val="33414E"/>
                </a:solidFill>
                <a:latin typeface="Segoe UI"/>
              </a:rPr>
              <a:t>Sáu phase: capability → intent/entity →</a:t>
            </a:r>
          </a:p>
          <a:p>
            <a:pPr algn="l">
              <a:spcAft>
                <a:spcPts val="200"/>
              </a:spcAft>
            </a:pPr>
            <a:r>
              <a:rPr sz="950" b="0" i="0">
                <a:solidFill>
                  <a:srgbClr val="33414E"/>
                </a:solidFill>
                <a:latin typeface="Segoe UI"/>
              </a:rPr>
              <a:t>forbidden op/grain/fanout → currency →</a:t>
            </a:r>
          </a:p>
          <a:p>
            <a:pPr algn="l">
              <a:spcAft>
                <a:spcPts val="200"/>
              </a:spcAft>
            </a:pPr>
            <a:r>
              <a:rPr sz="950" b="0" i="0">
                <a:solidFill>
                  <a:srgbClr val="33414E"/>
                </a:solidFill>
                <a:latin typeface="Segoe UI"/>
              </a:rPr>
              <a:t>alignment → missing slot</a:t>
            </a:r>
          </a:p>
          <a:p>
            <a:pPr algn="l">
              <a:spcAft>
                <a:spcPts val="200"/>
              </a:spcAft>
            </a:pPr>
            <a:r>
              <a:rPr sz="950" b="0" i="0">
                <a:solidFill>
                  <a:srgbClr val="33414E"/>
                </a:solidFill>
                <a:latin typeface="Segoe UI"/>
              </a:rPr>
              <a:t/>
            </a:r>
          </a:p>
          <a:p>
            <a:pPr algn="l">
              <a:spcAft>
                <a:spcPts val="200"/>
              </a:spcAft>
            </a:pPr>
            <a:r>
              <a:rPr sz="950" b="0" i="0">
                <a:solidFill>
                  <a:srgbClr val="33414E"/>
                </a:solidFill>
                <a:latin typeface="Segoe UI"/>
              </a:rPr>
              <a:t>Thu hết issue trong phase rồi mới chọn</a:t>
            </a:r>
          </a:p>
          <a:p>
            <a:pPr algn="l">
              <a:spcAft>
                <a:spcPts val="200"/>
              </a:spcAft>
            </a:pPr>
            <a:r>
              <a:rPr sz="950" b="0" i="0">
                <a:solidFill>
                  <a:srgbClr val="33414E"/>
                </a:solidFill>
                <a:latin typeface="Segoe UI"/>
              </a:rPr>
              <a:t>theo priority registry.</a:t>
            </a:r>
          </a:p>
        </p:txBody>
      </p:sp>
      <p:sp>
        <p:nvSpPr>
          <p:cNvPr id="12" name="Rectangle 11"/>
          <p:cNvSpPr/>
          <p:nvPr/>
        </p:nvSpPr>
        <p:spPr>
          <a:xfrm>
            <a:off x="4334256" y="1481328"/>
            <a:ext cx="3566160" cy="28803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4256" y="1481328"/>
            <a:ext cx="3566160"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664208"/>
            <a:ext cx="3154680" cy="2560320"/>
          </a:xfrm>
          <a:prstGeom prst="rect">
            <a:avLst/>
          </a:prstGeom>
          <a:noFill/>
        </p:spPr>
        <p:txBody>
          <a:bodyPr wrap="square" lIns="0" rIns="0" tIns="0" bIns="0">
            <a:spAutoFit/>
          </a:bodyPr>
          <a:lstStyle/>
          <a:p>
            <a:pPr algn="l">
              <a:spcAft>
                <a:spcPts val="200"/>
              </a:spcAft>
            </a:pPr>
            <a:r>
              <a:rPr sz="1400" b="1" i="0">
                <a:solidFill>
                  <a:srgbClr val="141B24"/>
                </a:solidFill>
                <a:latin typeface="Segoe UI"/>
              </a:rPr>
              <a:t>ALIGNMENT · A22</a:t>
            </a:r>
          </a:p>
          <a:p>
            <a:pPr algn="l">
              <a:spcAft>
                <a:spcPts val="700"/>
              </a:spcAft>
            </a:pPr>
            <a:r>
              <a:rPr sz="900" b="0" i="1">
                <a:solidFill>
                  <a:srgbClr val="6B7A8A"/>
                </a:solidFill>
                <a:latin typeface="Segoe UI"/>
              </a:rPr>
              <a:t>alignment.py</a:t>
            </a:r>
          </a:p>
          <a:p>
            <a:pPr algn="l">
              <a:spcAft>
                <a:spcPts val="800"/>
              </a:spcAft>
            </a:pPr>
            <a:r>
              <a:rPr sz="1100" b="1" i="0">
                <a:solidFill>
                  <a:srgbClr val="0E7C86"/>
                </a:solidFill>
                <a:latin typeface="Segoe UI"/>
              </a:rPr>
              <a:t>Có đang trả lời ĐÚNG câu hỏi?</a:t>
            </a:r>
          </a:p>
          <a:p>
            <a:pPr algn="l">
              <a:spcAft>
                <a:spcPts val="200"/>
              </a:spcAft>
            </a:pPr>
            <a:r>
              <a:rPr sz="950" b="0" i="0">
                <a:solidFill>
                  <a:srgbClr val="33414E"/>
                </a:solidFill>
                <a:latin typeface="Segoe UI"/>
              </a:rPr>
              <a:t>Chạy ba lần trên cùng digest:</a:t>
            </a:r>
          </a:p>
          <a:p>
            <a:pPr algn="l">
              <a:spcAft>
                <a:spcPts val="200"/>
              </a:spcAft>
            </a:pPr>
            <a:r>
              <a:rPr sz="950" b="0" i="0">
                <a:solidFill>
                  <a:srgbClr val="33414E"/>
                </a:solidFill>
                <a:latin typeface="Segoe UI"/>
              </a:rPr>
              <a:t>  pre-execution   digest ↔ plan</a:t>
            </a:r>
          </a:p>
          <a:p>
            <a:pPr algn="l">
              <a:spcAft>
                <a:spcPts val="200"/>
              </a:spcAft>
            </a:pPr>
            <a:r>
              <a:rPr sz="950" b="0" i="0">
                <a:solidFill>
                  <a:srgbClr val="33414E"/>
                </a:solidFill>
                <a:latin typeface="Segoe UI"/>
              </a:rPr>
              <a:t>  post-execution  plan ↔ evidence</a:t>
            </a:r>
          </a:p>
          <a:p>
            <a:pPr algn="l">
              <a:spcAft>
                <a:spcPts val="200"/>
              </a:spcAft>
            </a:pPr>
            <a:r>
              <a:rPr sz="950" b="0" i="0">
                <a:solidFill>
                  <a:srgbClr val="33414E"/>
                </a:solidFill>
                <a:latin typeface="Segoe UI"/>
              </a:rPr>
              <a:t>  pre-answer      evidence ↔ claims</a:t>
            </a:r>
          </a:p>
          <a:p>
            <a:pPr algn="l">
              <a:spcAft>
                <a:spcPts val="200"/>
              </a:spcAft>
            </a:pPr>
            <a:r>
              <a:rPr sz="950" b="0" i="0">
                <a:solidFill>
                  <a:srgbClr val="33414E"/>
                </a:solidFill>
                <a:latin typeface="Segoe UI"/>
              </a:rPr>
              <a:t/>
            </a:r>
          </a:p>
          <a:p>
            <a:pPr algn="l">
              <a:spcAft>
                <a:spcPts val="200"/>
              </a:spcAft>
            </a:pPr>
            <a:r>
              <a:rPr sz="950" b="0" i="0">
                <a:solidFill>
                  <a:srgbClr val="33414E"/>
                </a:solidFill>
                <a:latin typeface="Segoe UI"/>
              </a:rPr>
              <a:t>Bắt: country_dropped, date_range_narrowed,</a:t>
            </a:r>
          </a:p>
          <a:p>
            <a:pPr algn="l">
              <a:spcAft>
                <a:spcPts val="200"/>
              </a:spcAft>
            </a:pPr>
            <a:r>
              <a:rPr sz="950" b="0" i="0">
                <a:solidFill>
                  <a:srgbClr val="33414E"/>
                </a:solidFill>
                <a:latin typeface="Segoe UI"/>
              </a:rPr>
              <a:t>grouping_dropped, premise_contradicted…</a:t>
            </a:r>
          </a:p>
        </p:txBody>
      </p:sp>
      <p:sp>
        <p:nvSpPr>
          <p:cNvPr id="15" name="Rectangle 14"/>
          <p:cNvSpPr/>
          <p:nvPr/>
        </p:nvSpPr>
        <p:spPr>
          <a:xfrm>
            <a:off x="8101584" y="1481328"/>
            <a:ext cx="3566160" cy="28803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01584" y="1481328"/>
            <a:ext cx="3566160" cy="50292"/>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664208"/>
            <a:ext cx="3154680" cy="2560320"/>
          </a:xfrm>
          <a:prstGeom prst="rect">
            <a:avLst/>
          </a:prstGeom>
          <a:noFill/>
        </p:spPr>
        <p:txBody>
          <a:bodyPr wrap="square" lIns="0" rIns="0" tIns="0" bIns="0">
            <a:spAutoFit/>
          </a:bodyPr>
          <a:lstStyle/>
          <a:p>
            <a:pPr algn="l">
              <a:spcAft>
                <a:spcPts val="200"/>
              </a:spcAft>
            </a:pPr>
            <a:r>
              <a:rPr sz="1400" b="1" i="0">
                <a:solidFill>
                  <a:srgbClr val="141B24"/>
                </a:solidFill>
                <a:latin typeface="Segoe UI"/>
              </a:rPr>
              <a:t>VERIFIER</a:t>
            </a:r>
          </a:p>
          <a:p>
            <a:pPr algn="l">
              <a:spcAft>
                <a:spcPts val="700"/>
              </a:spcAft>
            </a:pPr>
            <a:r>
              <a:rPr sz="900" b="0" i="1">
                <a:solidFill>
                  <a:srgbClr val="6B7A8A"/>
                </a:solidFill>
                <a:latin typeface="Segoe UI"/>
              </a:rPr>
              <a:t>verifier.py</a:t>
            </a:r>
          </a:p>
          <a:p>
            <a:pPr algn="l">
              <a:spcAft>
                <a:spcPts val="800"/>
              </a:spcAft>
            </a:pPr>
            <a:r>
              <a:rPr sz="1100" b="1" i="0">
                <a:solidFill>
                  <a:srgbClr val="A6333F"/>
                </a:solidFill>
                <a:latin typeface="Segoe UI"/>
              </a:rPr>
              <a:t>Số hiển thị có evidence không?</a:t>
            </a:r>
          </a:p>
          <a:p>
            <a:pPr algn="l">
              <a:spcAft>
                <a:spcPts val="200"/>
              </a:spcAft>
            </a:pPr>
            <a:r>
              <a:rPr sz="950" b="0" i="0">
                <a:solidFill>
                  <a:srgbClr val="33414E"/>
                </a:solidFill>
                <a:latin typeface="Segoe UI"/>
              </a:rPr>
              <a:t>scan_numbers quét MỌI chữ số trong answer</a:t>
            </a:r>
          </a:p>
          <a:p>
            <a:pPr algn="l">
              <a:spcAft>
                <a:spcPts val="200"/>
              </a:spcAft>
            </a:pPr>
            <a:r>
              <a:rPr sz="950" b="0" i="0">
                <a:solidFill>
                  <a:srgbClr val="33414E"/>
                </a:solidFill>
                <a:latin typeface="Segoe UI"/>
              </a:rPr>
              <a:t>và đòi evidence hậu thuẫn.</a:t>
            </a:r>
          </a:p>
          <a:p>
            <a:pPr algn="l">
              <a:spcAft>
                <a:spcPts val="200"/>
              </a:spcAft>
            </a:pPr>
            <a:r>
              <a:rPr sz="950" b="0" i="0">
                <a:solidFill>
                  <a:srgbClr val="33414E"/>
                </a:solidFill>
                <a:latin typeface="Segoe UI"/>
              </a:rPr>
              <a:t/>
            </a:r>
          </a:p>
          <a:p>
            <a:pPr algn="l">
              <a:spcAft>
                <a:spcPts val="200"/>
              </a:spcAft>
            </a:pPr>
            <a:r>
              <a:rPr sz="950" b="0" i="0">
                <a:solidFill>
                  <a:srgbClr val="33414E"/>
                </a:solidFill>
                <a:latin typeface="Segoe UI"/>
              </a:rPr>
              <a:t>Citation phải trỏ evidence có thật.</a:t>
            </a:r>
          </a:p>
          <a:p>
            <a:pPr algn="l">
              <a:spcAft>
                <a:spcPts val="200"/>
              </a:spcAft>
            </a:pPr>
            <a:r>
              <a:rPr sz="950" b="0" i="0">
                <a:solidFill>
                  <a:srgbClr val="33414E"/>
                </a:solidFill>
                <a:latin typeface="Segoe UI"/>
              </a:rPr>
              <a:t/>
            </a:r>
          </a:p>
          <a:p>
            <a:pPr algn="l">
              <a:spcAft>
                <a:spcPts val="200"/>
              </a:spcAft>
            </a:pPr>
            <a:r>
              <a:rPr sz="950" b="0" i="0">
                <a:solidFill>
                  <a:srgbClr val="33414E"/>
                </a:solidFill>
                <a:latin typeface="Segoe UI"/>
              </a:rPr>
              <a:t>mutation detection giữ 1.0 — tụt là dấu hiệu</a:t>
            </a:r>
          </a:p>
          <a:p>
            <a:pPr algn="l">
              <a:spcAft>
                <a:spcPts val="200"/>
              </a:spcAft>
            </a:pPr>
            <a:r>
              <a:rPr sz="950" b="0" i="0">
                <a:solidFill>
                  <a:srgbClr val="33414E"/>
                </a:solidFill>
                <a:latin typeface="Segoe UI"/>
              </a:rPr>
              <a:t>bản vá đã TẮT một phép kiểm.</a:t>
            </a:r>
          </a:p>
        </p:txBody>
      </p:sp>
      <p:sp>
        <p:nvSpPr>
          <p:cNvPr id="18" name="Rectangle 17"/>
          <p:cNvSpPr/>
          <p:nvPr/>
        </p:nvSpPr>
        <p:spPr>
          <a:xfrm>
            <a:off x="566928" y="4572000"/>
            <a:ext cx="11057839" cy="146304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718304"/>
            <a:ext cx="5486400" cy="1188720"/>
          </a:xfrm>
          <a:prstGeom prst="rect">
            <a:avLst/>
          </a:prstGeom>
          <a:noFill/>
        </p:spPr>
        <p:txBody>
          <a:bodyPr wrap="square" lIns="0" rIns="0" tIns="0" bIns="0">
            <a:spAutoFit/>
          </a:bodyPr>
          <a:lstStyle/>
          <a:p>
            <a:pPr algn="l">
              <a:spcAft>
                <a:spcPts val="600"/>
              </a:spcAft>
            </a:pPr>
            <a:r>
              <a:rPr sz="1200" b="1" i="0">
                <a:solidFill>
                  <a:srgbClr val="6FC7D1"/>
                </a:solidFill>
                <a:latin typeface="Segoe UI"/>
              </a:rPr>
              <a:t>Khe hở mà A22 sinh ra để lấp</a:t>
            </a:r>
          </a:p>
          <a:p>
            <a:pPr algn="l">
              <a:spcAft>
                <a:spcPts val="300"/>
              </a:spcAft>
            </a:pPr>
            <a:r>
              <a:rPr sz="1050" b="0" i="0">
                <a:solidFill>
                  <a:srgbClr val="C8D6E2"/>
                </a:solidFill>
                <a:latin typeface="Segoe UI"/>
              </a:rPr>
              <a:t>TC29 / TC39: gate cho phép ✓ · verifier pass ✓</a:t>
            </a:r>
          </a:p>
          <a:p>
            <a:pPr algn="l">
              <a:spcAft>
                <a:spcPts val="300"/>
              </a:spcAft>
            </a:pPr>
            <a:r>
              <a:rPr sz="1050" b="0" i="0">
                <a:solidFill>
                  <a:srgbClr val="C8D6E2"/>
                </a:solidFill>
                <a:latin typeface="Segoe UI"/>
              </a:rPr>
              <a:t>→ nhưng hệ trả “474 listing” cho một câu hỏi về MỨC GIẢM GIÁ.</a:t>
            </a:r>
          </a:p>
          <a:p>
            <a:pPr algn="l">
              <a:spcAft>
                <a:spcPts val="300"/>
              </a:spcAft>
            </a:pPr>
            <a:r>
              <a:rPr sz="1050" b="0" i="0">
                <a:solidFill>
                  <a:srgbClr val="C8D6E2"/>
                </a:solidFill>
                <a:latin typeface="Segoe UI"/>
              </a:rPr>
              <a:t>Con số có evidence thật. Nó chỉ là đáp án của một câu hỏi khác.</a:t>
            </a:r>
          </a:p>
        </p:txBody>
      </p:sp>
      <p:sp>
        <p:nvSpPr>
          <p:cNvPr id="20" name="TextBox 19"/>
          <p:cNvSpPr txBox="1"/>
          <p:nvPr/>
        </p:nvSpPr>
        <p:spPr>
          <a:xfrm>
            <a:off x="6675120" y="4718304"/>
            <a:ext cx="4937760" cy="1188720"/>
          </a:xfrm>
          <a:prstGeom prst="rect">
            <a:avLst/>
          </a:prstGeom>
          <a:noFill/>
        </p:spPr>
        <p:txBody>
          <a:bodyPr wrap="square" lIns="0" rIns="0" tIns="0" bIns="0">
            <a:spAutoFit/>
          </a:bodyPr>
          <a:lstStyle/>
          <a:p>
            <a:pPr algn="l">
              <a:spcAft>
                <a:spcPts val="600"/>
              </a:spcAft>
            </a:pPr>
            <a:r>
              <a:rPr sz="1200" b="1" i="0">
                <a:solidFill>
                  <a:srgbClr val="6FC7D1"/>
                </a:solidFill>
                <a:latin typeface="Segoe UI"/>
              </a:rPr>
              <a:t>Vì sao ba lớp phải ĐỘC LẬP</a:t>
            </a:r>
          </a:p>
          <a:p>
            <a:pPr algn="l">
              <a:spcAft>
                <a:spcPts val="300"/>
              </a:spcAft>
            </a:pPr>
            <a:r>
              <a:rPr sz="1050" b="0" i="0">
                <a:solidFill>
                  <a:srgbClr val="C8D6E2"/>
                </a:solidFill>
                <a:latin typeface="Segoe UI"/>
              </a:rPr>
              <a:t>Ba lớp dùng chung một phép kiểm thì chỉ là một lớp mặc ba áo.</a:t>
            </a:r>
          </a:p>
          <a:p>
            <a:pPr algn="l">
              <a:spcAft>
                <a:spcPts val="300"/>
              </a:spcAft>
            </a:pPr>
            <a:r>
              <a:rPr sz="1050" b="0" i="0">
                <a:solidFill>
                  <a:srgbClr val="C8D6E2"/>
                </a:solidFill>
                <a:latin typeface="Segoe UI"/>
              </a:rPr>
              <a:t>Gate đọc request. A22 đối chiếu request ↔ plan ↔ evidence ↔ answer.</a:t>
            </a:r>
          </a:p>
          <a:p>
            <a:pPr algn="l">
              <a:spcAft>
                <a:spcPts val="300"/>
              </a:spcAft>
            </a:pPr>
            <a:r>
              <a:rPr sz="1050" b="0" i="0">
                <a:solidFill>
                  <a:srgbClr val="C8D6E2"/>
                </a:solidFill>
                <a:latin typeface="Segoe UI"/>
              </a:rPr>
              <a:t>Verifier chỉ nhìn chữ số trên màn hình. Không lớp nào tin lớp kia.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Bảy bất biến — vi phạm là hỏng hệ thống, không phải hỏng một câu</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§1.2 và §3 của spec. Đây là thứ được bảo vệ bằng CI, không bằng quy ước</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06</a:t>
            </a:r>
          </a:p>
        </p:txBody>
      </p:sp>
      <p:sp>
        <p:nvSpPr>
          <p:cNvPr id="9" name="Rectangle 8"/>
          <p:cNvSpPr/>
          <p:nvPr/>
        </p:nvSpPr>
        <p:spPr>
          <a:xfrm>
            <a:off x="566928" y="1481328"/>
            <a:ext cx="5394960" cy="7772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81328"/>
            <a:ext cx="41148" cy="77724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572768"/>
            <a:ext cx="457200" cy="548640"/>
          </a:xfrm>
          <a:prstGeom prst="rect">
            <a:avLst/>
          </a:prstGeom>
          <a:noFill/>
        </p:spPr>
        <p:txBody>
          <a:bodyPr wrap="square" lIns="0" rIns="0" tIns="0" bIns="0">
            <a:spAutoFit/>
          </a:bodyPr>
          <a:lstStyle/>
          <a:p>
            <a:pPr algn="l">
              <a:spcAft>
                <a:spcPts val="0"/>
              </a:spcAft>
            </a:pPr>
            <a:r>
              <a:rPr sz="1500" b="1" i="0">
                <a:solidFill>
                  <a:srgbClr val="1E4D8C"/>
                </a:solidFill>
                <a:latin typeface="Segoe UI"/>
              </a:rPr>
              <a:t>01</a:t>
            </a:r>
          </a:p>
        </p:txBody>
      </p:sp>
      <p:sp>
        <p:nvSpPr>
          <p:cNvPr id="12" name="TextBox 11"/>
          <p:cNvSpPr txBox="1"/>
          <p:nvPr/>
        </p:nvSpPr>
        <p:spPr>
          <a:xfrm>
            <a:off x="1225296" y="1572768"/>
            <a:ext cx="4526280" cy="640080"/>
          </a:xfrm>
          <a:prstGeom prst="rect">
            <a:avLst/>
          </a:prstGeom>
          <a:noFill/>
        </p:spPr>
        <p:txBody>
          <a:bodyPr wrap="square" lIns="0" rIns="0" tIns="0" bIns="0">
            <a:spAutoFit/>
          </a:bodyPr>
          <a:lstStyle/>
          <a:p>
            <a:pPr algn="l">
              <a:spcAft>
                <a:spcPts val="300"/>
              </a:spcAft>
            </a:pPr>
            <a:r>
              <a:rPr sz="1100" b="1" i="0">
                <a:solidFill>
                  <a:srgbClr val="141B24"/>
                </a:solidFill>
                <a:latin typeface="Segoe UI"/>
              </a:rPr>
              <a:t>LLM không bao giờ tính số, không bao giờ quyết định gate</a:t>
            </a:r>
          </a:p>
          <a:p>
            <a:pPr algn="l">
              <a:spcAft>
                <a:spcPts val="0"/>
              </a:spcAft>
            </a:pPr>
            <a:r>
              <a:rPr sz="950" b="0" i="0">
                <a:solidFill>
                  <a:srgbClr val="33414E"/>
                </a:solidFill>
                <a:latin typeface="Segoe UI"/>
              </a:rPr>
              <a:t>LLM chỉ: đoán intent, sinh plan IR, sinh search query, trích span, diễn giải câu chữ. Mọi output phải qua validator deterministic trước khi ảnh hưởng bất cứ gì.</a:t>
            </a:r>
          </a:p>
        </p:txBody>
      </p:sp>
      <p:sp>
        <p:nvSpPr>
          <p:cNvPr id="13" name="Rectangle 12"/>
          <p:cNvSpPr/>
          <p:nvPr/>
        </p:nvSpPr>
        <p:spPr>
          <a:xfrm>
            <a:off x="6199632" y="1481328"/>
            <a:ext cx="5394960" cy="7772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481328"/>
            <a:ext cx="41148" cy="77724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572768"/>
            <a:ext cx="457200" cy="548640"/>
          </a:xfrm>
          <a:prstGeom prst="rect">
            <a:avLst/>
          </a:prstGeom>
          <a:noFill/>
        </p:spPr>
        <p:txBody>
          <a:bodyPr wrap="square" lIns="0" rIns="0" tIns="0" bIns="0">
            <a:spAutoFit/>
          </a:bodyPr>
          <a:lstStyle/>
          <a:p>
            <a:pPr algn="l">
              <a:spcAft>
                <a:spcPts val="0"/>
              </a:spcAft>
            </a:pPr>
            <a:r>
              <a:rPr sz="1500" b="1" i="0">
                <a:solidFill>
                  <a:srgbClr val="1E4D8C"/>
                </a:solidFill>
                <a:latin typeface="Segoe UI"/>
              </a:rPr>
              <a:t>02</a:t>
            </a:r>
          </a:p>
        </p:txBody>
      </p:sp>
      <p:sp>
        <p:nvSpPr>
          <p:cNvPr id="16" name="TextBox 15"/>
          <p:cNvSpPr txBox="1"/>
          <p:nvPr/>
        </p:nvSpPr>
        <p:spPr>
          <a:xfrm>
            <a:off x="6858000" y="1572768"/>
            <a:ext cx="4526280" cy="640080"/>
          </a:xfrm>
          <a:prstGeom prst="rect">
            <a:avLst/>
          </a:prstGeom>
          <a:noFill/>
        </p:spPr>
        <p:txBody>
          <a:bodyPr wrap="square" lIns="0" rIns="0" tIns="0" bIns="0">
            <a:spAutoFit/>
          </a:bodyPr>
          <a:lstStyle/>
          <a:p>
            <a:pPr algn="l">
              <a:spcAft>
                <a:spcPts val="300"/>
              </a:spcAft>
            </a:pPr>
            <a:r>
              <a:rPr sz="1100" b="1" i="0">
                <a:solidFill>
                  <a:srgbClr val="141B24"/>
                </a:solidFill>
                <a:latin typeface="Segoe UI"/>
              </a:rPr>
              <a:t>source_tier khoá btc_dataset</a:t>
            </a:r>
          </a:p>
          <a:p>
            <a:pPr algn="l">
              <a:spcAft>
                <a:spcPts val="0"/>
              </a:spcAft>
            </a:pPr>
            <a:r>
              <a:rPr sz="950" b="0" i="0">
                <a:solidFill>
                  <a:srgbClr val="33414E"/>
                </a:solidFill>
                <a:latin typeface="Segoe UI"/>
              </a:rPr>
              <a:t>External data không bao giờ đi qua analytical compiler hoặc DuckDB.</a:t>
            </a:r>
          </a:p>
        </p:txBody>
      </p:sp>
      <p:sp>
        <p:nvSpPr>
          <p:cNvPr id="17" name="Rectangle 16"/>
          <p:cNvSpPr/>
          <p:nvPr/>
        </p:nvSpPr>
        <p:spPr>
          <a:xfrm>
            <a:off x="566928" y="2377440"/>
            <a:ext cx="5394960" cy="7772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377440"/>
            <a:ext cx="41148" cy="7772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468880"/>
            <a:ext cx="457200" cy="548640"/>
          </a:xfrm>
          <a:prstGeom prst="rect">
            <a:avLst/>
          </a:prstGeom>
          <a:noFill/>
        </p:spPr>
        <p:txBody>
          <a:bodyPr wrap="square" lIns="0" rIns="0" tIns="0" bIns="0">
            <a:spAutoFit/>
          </a:bodyPr>
          <a:lstStyle/>
          <a:p>
            <a:pPr algn="l">
              <a:spcAft>
                <a:spcPts val="0"/>
              </a:spcAft>
            </a:pPr>
            <a:r>
              <a:rPr sz="1500" b="1" i="0">
                <a:solidFill>
                  <a:srgbClr val="0E7C86"/>
                </a:solidFill>
                <a:latin typeface="Segoe UI"/>
              </a:rPr>
              <a:t>03</a:t>
            </a:r>
          </a:p>
        </p:txBody>
      </p:sp>
      <p:sp>
        <p:nvSpPr>
          <p:cNvPr id="20" name="TextBox 19"/>
          <p:cNvSpPr txBox="1"/>
          <p:nvPr/>
        </p:nvSpPr>
        <p:spPr>
          <a:xfrm>
            <a:off x="1225296" y="2468880"/>
            <a:ext cx="4526280" cy="640080"/>
          </a:xfrm>
          <a:prstGeom prst="rect">
            <a:avLst/>
          </a:prstGeom>
          <a:noFill/>
        </p:spPr>
        <p:txBody>
          <a:bodyPr wrap="square" lIns="0" rIns="0" tIns="0" bIns="0">
            <a:spAutoFit/>
          </a:bodyPr>
          <a:lstStyle/>
          <a:p>
            <a:pPr algn="l">
              <a:spcAft>
                <a:spcPts val="300"/>
              </a:spcAft>
            </a:pPr>
            <a:r>
              <a:rPr sz="1100" b="1" i="0">
                <a:solidFill>
                  <a:srgbClr val="141B24"/>
                </a:solidFill>
                <a:latin typeface="Segoe UI"/>
              </a:rPr>
              <a:t>External evidence luôn context_only</a:t>
            </a:r>
          </a:p>
          <a:p>
            <a:pPr algn="l">
              <a:spcAft>
                <a:spcPts val="0"/>
              </a:spcAft>
            </a:pPr>
            <a:r>
              <a:rPr sz="950" b="0" i="0">
                <a:solidFill>
                  <a:srgbClr val="33414E"/>
                </a:solidFill>
                <a:latin typeface="Segoe UI"/>
              </a:rPr>
              <a:t>source_tier=external, mapping_status=needs_review. Cấm tính toán hoặc suy nhân quả xuyên tier (A20-TIER).</a:t>
            </a:r>
          </a:p>
        </p:txBody>
      </p:sp>
      <p:sp>
        <p:nvSpPr>
          <p:cNvPr id="21" name="Rectangle 20"/>
          <p:cNvSpPr/>
          <p:nvPr/>
        </p:nvSpPr>
        <p:spPr>
          <a:xfrm>
            <a:off x="6199632" y="2377440"/>
            <a:ext cx="5394960" cy="7772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2377440"/>
            <a:ext cx="41148" cy="7772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2468880"/>
            <a:ext cx="457200" cy="548640"/>
          </a:xfrm>
          <a:prstGeom prst="rect">
            <a:avLst/>
          </a:prstGeom>
          <a:noFill/>
        </p:spPr>
        <p:txBody>
          <a:bodyPr wrap="square" lIns="0" rIns="0" tIns="0" bIns="0">
            <a:spAutoFit/>
          </a:bodyPr>
          <a:lstStyle/>
          <a:p>
            <a:pPr algn="l">
              <a:spcAft>
                <a:spcPts val="0"/>
              </a:spcAft>
            </a:pPr>
            <a:r>
              <a:rPr sz="1500" b="1" i="0">
                <a:solidFill>
                  <a:srgbClr val="0E7C86"/>
                </a:solidFill>
                <a:latin typeface="Segoe UI"/>
              </a:rPr>
              <a:t>04</a:t>
            </a:r>
          </a:p>
        </p:txBody>
      </p:sp>
      <p:sp>
        <p:nvSpPr>
          <p:cNvPr id="24" name="TextBox 23"/>
          <p:cNvSpPr txBox="1"/>
          <p:nvPr/>
        </p:nvSpPr>
        <p:spPr>
          <a:xfrm>
            <a:off x="6858000" y="2468880"/>
            <a:ext cx="4526280" cy="640080"/>
          </a:xfrm>
          <a:prstGeom prst="rect">
            <a:avLst/>
          </a:prstGeom>
          <a:noFill/>
        </p:spPr>
        <p:txBody>
          <a:bodyPr wrap="square" lIns="0" rIns="0" tIns="0" bIns="0">
            <a:spAutoFit/>
          </a:bodyPr>
          <a:lstStyle/>
          <a:p>
            <a:pPr algn="l">
              <a:spcAft>
                <a:spcPts val="300"/>
              </a:spcAft>
            </a:pPr>
            <a:r>
              <a:rPr sz="1100" b="1" i="0">
                <a:solidFill>
                  <a:srgbClr val="141B24"/>
                </a:solidFill>
                <a:latin typeface="Segoe UI"/>
              </a:rPr>
              <a:t>Evidence object bất biến</a:t>
            </a:r>
          </a:p>
          <a:p>
            <a:pPr algn="l">
              <a:spcAft>
                <a:spcPts val="0"/>
              </a:spcAft>
            </a:pPr>
            <a:r>
              <a:rPr sz="950" b="0" i="0">
                <a:solidFill>
                  <a:srgbClr val="33414E"/>
                </a:solidFill>
                <a:latin typeface="Segoe UI"/>
              </a:rPr>
              <a:t>ContextBundle chỉ chứa bản copy đã guard.</a:t>
            </a:r>
          </a:p>
        </p:txBody>
      </p:sp>
      <p:sp>
        <p:nvSpPr>
          <p:cNvPr id="25" name="Rectangle 24"/>
          <p:cNvSpPr/>
          <p:nvPr/>
        </p:nvSpPr>
        <p:spPr>
          <a:xfrm>
            <a:off x="566928" y="3273552"/>
            <a:ext cx="5394960" cy="7772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3273552"/>
            <a:ext cx="41148" cy="77724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3364992"/>
            <a:ext cx="457200" cy="548640"/>
          </a:xfrm>
          <a:prstGeom prst="rect">
            <a:avLst/>
          </a:prstGeom>
          <a:noFill/>
        </p:spPr>
        <p:txBody>
          <a:bodyPr wrap="square" lIns="0" rIns="0" tIns="0" bIns="0">
            <a:spAutoFit/>
          </a:bodyPr>
          <a:lstStyle/>
          <a:p>
            <a:pPr algn="l">
              <a:spcAft>
                <a:spcPts val="0"/>
              </a:spcAft>
            </a:pPr>
            <a:r>
              <a:rPr sz="1500" b="1" i="0">
                <a:solidFill>
                  <a:srgbClr val="C96F1E"/>
                </a:solidFill>
                <a:latin typeface="Segoe UI"/>
              </a:rPr>
              <a:t>05</a:t>
            </a:r>
          </a:p>
        </p:txBody>
      </p:sp>
      <p:sp>
        <p:nvSpPr>
          <p:cNvPr id="28" name="TextBox 27"/>
          <p:cNvSpPr txBox="1"/>
          <p:nvPr/>
        </p:nvSpPr>
        <p:spPr>
          <a:xfrm>
            <a:off x="1225296" y="3364992"/>
            <a:ext cx="4526280" cy="640080"/>
          </a:xfrm>
          <a:prstGeom prst="rect">
            <a:avLst/>
          </a:prstGeom>
          <a:noFill/>
        </p:spPr>
        <p:txBody>
          <a:bodyPr wrap="square" lIns="0" rIns="0" tIns="0" bIns="0">
            <a:spAutoFit/>
          </a:bodyPr>
          <a:lstStyle/>
          <a:p>
            <a:pPr algn="l">
              <a:spcAft>
                <a:spcPts val="300"/>
              </a:spcAft>
            </a:pPr>
            <a:r>
              <a:rPr sz="1100" b="1" i="0">
                <a:solidFill>
                  <a:srgbClr val="141B24"/>
                </a:solidFill>
                <a:latin typeface="Segoe UI"/>
              </a:rPr>
              <a:t>Không mở raw-SQL path ở runtime</a:t>
            </a:r>
          </a:p>
          <a:p>
            <a:pPr algn="l">
              <a:spcAft>
                <a:spcPts val="0"/>
              </a:spcAft>
            </a:pPr>
            <a:r>
              <a:rPr sz="950" b="0" i="0">
                <a:solidFill>
                  <a:srgbClr val="33414E"/>
                </a:solidFill>
                <a:latin typeface="Segoe UI"/>
              </a:rPr>
              <a:t>Dưới bất kỳ hình thức nào.</a:t>
            </a:r>
          </a:p>
        </p:txBody>
      </p:sp>
      <p:sp>
        <p:nvSpPr>
          <p:cNvPr id="29" name="Rectangle 28"/>
          <p:cNvSpPr/>
          <p:nvPr/>
        </p:nvSpPr>
        <p:spPr>
          <a:xfrm>
            <a:off x="6199632" y="3273552"/>
            <a:ext cx="5394960" cy="7772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9632" y="3273552"/>
            <a:ext cx="41148" cy="77724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82512" y="3364992"/>
            <a:ext cx="457200" cy="548640"/>
          </a:xfrm>
          <a:prstGeom prst="rect">
            <a:avLst/>
          </a:prstGeom>
          <a:noFill/>
        </p:spPr>
        <p:txBody>
          <a:bodyPr wrap="square" lIns="0" rIns="0" tIns="0" bIns="0">
            <a:spAutoFit/>
          </a:bodyPr>
          <a:lstStyle/>
          <a:p>
            <a:pPr algn="l">
              <a:spcAft>
                <a:spcPts val="0"/>
              </a:spcAft>
            </a:pPr>
            <a:r>
              <a:rPr sz="1500" b="1" i="0">
                <a:solidFill>
                  <a:srgbClr val="C96F1E"/>
                </a:solidFill>
                <a:latin typeface="Segoe UI"/>
              </a:rPr>
              <a:t>06</a:t>
            </a:r>
          </a:p>
        </p:txBody>
      </p:sp>
      <p:sp>
        <p:nvSpPr>
          <p:cNvPr id="32" name="TextBox 31"/>
          <p:cNvSpPr txBox="1"/>
          <p:nvPr/>
        </p:nvSpPr>
        <p:spPr>
          <a:xfrm>
            <a:off x="6858000" y="3364992"/>
            <a:ext cx="4526280" cy="640080"/>
          </a:xfrm>
          <a:prstGeom prst="rect">
            <a:avLst/>
          </a:prstGeom>
          <a:noFill/>
        </p:spPr>
        <p:txBody>
          <a:bodyPr wrap="square" lIns="0" rIns="0" tIns="0" bIns="0">
            <a:spAutoFit/>
          </a:bodyPr>
          <a:lstStyle/>
          <a:p>
            <a:pPr algn="l">
              <a:spcAft>
                <a:spcPts val="300"/>
              </a:spcAft>
            </a:pPr>
            <a:r>
              <a:rPr sz="1100" b="1" i="0">
                <a:solidFill>
                  <a:srgbClr val="141B24"/>
                </a:solidFill>
                <a:latin typeface="Segoe UI"/>
              </a:rPr>
              <a:t>Fail-closed</a:t>
            </a:r>
          </a:p>
          <a:p>
            <a:pPr algn="l">
              <a:spcAft>
                <a:spcPts val="0"/>
              </a:spcAft>
            </a:pPr>
            <a:r>
              <a:rPr sz="950" b="0" i="0">
                <a:solidFill>
                  <a:srgbClr val="33414E"/>
                </a:solidFill>
                <a:latin typeface="Segoe UI"/>
              </a:rPr>
              <a:t>Không chắc thì clarify hoặc abstain. clarify KHÔNG phải lỗi.</a:t>
            </a:r>
          </a:p>
        </p:txBody>
      </p:sp>
      <p:sp>
        <p:nvSpPr>
          <p:cNvPr id="33" name="Rectangle 32"/>
          <p:cNvSpPr/>
          <p:nvPr/>
        </p:nvSpPr>
        <p:spPr>
          <a:xfrm>
            <a:off x="566928" y="4169664"/>
            <a:ext cx="10881360" cy="7772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169664"/>
            <a:ext cx="41148" cy="777240"/>
          </a:xfrm>
          <a:prstGeom prst="rect">
            <a:avLst/>
          </a:prstGeom>
          <a:solidFill>
            <a:srgbClr val="6B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4261104"/>
            <a:ext cx="457200" cy="548640"/>
          </a:xfrm>
          <a:prstGeom prst="rect">
            <a:avLst/>
          </a:prstGeom>
          <a:noFill/>
        </p:spPr>
        <p:txBody>
          <a:bodyPr wrap="square" lIns="0" rIns="0" tIns="0" bIns="0">
            <a:spAutoFit/>
          </a:bodyPr>
          <a:lstStyle/>
          <a:p>
            <a:pPr algn="l">
              <a:spcAft>
                <a:spcPts val="0"/>
              </a:spcAft>
            </a:pPr>
            <a:r>
              <a:rPr sz="1500" b="1" i="0">
                <a:solidFill>
                  <a:srgbClr val="6B468F"/>
                </a:solidFill>
                <a:latin typeface="Segoe UI"/>
              </a:rPr>
              <a:t>07</a:t>
            </a:r>
          </a:p>
        </p:txBody>
      </p:sp>
      <p:sp>
        <p:nvSpPr>
          <p:cNvPr id="36" name="TextBox 35"/>
          <p:cNvSpPr txBox="1"/>
          <p:nvPr/>
        </p:nvSpPr>
        <p:spPr>
          <a:xfrm>
            <a:off x="1225296" y="4261104"/>
            <a:ext cx="10012680" cy="640080"/>
          </a:xfrm>
          <a:prstGeom prst="rect">
            <a:avLst/>
          </a:prstGeom>
          <a:noFill/>
        </p:spPr>
        <p:txBody>
          <a:bodyPr wrap="square" lIns="0" rIns="0" tIns="0" bIns="0">
            <a:spAutoFit/>
          </a:bodyPr>
          <a:lstStyle/>
          <a:p>
            <a:pPr algn="l">
              <a:spcAft>
                <a:spcPts val="300"/>
              </a:spcAft>
            </a:pPr>
            <a:r>
              <a:rPr sz="1100" b="1" i="0">
                <a:solidFill>
                  <a:srgbClr val="141B24"/>
                </a:solidFill>
                <a:latin typeface="Segoe UI"/>
              </a:rPr>
              <a:t>Schema đổi phải additive / backward-compatible</a:t>
            </a:r>
          </a:p>
          <a:p>
            <a:pPr algn="l">
              <a:spcAft>
                <a:spcPts val="0"/>
              </a:spcAft>
            </a:pPr>
            <a:r>
              <a:rPr sz="950" b="0" i="0">
                <a:solidFill>
                  <a:srgbClr val="33414E"/>
                </a:solidFill>
                <a:latin typeface="Segoe UI"/>
              </a:rPr>
              <a:t>Fixture cũ không được hỏng âm thầm.</a:t>
            </a:r>
          </a:p>
        </p:txBody>
      </p:sp>
      <p:sp>
        <p:nvSpPr>
          <p:cNvPr id="37" name="Rectangle 36"/>
          <p:cNvSpPr/>
          <p:nvPr/>
        </p:nvSpPr>
        <p:spPr>
          <a:xfrm>
            <a:off x="566928" y="5532120"/>
            <a:ext cx="11057839" cy="548640"/>
          </a:xfrm>
          <a:prstGeom prst="rect">
            <a:avLst/>
          </a:prstGeom>
          <a:solidFill>
            <a:srgbClr val="FD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5528" y="5641848"/>
            <a:ext cx="10600639" cy="365760"/>
          </a:xfrm>
          <a:prstGeom prst="rect">
            <a:avLst/>
          </a:prstGeom>
          <a:noFill/>
        </p:spPr>
        <p:txBody>
          <a:bodyPr wrap="square" lIns="0" rIns="0" tIns="0" bIns="0">
            <a:spAutoFit/>
          </a:bodyPr>
          <a:lstStyle/>
          <a:p>
            <a:pPr algn="l">
              <a:spcAft>
                <a:spcPts val="0"/>
              </a:spcAft>
            </a:pPr>
            <a:r>
              <a:rPr sz="1050" b="1" i="0">
                <a:solidFill>
                  <a:srgbClr val="A6333F"/>
                </a:solidFill>
                <a:latin typeface="Segoe UI"/>
              </a:rPr>
              <a:t>Cạm bẫy đã cắn người thật:  “nan is None” trả về False — 63 listing bị void điểm được gán nhãn “Steady”, tức “không chấm được” hiện ra thành “bình thường”.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Semantic catalog — tầng khoá LLM ra khỏi mọi quyết định vật lý</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CHART 1/4 · 86 semantic object, đo tại HEAD bằng gladiators.domain.catalog</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07</a:t>
            </a:r>
          </a:p>
        </p:txBody>
      </p:sp>
      <p:graphicFrame>
        <p:nvGraphicFramePr>
          <p:cNvPr id="9" name="Chart 8"/>
          <p:cNvGraphicFramePr>
            <a:graphicFrameLocks noGrp="1"/>
          </p:cNvGraphicFramePr>
          <p:nvPr/>
        </p:nvGraphicFramePr>
        <p:xfrm>
          <a:off x="566928" y="1600200"/>
          <a:ext cx="4572000" cy="3977639"/>
        </p:xfrm>
        <a:graphic>
          <a:graphicData uri="http://schemas.openxmlformats.org/drawingml/2006/chart">
            <c:chart xmlns:c="http://schemas.openxmlformats.org/drawingml/2006/chart" r:id="rId2"/>
          </a:graphicData>
        </a:graphic>
      </p:graphicFrame>
      <p:sp>
        <p:nvSpPr>
          <p:cNvPr id="10" name="TextBox 9"/>
          <p:cNvSpPr txBox="1"/>
          <p:nvPr/>
        </p:nvSpPr>
        <p:spPr>
          <a:xfrm>
            <a:off x="2212848" y="2999232"/>
            <a:ext cx="1097280" cy="640080"/>
          </a:xfrm>
          <a:prstGeom prst="rect">
            <a:avLst/>
          </a:prstGeom>
          <a:noFill/>
        </p:spPr>
        <p:txBody>
          <a:bodyPr wrap="square" lIns="0" rIns="0" tIns="0" bIns="0">
            <a:spAutoFit/>
          </a:bodyPr>
          <a:lstStyle/>
          <a:p>
            <a:pPr algn="ctr">
              <a:spcAft>
                <a:spcPts val="0"/>
              </a:spcAft>
            </a:pPr>
            <a:r>
              <a:rPr sz="2600" b="1" i="0">
                <a:solidFill>
                  <a:srgbClr val="141B24"/>
                </a:solidFill>
                <a:latin typeface="Segoe UI"/>
              </a:rPr>
              <a:t>86</a:t>
            </a:r>
          </a:p>
          <a:p>
            <a:pPr algn="ctr">
              <a:spcAft>
                <a:spcPts val="0"/>
              </a:spcAft>
            </a:pPr>
            <a:r>
              <a:rPr sz="950" b="0" i="0">
                <a:solidFill>
                  <a:srgbClr val="6B7A8A"/>
                </a:solidFill>
                <a:latin typeface="Segoe UI"/>
              </a:rPr>
              <a:t>object</a:t>
            </a:r>
          </a:p>
        </p:txBody>
      </p:sp>
      <p:sp>
        <p:nvSpPr>
          <p:cNvPr id="11" name="TextBox 10"/>
          <p:cNvSpPr txBox="1"/>
          <p:nvPr/>
        </p:nvSpPr>
        <p:spPr>
          <a:xfrm>
            <a:off x="5440680" y="1691640"/>
            <a:ext cx="6217920" cy="4206240"/>
          </a:xfrm>
          <a:prstGeom prst="rect">
            <a:avLst/>
          </a:prstGeom>
          <a:noFill/>
        </p:spPr>
        <p:txBody>
          <a:bodyPr wrap="square" lIns="0" rIns="0" tIns="0" bIns="0">
            <a:spAutoFit/>
          </a:bodyPr>
          <a:lstStyle/>
          <a:p>
            <a:pPr>
              <a:spcAft>
                <a:spcPts val="1200"/>
              </a:spcAft>
            </a:pPr>
            <a:r>
              <a:rPr sz="1200">
                <a:solidFill>
                  <a:srgbClr val="0E7C86"/>
                </a:solidFill>
                <a:latin typeface="Segoe UI"/>
              </a:rPr>
              <a:t>▪  </a:t>
            </a:r>
            <a:r>
              <a:rPr sz="1200" b="1">
                <a:solidFill>
                  <a:srgbClr val="141B24"/>
                </a:solidFill>
                <a:latin typeface="Segoe UI"/>
              </a:rPr>
              <a:t>BindingKind trả lời “giá trị lấy từ đâu”:</a:t>
            </a:r>
            <a:r>
              <a:rPr sz="1200">
                <a:solidFill>
                  <a:srgbClr val="33414E"/>
                </a:solidFill>
                <a:latin typeface="Segoe UI"/>
              </a:rPr>
              <a:t> column · expression · aggregate · tool_computed · context_only · unavailable.</a:t>
            </a:r>
          </a:p>
          <a:p>
            <a:pPr>
              <a:spcAft>
                <a:spcPts val="1200"/>
              </a:spcAft>
            </a:pPr>
            <a:r>
              <a:rPr sz="1200">
                <a:solidFill>
                  <a:srgbClr val="0E7C86"/>
                </a:solidFill>
                <a:latin typeface="Segoe UI"/>
              </a:rPr>
              <a:t>▪  </a:t>
            </a:r>
            <a:r>
              <a:rPr sz="1200" b="1">
                <a:solidFill>
                  <a:srgbClr val="141B24"/>
                </a:solidFill>
                <a:latin typeface="Segoe UI"/>
              </a:rPr>
              <a:t>CI fail khi khai sai:</a:t>
            </a:r>
            <a:r>
              <a:rPr sz="1200">
                <a:solidFill>
                  <a:srgbClr val="33414E"/>
                </a:solidFill>
                <a:latin typeface="Segoe UI"/>
              </a:rPr>
              <a:t> binding=column mà cột không tồn tại, expression thiếu handler, tool_computed trỏ handler không có thật, hoặc context_only lọt vào SQL plan.</a:t>
            </a:r>
          </a:p>
          <a:p>
            <a:pPr>
              <a:spcAft>
                <a:spcPts val="1200"/>
              </a:spcAft>
            </a:pPr>
            <a:r>
              <a:rPr sz="1200">
                <a:solidFill>
                  <a:srgbClr val="0E7C86"/>
                </a:solidFill>
                <a:latin typeface="Segoe UI"/>
              </a:rPr>
              <a:t>▪  </a:t>
            </a:r>
            <a:r>
              <a:rPr sz="1200" b="1">
                <a:solidFill>
                  <a:srgbClr val="141B24"/>
                </a:solidFill>
                <a:latin typeface="Segoe UI"/>
              </a:rPr>
              <a:t>Mỗi object exposed bắt buộc có alias tiếng Việt</a:t>
            </a:r>
            <a:r>
              <a:rPr sz="1200">
                <a:solidFill>
                  <a:srgbClr val="33414E"/>
                </a:solidFill>
                <a:latin typeface="Segoe UI"/>
              </a:rPr>
              <a:t> và ít nhất một alias Anh hoặc Bahasa. AliasIndex là nguồn NL binding duy nhất, có index_hash đi vào cache version.</a:t>
            </a:r>
          </a:p>
          <a:p>
            <a:pPr>
              <a:spcAft>
                <a:spcPts val="1200"/>
              </a:spcAft>
            </a:pPr>
            <a:r>
              <a:rPr sz="1200">
                <a:solidFill>
                  <a:srgbClr val="0E7C86"/>
                </a:solidFill>
                <a:latin typeface="Segoe UI"/>
              </a:rPr>
              <a:t>▪  </a:t>
            </a:r>
            <a:r>
              <a:rPr sz="1200" b="1">
                <a:solidFill>
                  <a:srgbClr val="141B24"/>
                </a:solidFill>
                <a:latin typeface="Segoe UI"/>
              </a:rPr>
              <a:t>Cùng surface trỏ nhiều ref ⇒ trả ambiguity.</a:t>
            </a:r>
            <a:r>
              <a:rPr sz="1200">
                <a:solidFill>
                  <a:srgbClr val="33414E"/>
                </a:solidFill>
                <a:latin typeface="Segoe UI"/>
              </a:rPr>
              <a:t> Tuyệt đối không dùng thứ tự tên ref để phá hoà — một grain bị chọn ngầm là một câu hỏi khác bị trả lời ngầm.</a:t>
            </a:r>
          </a:p>
        </p:txBody>
      </p:sp>
      <p:sp>
        <p:nvSpPr>
          <p:cNvPr id="12" name="Rectangle 11"/>
          <p:cNvSpPr/>
          <p:nvPr/>
        </p:nvSpPr>
        <p:spPr>
          <a:xfrm>
            <a:off x="5440680" y="4892040"/>
            <a:ext cx="6199632" cy="932688"/>
          </a:xfrm>
          <a:prstGeom prst="rect">
            <a:avLst/>
          </a:prstGeom>
          <a:solidFill>
            <a:srgbClr val="EF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40680" y="4892040"/>
            <a:ext cx="45720" cy="93268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5029200"/>
            <a:ext cx="5760720" cy="731520"/>
          </a:xfrm>
          <a:prstGeom prst="rect">
            <a:avLst/>
          </a:prstGeom>
          <a:noFill/>
        </p:spPr>
        <p:txBody>
          <a:bodyPr wrap="square" lIns="0" rIns="0" tIns="0" bIns="0">
            <a:spAutoFit/>
          </a:bodyPr>
          <a:lstStyle/>
          <a:p>
            <a:pPr algn="l">
              <a:spcAft>
                <a:spcPts val="400"/>
              </a:spcAft>
            </a:pPr>
            <a:r>
              <a:rPr sz="1100" b="1" i="0">
                <a:solidFill>
                  <a:srgbClr val="141B24"/>
                </a:solidFill>
                <a:latin typeface="Segoe UI"/>
              </a:rPr>
              <a:t>Vì sao tầng này là điểm mạnh, không phải thủ tục thừa</a:t>
            </a:r>
          </a:p>
          <a:p>
            <a:pPr algn="l">
              <a:spcAft>
                <a:spcPts val="0"/>
              </a:spcAft>
            </a:pPr>
            <a:r>
              <a:rPr sz="1050" b="0" i="0">
                <a:solidFill>
                  <a:srgbClr val="33414E"/>
                </a:solidFill>
                <a:latin typeface="Segoe UI"/>
              </a:rPr>
              <a:t>Catalog biến một bài toán mở (“trả lời mọi câu hỏi về dữ liệu”) thành bài toán đóng (“trả lời trong 86 object đã chứng nhận”). Đóng thì kiểm được, đo được, và từ chối được một cách có lý do tra cứu được.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Hai trục trực giao — bài học đắt nhất của vòng 09/08</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§3.1.1 · Dùng một trục cho hai vai là nguyên nhân gốc của CompilationError</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08</a:t>
            </a:r>
          </a:p>
        </p:txBody>
      </p:sp>
      <p:sp>
        <p:nvSpPr>
          <p:cNvPr id="9" name="Rectangle 8"/>
          <p:cNvSpPr/>
          <p:nvPr/>
        </p:nvSpPr>
        <p:spPr>
          <a:xfrm>
            <a:off x="566928" y="1481328"/>
            <a:ext cx="5669280" cy="196596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609344"/>
            <a:ext cx="5349240" cy="1728216"/>
          </a:xfrm>
          <a:prstGeom prst="rect">
            <a:avLst/>
          </a:prstGeom>
          <a:noFill/>
        </p:spPr>
        <p:txBody>
          <a:bodyPr wrap="square" lIns="0" rIns="0" tIns="0" bIns="0">
            <a:spAutoFit/>
          </a:bodyPr>
          <a:lstStyle/>
          <a:p>
            <a:pPr>
              <a:spcAft>
                <a:spcPts val="200"/>
              </a:spcAft>
            </a:pPr>
            <a:r>
              <a:rPr sz="1050" b="0">
                <a:solidFill>
                  <a:srgbClr val="C8D6E2"/>
                </a:solidFill>
                <a:latin typeface="Consolas"/>
              </a:rPr>
              <a:t>parser      → grouping = ('dim.date', 'entity.product_listing')</a:t>
            </a:r>
          </a:p>
          <a:p>
            <a:pPr>
              <a:spcAft>
                <a:spcPts val="200"/>
              </a:spcAft>
            </a:pPr>
            <a:r>
              <a:rPr sz="1050" b="0">
                <a:solidFill>
                  <a:srgbClr val="C8D6E2"/>
                </a:solidFill>
                <a:latin typeface="Consolas"/>
              </a:rPr>
              <a:t>catalog     → answerability = "exposed_as_dimension"</a:t>
            </a:r>
          </a:p>
          <a:p>
            <a:pPr>
              <a:spcAft>
                <a:spcPts val="200"/>
              </a:spcAft>
            </a:pPr>
            <a:r>
              <a:rPr sz="1050" b="1">
                <a:solidFill>
                  <a:srgbClr val="FFB4A2"/>
                </a:solidFill>
                <a:latin typeface="Consolas"/>
              </a:rPr>
              <a:t>              physical      = ()            ← RỖNG</a:t>
            </a:r>
          </a:p>
          <a:p>
            <a:pPr>
              <a:spcAft>
                <a:spcPts val="200"/>
              </a:spcAft>
            </a:pPr>
            <a:r>
              <a:rPr sz="1050" b="0">
                <a:solidFill>
                  <a:srgbClr val="C8D6E2"/>
                </a:solidFill>
                <a:latin typeface="Consolas"/>
              </a:rPr>
              <a:t>synthesizer → sinh plan GROUP BY trên ref đó</a:t>
            </a:r>
          </a:p>
          <a:p>
            <a:pPr>
              <a:spcAft>
                <a:spcPts val="200"/>
              </a:spcAft>
            </a:pPr>
            <a:r>
              <a:rPr sz="1050" b="0">
                <a:solidFill>
                  <a:srgbClr val="C8D6E2"/>
                </a:solidFill>
                <a:latin typeface="Consolas"/>
              </a:rPr>
              <a:t>validator   → valid = True, 0 issue         ← CHO QUA</a:t>
            </a:r>
          </a:p>
          <a:p>
            <a:pPr>
              <a:spcAft>
                <a:spcPts val="200"/>
              </a:spcAft>
            </a:pPr>
            <a:r>
              <a:rPr sz="1050" b="1">
                <a:solidFill>
                  <a:srgbClr val="FF8A7A"/>
                </a:solidFill>
                <a:latin typeface="Consolas"/>
              </a:rPr>
              <a:t>compiler    → CompilationError              ← CRASH</a:t>
            </a:r>
          </a:p>
        </p:txBody>
      </p:sp>
      <p:sp>
        <p:nvSpPr>
          <p:cNvPr id="11" name="TextBox 10"/>
          <p:cNvSpPr txBox="1"/>
          <p:nvPr/>
        </p:nvSpPr>
        <p:spPr>
          <a:xfrm>
            <a:off x="566928" y="3639312"/>
            <a:ext cx="5669280" cy="1097280"/>
          </a:xfrm>
          <a:prstGeom prst="rect">
            <a:avLst/>
          </a:prstGeom>
          <a:noFill/>
        </p:spPr>
        <p:txBody>
          <a:bodyPr wrap="square" lIns="0" rIns="0" tIns="0" bIns="0">
            <a:spAutoFit/>
          </a:bodyPr>
          <a:lstStyle/>
          <a:p>
            <a:pPr algn="l">
              <a:spcAft>
                <a:spcPts val="600"/>
              </a:spcAft>
            </a:pPr>
            <a:r>
              <a:rPr sz="1150" b="1" i="0">
                <a:solidFill>
                  <a:srgbClr val="141B24"/>
                </a:solidFill>
                <a:latin typeface="Segoe UI"/>
              </a:rPr>
              <a:t>Mâu thuẫn nằm BÊN TRONG một object catalog: nó tự khai “exposed as dimension” trong khi không có cột vật lý nào.</a:t>
            </a:r>
          </a:p>
          <a:p>
            <a:pPr algn="l">
              <a:spcAft>
                <a:spcPts val="0"/>
              </a:spcAft>
            </a:pPr>
            <a:r>
              <a:rPr sz="1100" b="0" i="0">
                <a:solidFill>
                  <a:srgbClr val="33414E"/>
                </a:solidFill>
                <a:latin typeface="Segoe UI"/>
              </a:rPr>
              <a:t>Validator tin lời khai. Compiler thi hành thực tế. Không tầng nào đối chiếu hai điều đó với nhau — và 28/83 ref mang cùng mâu thuẫn.</a:t>
            </a:r>
          </a:p>
        </p:txBody>
      </p:sp>
      <p:sp>
        <p:nvSpPr>
          <p:cNvPr id="12" name="Rectangle 11"/>
          <p:cNvSpPr/>
          <p:nvPr/>
        </p:nvSpPr>
        <p:spPr>
          <a:xfrm>
            <a:off x="566928" y="4892040"/>
            <a:ext cx="5669280" cy="11430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4892040"/>
            <a:ext cx="41148" cy="1143000"/>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5038344"/>
            <a:ext cx="5303520" cy="86868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Ba tầng giờ hỏi CÙNG một câu hỏi</a:t>
            </a:r>
          </a:p>
          <a:p>
            <a:pPr algn="l">
              <a:spcAft>
                <a:spcPts val="300"/>
              </a:spcAft>
            </a:pPr>
            <a:r>
              <a:rPr sz="1000" b="0" i="0">
                <a:solidFill>
                  <a:srgbClr val="33414E"/>
                </a:solidFill>
                <a:latin typeface="Segoe UI"/>
              </a:rPr>
              <a:t>catalog     → CatalogError, eager tại import</a:t>
            </a:r>
          </a:p>
          <a:p>
            <a:pPr algn="l">
              <a:spcAft>
                <a:spcPts val="300"/>
              </a:spcAft>
            </a:pPr>
            <a:r>
              <a:rPr sz="1000" b="0" i="0">
                <a:solidFill>
                  <a:srgbClr val="33414E"/>
                </a:solidFill>
                <a:latin typeface="Segoe UI"/>
              </a:rPr>
              <a:t>validate_plan → issue non_physical_grouping (A19-PLAN-GROUPING)</a:t>
            </a:r>
          </a:p>
          <a:p>
            <a:pPr algn="l">
              <a:spcAft>
                <a:spcPts val="300"/>
              </a:spcAft>
            </a:pPr>
            <a:r>
              <a:rPr sz="1000" b="0" i="0">
                <a:solidFill>
                  <a:srgbClr val="33414E"/>
                </a:solidFill>
                <a:latin typeface="Segoe UI"/>
              </a:rPr>
              <a:t>compiler    → tra counting_key, không so tên ref</a:t>
            </a:r>
          </a:p>
        </p:txBody>
      </p:sp>
      <p:graphicFrame>
        <p:nvGraphicFramePr>
          <p:cNvPr id="15" name="Table 14"/>
          <p:cNvGraphicFramePr>
            <a:graphicFrameLocks noGrp="1"/>
          </p:cNvGraphicFramePr>
          <p:nvPr/>
        </p:nvGraphicFramePr>
        <p:xfrm>
          <a:off x="6355080" y="1481328"/>
          <a:ext cx="5285230" cy="2011680"/>
        </p:xfrm>
        <a:graphic>
          <a:graphicData uri="http://schemas.openxmlformats.org/drawingml/2006/table">
            <a:tbl>
              <a:tblPr firstRow="1" bandRow="1">
                <a:tableStyleId>{5C22544A-7EE6-4342-B048-85BDC9FD1C3A}</a:tableStyleId>
              </a:tblPr>
              <a:tblGrid>
                <a:gridCol w="1374160"/>
                <a:gridCol w="2325502"/>
                <a:gridCol w="792784"/>
                <a:gridCol w="792784"/>
              </a:tblGrid>
              <a:tr h="402336">
                <a:tc>
                  <a:txBody>
                    <a:bodyPr wrap="square"/>
                    <a:lstStyle/>
                    <a:p>
                      <a:pPr algn="l"/>
                      <a:r>
                        <a:rPr sz="1050" b="1">
                          <a:solidFill>
                            <a:srgbClr val="FFFFFF"/>
                          </a:solidFill>
                          <a:latin typeface="Segoe UI"/>
                        </a:rPr>
                        <a:t>AnalysisRole</a:t>
                      </a:r>
                    </a:p>
                  </a:txBody>
                  <a:tcPr marL="82296" marR="82296" marT="18288" marB="18288" anchor="ctr">
                    <a:solidFill>
                      <a:srgbClr val="0F2A43"/>
                    </a:solidFill>
                  </a:tcPr>
                </a:tc>
                <a:tc>
                  <a:txBody>
                    <a:bodyPr wrap="square"/>
                    <a:lstStyle/>
                    <a:p>
                      <a:pPr algn="l"/>
                      <a:r>
                        <a:rPr sz="1050" b="1">
                          <a:solidFill>
                            <a:srgbClr val="FFFFFF"/>
                          </a:solidFill>
                          <a:latin typeface="Segoe UI"/>
                        </a:rPr>
                        <a:t>Nghĩa</a:t>
                      </a:r>
                    </a:p>
                  </a:txBody>
                  <a:tcPr marL="82296" marR="82296" marT="18288" marB="18288" anchor="ctr">
                    <a:solidFill>
                      <a:srgbClr val="0F2A43"/>
                    </a:solidFill>
                  </a:tcPr>
                </a:tc>
                <a:tc>
                  <a:txBody>
                    <a:bodyPr wrap="square"/>
                    <a:lstStyle/>
                    <a:p>
                      <a:pPr algn="ctr"/>
                      <a:r>
                        <a:rPr sz="1050" b="1">
                          <a:solidFill>
                            <a:srgbClr val="FFFFFF"/>
                          </a:solidFill>
                          <a:latin typeface="Segoe UI"/>
                        </a:rPr>
                        <a:t>Gom nhóm</a:t>
                      </a:r>
                    </a:p>
                  </a:txBody>
                  <a:tcPr marL="82296" marR="82296" marT="18288" marB="18288" anchor="ctr">
                    <a:solidFill>
                      <a:srgbClr val="0F2A43"/>
                    </a:solidFill>
                  </a:tcPr>
                </a:tc>
                <a:tc>
                  <a:txBody>
                    <a:bodyPr wrap="square"/>
                    <a:lstStyle/>
                    <a:p>
                      <a:pPr algn="ctr"/>
                      <a:r>
                        <a:rPr sz="1050" b="1">
                          <a:solidFill>
                            <a:srgbClr val="FFFFFF"/>
                          </a:solidFill>
                          <a:latin typeface="Segoe UI"/>
                        </a:rPr>
                        <a:t>Đếm</a:t>
                      </a:r>
                    </a:p>
                  </a:txBody>
                  <a:tcPr marL="82296" marR="82296" marT="18288" marB="18288" anchor="ctr">
                    <a:solidFill>
                      <a:srgbClr val="0F2A43"/>
                    </a:solidFill>
                  </a:tcPr>
                </a:tc>
              </a:tr>
              <a:tr h="402336">
                <a:tc>
                  <a:txBody>
                    <a:bodyPr wrap="square"/>
                    <a:lstStyle/>
                    <a:p>
                      <a:pPr algn="l"/>
                      <a:r>
                        <a:rPr sz="1000" b="0">
                          <a:solidFill>
                            <a:srgbClr val="33414E"/>
                          </a:solidFill>
                          <a:latin typeface="Segoe UI"/>
                        </a:rPr>
                        <a:t>physical_dimension</a:t>
                      </a:r>
                    </a:p>
                  </a:txBody>
                  <a:tcPr marL="82296" marR="82296" marT="18288" marB="18288" anchor="ctr">
                    <a:solidFill>
                      <a:srgbClr val="FFFFFF"/>
                    </a:solidFill>
                  </a:tcPr>
                </a:tc>
                <a:tc>
                  <a:txBody>
                    <a:bodyPr wrap="square"/>
                    <a:lstStyle/>
                    <a:p>
                      <a:pPr algn="l"/>
                      <a:r>
                        <a:rPr sz="1000" b="0">
                          <a:solidFill>
                            <a:srgbClr val="33414E"/>
                          </a:solidFill>
                          <a:latin typeface="Segoe UI"/>
                        </a:rPr>
                        <a:t>chia kết quả — bắt buộc có cột</a:t>
                      </a:r>
                    </a:p>
                  </a:txBody>
                  <a:tcPr marL="82296" marR="82296" marT="18288" marB="18288" anchor="ctr">
                    <a:solidFill>
                      <a:srgbClr val="FFFFFF"/>
                    </a:solidFill>
                  </a:tcPr>
                </a:tc>
                <a:tc>
                  <a:txBody>
                    <a:bodyPr wrap="square"/>
                    <a:lstStyle/>
                    <a:p>
                      <a:pPr algn="ctr"/>
                      <a:r>
                        <a:rPr sz="1000" b="0">
                          <a:solidFill>
                            <a:srgbClr val="33414E"/>
                          </a:solidFill>
                          <a:latin typeface="Segoe UI"/>
                        </a:rPr>
                        <a:t>✔</a:t>
                      </a:r>
                    </a:p>
                  </a:txBody>
                  <a:tcPr marL="82296" marR="82296" marT="18288" marB="18288" anchor="ctr">
                    <a:solidFill>
                      <a:srgbClr val="FFFFFF"/>
                    </a:solidFill>
                  </a:tcPr>
                </a:tc>
                <a:tc>
                  <a:txBody>
                    <a:bodyPr wrap="square"/>
                    <a:lstStyle/>
                    <a:p>
                      <a:pPr algn="ctr"/>
                      <a:r>
                        <a:rPr sz="1000" b="0">
                          <a:solidFill>
                            <a:srgbClr val="33414E"/>
                          </a:solidFill>
                          <a:latin typeface="Segoe UI"/>
                        </a:rPr>
                        <a:t>✔</a:t>
                      </a:r>
                    </a:p>
                  </a:txBody>
                  <a:tcPr marL="82296" marR="82296" marT="18288" marB="18288" anchor="ctr">
                    <a:solidFill>
                      <a:srgbClr val="FFFFFF"/>
                    </a:solidFill>
                  </a:tcPr>
                </a:tc>
              </a:tr>
              <a:tr h="402336">
                <a:tc>
                  <a:txBody>
                    <a:bodyPr wrap="square"/>
                    <a:lstStyle/>
                    <a:p>
                      <a:pPr algn="l"/>
                      <a:r>
                        <a:rPr sz="1000" b="0">
                          <a:solidFill>
                            <a:srgbClr val="33414E"/>
                          </a:solidFill>
                          <a:latin typeface="Segoe UI"/>
                        </a:rPr>
                        <a:t>analysis_unit</a:t>
                      </a:r>
                    </a:p>
                  </a:txBody>
                  <a:tcPr marL="82296" marR="82296" marT="18288" marB="18288" anchor="ctr">
                    <a:solidFill>
                      <a:srgbClr val="F2F5F8"/>
                    </a:solidFill>
                  </a:tcPr>
                </a:tc>
                <a:tc>
                  <a:txBody>
                    <a:bodyPr wrap="square"/>
                    <a:lstStyle/>
                    <a:p>
                      <a:pPr algn="l"/>
                      <a:r>
                        <a:rPr sz="1000" b="0">
                          <a:solidFill>
                            <a:srgbClr val="33414E"/>
                          </a:solidFill>
                          <a:latin typeface="Segoe UI"/>
                        </a:rPr>
                        <a:t>định danh một dòng LÀ GÌ</a:t>
                      </a:r>
                    </a:p>
                  </a:txBody>
                  <a:tcPr marL="82296" marR="82296" marT="18288" marB="18288" anchor="ctr">
                    <a:solidFill>
                      <a:srgbClr val="F2F5F8"/>
                    </a:solidFill>
                  </a:tcPr>
                </a:tc>
                <a:tc>
                  <a:txBody>
                    <a:bodyPr wrap="square"/>
                    <a:lstStyle/>
                    <a:p>
                      <a:pPr algn="ctr"/>
                      <a:r>
                        <a:rPr sz="1000" b="0">
                          <a:solidFill>
                            <a:srgbClr val="33414E"/>
                          </a:solidFill>
                          <a:latin typeface="Segoe UI"/>
                        </a:rPr>
                        <a:t>✘</a:t>
                      </a:r>
                    </a:p>
                  </a:txBody>
                  <a:tcPr marL="82296" marR="82296" marT="18288" marB="18288" anchor="ctr">
                    <a:solidFill>
                      <a:srgbClr val="F2F5F8"/>
                    </a:solidFill>
                  </a:tcPr>
                </a:tc>
                <a:tc>
                  <a:txBody>
                    <a:bodyPr wrap="square"/>
                    <a:lstStyle/>
                    <a:p>
                      <a:pPr algn="ctr"/>
                      <a:r>
                        <a:rPr sz="1000" b="0">
                          <a:solidFill>
                            <a:srgbClr val="33414E"/>
                          </a:solidFill>
                          <a:latin typeface="Segoe UI"/>
                        </a:rPr>
                        <a:t>✔</a:t>
                      </a:r>
                    </a:p>
                  </a:txBody>
                  <a:tcPr marL="82296" marR="82296" marT="18288" marB="18288" anchor="ctr">
                    <a:solidFill>
                      <a:srgbClr val="F2F5F8"/>
                    </a:solidFill>
                  </a:tcPr>
                </a:tc>
              </a:tr>
              <a:tr h="402336">
                <a:tc>
                  <a:txBody>
                    <a:bodyPr wrap="square"/>
                    <a:lstStyle/>
                    <a:p>
                      <a:pPr algn="l"/>
                      <a:r>
                        <a:rPr sz="1000" b="0">
                          <a:solidFill>
                            <a:srgbClr val="33414E"/>
                          </a:solidFill>
                          <a:latin typeface="Segoe UI"/>
                        </a:rPr>
                        <a:t>computed_value</a:t>
                      </a:r>
                    </a:p>
                  </a:txBody>
                  <a:tcPr marL="82296" marR="82296" marT="18288" marB="18288" anchor="ctr">
                    <a:solidFill>
                      <a:srgbClr val="FFFFFF"/>
                    </a:solidFill>
                  </a:tcPr>
                </a:tc>
                <a:tc>
                  <a:txBody>
                    <a:bodyPr wrap="square"/>
                    <a:lstStyle/>
                    <a:p>
                      <a:pPr algn="l"/>
                      <a:r>
                        <a:rPr sz="1000" b="0">
                          <a:solidFill>
                            <a:srgbClr val="33414E"/>
                          </a:solidFill>
                          <a:latin typeface="Segoe UI"/>
                        </a:rPr>
                        <a:t>đại lượng đo hoặc dẫn xuất</a:t>
                      </a:r>
                    </a:p>
                  </a:txBody>
                  <a:tcPr marL="82296" marR="82296" marT="18288" marB="18288" anchor="ctr">
                    <a:solidFill>
                      <a:srgbClr val="FFFFFF"/>
                    </a:solidFill>
                  </a:tcPr>
                </a:tc>
                <a:tc>
                  <a:txBody>
                    <a:bodyPr wrap="square"/>
                    <a:lstStyle/>
                    <a:p>
                      <a:pPr algn="ctr"/>
                      <a:r>
                        <a:rPr sz="1000" b="0">
                          <a:solidFill>
                            <a:srgbClr val="33414E"/>
                          </a:solidFill>
                          <a:latin typeface="Segoe UI"/>
                        </a:rPr>
                        <a:t>✘</a:t>
                      </a:r>
                    </a:p>
                  </a:txBody>
                  <a:tcPr marL="82296" marR="82296" marT="18288" marB="18288" anchor="ctr">
                    <a:solidFill>
                      <a:srgbClr val="FFFFFF"/>
                    </a:solidFill>
                  </a:tcPr>
                </a:tc>
                <a:tc>
                  <a:txBody>
                    <a:bodyPr wrap="square"/>
                    <a:lstStyle/>
                    <a:p>
                      <a:pPr algn="ctr"/>
                      <a:r>
                        <a:rPr sz="1000" b="0">
                          <a:solidFill>
                            <a:srgbClr val="33414E"/>
                          </a:solidFill>
                          <a:latin typeface="Segoe UI"/>
                        </a:rPr>
                        <a:t>✘</a:t>
                      </a:r>
                    </a:p>
                  </a:txBody>
                  <a:tcPr marL="82296" marR="82296" marT="18288" marB="18288" anchor="ctr">
                    <a:solidFill>
                      <a:srgbClr val="FFFFFF"/>
                    </a:solidFill>
                  </a:tcPr>
                </a:tc>
              </a:tr>
              <a:tr h="402336">
                <a:tc>
                  <a:txBody>
                    <a:bodyPr wrap="square"/>
                    <a:lstStyle/>
                    <a:p>
                      <a:pPr algn="l"/>
                      <a:r>
                        <a:rPr sz="1000" b="0">
                          <a:solidFill>
                            <a:srgbClr val="33414E"/>
                          </a:solidFill>
                          <a:latin typeface="Segoe UI"/>
                        </a:rPr>
                        <a:t>context_only</a:t>
                      </a:r>
                    </a:p>
                  </a:txBody>
                  <a:tcPr marL="82296" marR="82296" marT="18288" marB="18288" anchor="ctr">
                    <a:solidFill>
                      <a:srgbClr val="F2F5F8"/>
                    </a:solidFill>
                  </a:tcPr>
                </a:tc>
                <a:tc>
                  <a:txBody>
                    <a:bodyPr wrap="square"/>
                    <a:lstStyle/>
                    <a:p>
                      <a:pPr algn="l"/>
                      <a:r>
                        <a:rPr sz="1000" b="0">
                          <a:solidFill>
                            <a:srgbClr val="33414E"/>
                          </a:solidFill>
                          <a:latin typeface="Segoe UI"/>
                        </a:rPr>
                        <a:t>không bao giờ vào LogicalQueryPlan</a:t>
                      </a:r>
                    </a:p>
                  </a:txBody>
                  <a:tcPr marL="82296" marR="82296" marT="18288" marB="18288" anchor="ctr">
                    <a:solidFill>
                      <a:srgbClr val="F2F5F8"/>
                    </a:solidFill>
                  </a:tcPr>
                </a:tc>
                <a:tc>
                  <a:txBody>
                    <a:bodyPr wrap="square"/>
                    <a:lstStyle/>
                    <a:p>
                      <a:pPr algn="ctr"/>
                      <a:r>
                        <a:rPr sz="1000" b="0">
                          <a:solidFill>
                            <a:srgbClr val="33414E"/>
                          </a:solidFill>
                          <a:latin typeface="Segoe UI"/>
                        </a:rPr>
                        <a:t>✘</a:t>
                      </a:r>
                    </a:p>
                  </a:txBody>
                  <a:tcPr marL="82296" marR="82296" marT="18288" marB="18288" anchor="ctr">
                    <a:solidFill>
                      <a:srgbClr val="F2F5F8"/>
                    </a:solidFill>
                  </a:tcPr>
                </a:tc>
                <a:tc>
                  <a:txBody>
                    <a:bodyPr wrap="square"/>
                    <a:lstStyle/>
                    <a:p>
                      <a:pPr algn="ctr"/>
                      <a:r>
                        <a:rPr sz="1000" b="0">
                          <a:solidFill>
                            <a:srgbClr val="33414E"/>
                          </a:solidFill>
                          <a:latin typeface="Segoe UI"/>
                        </a:rPr>
                        <a:t>✘</a:t>
                      </a:r>
                    </a:p>
                  </a:txBody>
                  <a:tcPr marL="82296" marR="82296" marT="18288" marB="18288" anchor="ctr">
                    <a:solidFill>
                      <a:srgbClr val="F2F5F8"/>
                    </a:solidFill>
                  </a:tcPr>
                </a:tc>
              </a:tr>
            </a:tbl>
          </a:graphicData>
        </a:graphic>
      </p:graphicFrame>
      <p:sp>
        <p:nvSpPr>
          <p:cNvPr id="16" name="Rectangle 15"/>
          <p:cNvSpPr/>
          <p:nvPr/>
        </p:nvSpPr>
        <p:spPr>
          <a:xfrm>
            <a:off x="6355080" y="4041648"/>
            <a:ext cx="5285232" cy="199339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4041648"/>
            <a:ext cx="41148" cy="1993392"/>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6248" y="4187952"/>
            <a:ext cx="4919472" cy="1719072"/>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Trực giao, không thay thế nhau</a:t>
            </a:r>
          </a:p>
          <a:p>
            <a:pPr algn="l">
              <a:spcAft>
                <a:spcPts val="300"/>
              </a:spcAft>
            </a:pPr>
            <a:r>
              <a:rPr sz="1000" b="0" i="0">
                <a:solidFill>
                  <a:srgbClr val="33414E"/>
                </a:solidFill>
                <a:latin typeface="Segoe UI"/>
              </a:rPr>
              <a:t>derived.product_count  =  binding=aggregate  (lấy giá trị thế nào)</a:t>
            </a:r>
          </a:p>
          <a:p>
            <a:pPr algn="l">
              <a:spcAft>
                <a:spcPts val="300"/>
              </a:spcAft>
            </a:pPr>
            <a:r>
              <a:rPr sz="1000" b="0" i="0">
                <a:solidFill>
                  <a:srgbClr val="33414E"/>
                </a:solidFill>
                <a:latin typeface="Segoe UI"/>
              </a:rPr>
              <a:t>                       +  counts_unit=entity.product_listing  (đếm gì)</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entity.shop có cột shop_id → vừa GROUP BY được vừa đếm được.</a:t>
            </a:r>
          </a:p>
          <a:p>
            <a:pPr algn="l">
              <a:spcAft>
                <a:spcPts val="300"/>
              </a:spcAft>
            </a:pPr>
            <a:r>
              <a:rPr sz="1000" b="0" i="0">
                <a:solidFill>
                  <a:srgbClr val="33414E"/>
                </a:solidFill>
                <a:latin typeface="Segoe UI"/>
              </a:rPr>
              <a:t>entity.product_listing không có cột → chỉ đếm được.</a:t>
            </a:r>
          </a:p>
          <a:p>
            <a:pPr algn="l">
              <a:spcAft>
                <a:spcPts val="300"/>
              </a:spcAft>
            </a:pPr>
            <a:r>
              <a:rPr sz="1000" b="0" i="0">
                <a:solidFill>
                  <a:srgbClr val="33414E"/>
                </a:solidFill>
                <a:latin typeface="Segoe UI"/>
              </a:rPr>
              <a:t>Hai năng lực độc lập, phải khai bằng hai trường khác nhau.</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Thêm một đơn vị đếm được = sửa catalog, KHÔNG phải thêm nhánh if.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CapabilityMatcher — từ chối có cấu trúc thay vì đoán gần đúng</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§3.5–3.6 · Thay CertifiedShape; là nguồn duy nhất để build IntentRegistry</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09</a:t>
            </a:r>
          </a:p>
        </p:txBody>
      </p:sp>
      <p:sp>
        <p:nvSpPr>
          <p:cNvPr id="9" name="TextBox 8"/>
          <p:cNvSpPr txBox="1"/>
          <p:nvPr/>
        </p:nvSpPr>
        <p:spPr>
          <a:xfrm>
            <a:off x="566928" y="1481328"/>
            <a:ext cx="5760720" cy="365760"/>
          </a:xfrm>
          <a:prstGeom prst="rect">
            <a:avLst/>
          </a:prstGeom>
          <a:noFill/>
        </p:spPr>
        <p:txBody>
          <a:bodyPr wrap="square" lIns="0" rIns="0" tIns="0" bIns="0">
            <a:spAutoFit/>
          </a:bodyPr>
          <a:lstStyle/>
          <a:p>
            <a:pPr algn="l">
              <a:spcAft>
                <a:spcPts val="0"/>
              </a:spcAft>
            </a:pPr>
            <a:r>
              <a:rPr sz="1250" b="1" i="0">
                <a:solidFill>
                  <a:srgbClr val="141B24"/>
                </a:solidFill>
                <a:latin typeface="Segoe UI"/>
              </a:rPr>
              <a:t>Quy tắc chọn — thứ tự bắt buộc</a:t>
            </a:r>
          </a:p>
        </p:txBody>
      </p:sp>
      <p:sp>
        <p:nvSpPr>
          <p:cNvPr id="10" name="Rectangle 9"/>
          <p:cNvSpPr/>
          <p:nvPr/>
        </p:nvSpPr>
        <p:spPr>
          <a:xfrm>
            <a:off x="566928" y="1938528"/>
            <a:ext cx="5760720" cy="5760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938528"/>
            <a:ext cx="36576" cy="5760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984248"/>
            <a:ext cx="310896" cy="457200"/>
          </a:xfrm>
          <a:prstGeom prst="rect">
            <a:avLst/>
          </a:prstGeom>
          <a:noFill/>
        </p:spPr>
        <p:txBody>
          <a:bodyPr wrap="square" lIns="0" rIns="0" tIns="0" bIns="0">
            <a:spAutoFit/>
          </a:bodyPr>
          <a:lstStyle/>
          <a:p>
            <a:pPr algn="l">
              <a:spcAft>
                <a:spcPts val="0"/>
              </a:spcAft>
            </a:pPr>
            <a:r>
              <a:rPr sz="1300" b="1" i="0">
                <a:solidFill>
                  <a:srgbClr val="0E7C86"/>
                </a:solidFill>
                <a:latin typeface="Segoe UI"/>
              </a:rPr>
              <a:t>1</a:t>
            </a:r>
          </a:p>
        </p:txBody>
      </p:sp>
      <p:sp>
        <p:nvSpPr>
          <p:cNvPr id="13" name="TextBox 12"/>
          <p:cNvSpPr txBox="1"/>
          <p:nvPr/>
        </p:nvSpPr>
        <p:spPr>
          <a:xfrm>
            <a:off x="1115568" y="1993392"/>
            <a:ext cx="5120640" cy="502920"/>
          </a:xfrm>
          <a:prstGeom prst="rect">
            <a:avLst/>
          </a:prstGeom>
          <a:noFill/>
        </p:spPr>
        <p:txBody>
          <a:bodyPr wrap="square" lIns="0" rIns="0" tIns="0" bIns="0">
            <a:spAutoFit/>
          </a:bodyPr>
          <a:lstStyle/>
          <a:p>
            <a:pPr algn="l">
              <a:spcAft>
                <a:spcPts val="200"/>
              </a:spcAft>
            </a:pPr>
            <a:r>
              <a:rPr sz="1100" b="1" i="0">
                <a:solidFill>
                  <a:srgbClr val="141B24"/>
                </a:solidFill>
                <a:latin typeface="Segoe UI"/>
              </a:rPr>
              <a:t>Loại MỌI spec có blocker</a:t>
            </a:r>
          </a:p>
          <a:p>
            <a:pPr algn="l">
              <a:spcAft>
                <a:spcPts val="0"/>
              </a:spcAft>
            </a:pPr>
            <a:r>
              <a:rPr sz="950" b="0" i="0">
                <a:solidFill>
                  <a:srgbClr val="6B7A8A"/>
                </a:solidFill>
                <a:latin typeface="Segoe UI"/>
              </a:rPr>
              <a:t>shape, measure thừa/thiếu, grouping, aggregation, filter, qualifier, scope</a:t>
            </a:r>
          </a:p>
        </p:txBody>
      </p:sp>
      <p:sp>
        <p:nvSpPr>
          <p:cNvPr id="14" name="Rectangle 13"/>
          <p:cNvSpPr/>
          <p:nvPr/>
        </p:nvSpPr>
        <p:spPr>
          <a:xfrm>
            <a:off x="566928" y="2596896"/>
            <a:ext cx="5760720" cy="5760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596896"/>
            <a:ext cx="36576" cy="5760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2642616"/>
            <a:ext cx="310896" cy="457200"/>
          </a:xfrm>
          <a:prstGeom prst="rect">
            <a:avLst/>
          </a:prstGeom>
          <a:noFill/>
        </p:spPr>
        <p:txBody>
          <a:bodyPr wrap="square" lIns="0" rIns="0" tIns="0" bIns="0">
            <a:spAutoFit/>
          </a:bodyPr>
          <a:lstStyle/>
          <a:p>
            <a:pPr algn="l">
              <a:spcAft>
                <a:spcPts val="0"/>
              </a:spcAft>
            </a:pPr>
            <a:r>
              <a:rPr sz="1300" b="1" i="0">
                <a:solidFill>
                  <a:srgbClr val="0E7C86"/>
                </a:solidFill>
                <a:latin typeface="Segoe UI"/>
              </a:rPr>
              <a:t>2</a:t>
            </a:r>
          </a:p>
        </p:txBody>
      </p:sp>
      <p:sp>
        <p:nvSpPr>
          <p:cNvPr id="17" name="TextBox 16"/>
          <p:cNvSpPr txBox="1"/>
          <p:nvPr/>
        </p:nvSpPr>
        <p:spPr>
          <a:xfrm>
            <a:off x="1115568" y="2651760"/>
            <a:ext cx="5120640" cy="502920"/>
          </a:xfrm>
          <a:prstGeom prst="rect">
            <a:avLst/>
          </a:prstGeom>
          <a:noFill/>
        </p:spPr>
        <p:txBody>
          <a:bodyPr wrap="square" lIns="0" rIns="0" tIns="0" bIns="0">
            <a:spAutoFit/>
          </a:bodyPr>
          <a:lstStyle/>
          <a:p>
            <a:pPr algn="l">
              <a:spcAft>
                <a:spcPts val="200"/>
              </a:spcAft>
            </a:pPr>
            <a:r>
              <a:rPr sz="1100" b="1" i="0">
                <a:solidFill>
                  <a:srgbClr val="141B24"/>
                </a:solidFill>
                <a:latin typeface="Segoe UI"/>
              </a:rPr>
              <a:t>Ưu tiên spec cụ thể theo score</a:t>
            </a:r>
          </a:p>
          <a:p>
            <a:pPr algn="l">
              <a:spcAft>
                <a:spcPts val="0"/>
              </a:spcAft>
            </a:pPr>
            <a:r>
              <a:rPr sz="950" b="0" i="0">
                <a:solidFill>
                  <a:srgbClr val="6B7A8A"/>
                </a:solidFill>
                <a:latin typeface="Segoe UI"/>
              </a:rPr>
              <a:t>macro · template · tool · insight</a:t>
            </a:r>
          </a:p>
        </p:txBody>
      </p:sp>
      <p:sp>
        <p:nvSpPr>
          <p:cNvPr id="18" name="Rectangle 17"/>
          <p:cNvSpPr/>
          <p:nvPr/>
        </p:nvSpPr>
        <p:spPr>
          <a:xfrm>
            <a:off x="566928" y="3255264"/>
            <a:ext cx="5760720" cy="5760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3255264"/>
            <a:ext cx="36576" cy="5760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300984"/>
            <a:ext cx="310896" cy="457200"/>
          </a:xfrm>
          <a:prstGeom prst="rect">
            <a:avLst/>
          </a:prstGeom>
          <a:noFill/>
        </p:spPr>
        <p:txBody>
          <a:bodyPr wrap="square" lIns="0" rIns="0" tIns="0" bIns="0">
            <a:spAutoFit/>
          </a:bodyPr>
          <a:lstStyle/>
          <a:p>
            <a:pPr algn="l">
              <a:spcAft>
                <a:spcPts val="0"/>
              </a:spcAft>
            </a:pPr>
            <a:r>
              <a:rPr sz="1300" b="1" i="0">
                <a:solidFill>
                  <a:srgbClr val="0E7C86"/>
                </a:solidFill>
                <a:latin typeface="Segoe UI"/>
              </a:rPr>
              <a:t>3</a:t>
            </a:r>
          </a:p>
        </p:txBody>
      </p:sp>
      <p:sp>
        <p:nvSpPr>
          <p:cNvPr id="21" name="TextBox 20"/>
          <p:cNvSpPr txBox="1"/>
          <p:nvPr/>
        </p:nvSpPr>
        <p:spPr>
          <a:xfrm>
            <a:off x="1115568" y="3310128"/>
            <a:ext cx="5120640" cy="502920"/>
          </a:xfrm>
          <a:prstGeom prst="rect">
            <a:avLst/>
          </a:prstGeom>
          <a:noFill/>
        </p:spPr>
        <p:txBody>
          <a:bodyPr wrap="square" lIns="0" rIns="0" tIns="0" bIns="0">
            <a:spAutoFit/>
          </a:bodyPr>
          <a:lstStyle/>
          <a:p>
            <a:pPr algn="l">
              <a:spcAft>
                <a:spcPts val="200"/>
              </a:spcAft>
            </a:pPr>
            <a:r>
              <a:rPr sz="1100" b="1" i="0">
                <a:solidFill>
                  <a:srgbClr val="141B24"/>
                </a:solidFill>
                <a:latin typeface="Segoe UI"/>
              </a:rPr>
              <a:t>Không có spec cụ thể → xét analytical</a:t>
            </a:r>
          </a:p>
          <a:p>
            <a:pPr algn="l">
              <a:spcAft>
                <a:spcPts val="0"/>
              </a:spcAft>
            </a:pPr>
            <a:r>
              <a:rPr sz="950" b="0" i="0">
                <a:solidFill>
                  <a:srgbClr val="6B7A8A"/>
                </a:solidFill>
                <a:latin typeface="Segoe UI"/>
              </a:rPr>
              <a:t>thử synthesizer trước, ngoài grammar mới sang decomposer</a:t>
            </a:r>
          </a:p>
        </p:txBody>
      </p:sp>
      <p:sp>
        <p:nvSpPr>
          <p:cNvPr id="22" name="Rectangle 21"/>
          <p:cNvSpPr/>
          <p:nvPr/>
        </p:nvSpPr>
        <p:spPr>
          <a:xfrm>
            <a:off x="566928" y="3913632"/>
            <a:ext cx="5760720" cy="5760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913632"/>
            <a:ext cx="36576" cy="576072"/>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3959352"/>
            <a:ext cx="310896" cy="457200"/>
          </a:xfrm>
          <a:prstGeom prst="rect">
            <a:avLst/>
          </a:prstGeom>
          <a:noFill/>
        </p:spPr>
        <p:txBody>
          <a:bodyPr wrap="square" lIns="0" rIns="0" tIns="0" bIns="0">
            <a:spAutoFit/>
          </a:bodyPr>
          <a:lstStyle/>
          <a:p>
            <a:pPr algn="l">
              <a:spcAft>
                <a:spcPts val="0"/>
              </a:spcAft>
            </a:pPr>
            <a:r>
              <a:rPr sz="1300" b="1" i="0">
                <a:solidFill>
                  <a:srgbClr val="C96F1E"/>
                </a:solidFill>
                <a:latin typeface="Segoe UI"/>
              </a:rPr>
              <a:t>4</a:t>
            </a:r>
          </a:p>
        </p:txBody>
      </p:sp>
      <p:sp>
        <p:nvSpPr>
          <p:cNvPr id="25" name="TextBox 24"/>
          <p:cNvSpPr txBox="1"/>
          <p:nvPr/>
        </p:nvSpPr>
        <p:spPr>
          <a:xfrm>
            <a:off x="1115568" y="3968496"/>
            <a:ext cx="5120640" cy="502920"/>
          </a:xfrm>
          <a:prstGeom prst="rect">
            <a:avLst/>
          </a:prstGeom>
          <a:noFill/>
        </p:spPr>
        <p:txBody>
          <a:bodyPr wrap="square" lIns="0" rIns="0" tIns="0" bIns="0">
            <a:spAutoFit/>
          </a:bodyPr>
          <a:lstStyle/>
          <a:p>
            <a:pPr algn="l">
              <a:spcAft>
                <a:spcPts val="200"/>
              </a:spcAft>
            </a:pPr>
            <a:r>
              <a:rPr sz="1100" b="1" i="0">
                <a:solidFill>
                  <a:srgbClr val="141B24"/>
                </a:solidFill>
                <a:latin typeface="Segoe UI"/>
              </a:rPr>
              <a:t>Không có analytical hợp lệ → A-CAPABILITY-MISS</a:t>
            </a:r>
          </a:p>
          <a:p>
            <a:pPr algn="l">
              <a:spcAft>
                <a:spcPts val="0"/>
              </a:spcAft>
            </a:pPr>
            <a:r>
              <a:rPr sz="950" b="0" i="0">
                <a:solidFill>
                  <a:srgbClr val="6B7A8A"/>
                </a:solidFill>
                <a:latin typeface="Segoe UI"/>
              </a:rPr>
              <a:t>không hạ xuống macro gần nhất</a:t>
            </a:r>
          </a:p>
        </p:txBody>
      </p:sp>
      <p:sp>
        <p:nvSpPr>
          <p:cNvPr id="26" name="Rectangle 25"/>
          <p:cNvSpPr/>
          <p:nvPr/>
        </p:nvSpPr>
        <p:spPr>
          <a:xfrm>
            <a:off x="566928" y="4572000"/>
            <a:ext cx="5760720" cy="5760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572000"/>
            <a:ext cx="36576" cy="576072"/>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4617720"/>
            <a:ext cx="310896" cy="457200"/>
          </a:xfrm>
          <a:prstGeom prst="rect">
            <a:avLst/>
          </a:prstGeom>
          <a:noFill/>
        </p:spPr>
        <p:txBody>
          <a:bodyPr wrap="square" lIns="0" rIns="0" tIns="0" bIns="0">
            <a:spAutoFit/>
          </a:bodyPr>
          <a:lstStyle/>
          <a:p>
            <a:pPr algn="l">
              <a:spcAft>
                <a:spcPts val="0"/>
              </a:spcAft>
            </a:pPr>
            <a:r>
              <a:rPr sz="1300" b="1" i="0">
                <a:solidFill>
                  <a:srgbClr val="C96F1E"/>
                </a:solidFill>
                <a:latin typeface="Segoe UI"/>
              </a:rPr>
              <a:t>5</a:t>
            </a:r>
          </a:p>
        </p:txBody>
      </p:sp>
      <p:sp>
        <p:nvSpPr>
          <p:cNvPr id="29" name="TextBox 28"/>
          <p:cNvSpPr txBox="1"/>
          <p:nvPr/>
        </p:nvSpPr>
        <p:spPr>
          <a:xfrm>
            <a:off x="1115568" y="4626864"/>
            <a:ext cx="5120640" cy="502920"/>
          </a:xfrm>
          <a:prstGeom prst="rect">
            <a:avLst/>
          </a:prstGeom>
          <a:noFill/>
        </p:spPr>
        <p:txBody>
          <a:bodyPr wrap="square" lIns="0" rIns="0" tIns="0" bIns="0">
            <a:spAutoFit/>
          </a:bodyPr>
          <a:lstStyle/>
          <a:p>
            <a:pPr algn="l">
              <a:spcAft>
                <a:spcPts val="200"/>
              </a:spcAft>
            </a:pPr>
            <a:r>
              <a:rPr sz="1100" b="1" i="0">
                <a:solidFill>
                  <a:srgbClr val="141B24"/>
                </a:solidFill>
                <a:latin typeface="Segoe UI"/>
              </a:rPr>
              <a:t>Hoà điểm → cue term phá hoà</a:t>
            </a:r>
          </a:p>
          <a:p>
            <a:pPr algn="l">
              <a:spcAft>
                <a:spcPts val="0"/>
              </a:spcAft>
            </a:pPr>
            <a:r>
              <a:rPr sz="950" b="0" i="0">
                <a:solidFill>
                  <a:srgbClr val="6B7A8A"/>
                </a:solidFill>
                <a:latin typeface="Segoe UI"/>
              </a:rPr>
              <a:t>chỉ SAU khi đã lọc blocker</a:t>
            </a:r>
          </a:p>
        </p:txBody>
      </p:sp>
      <p:sp>
        <p:nvSpPr>
          <p:cNvPr id="30" name="Rectangle 29"/>
          <p:cNvSpPr/>
          <p:nvPr/>
        </p:nvSpPr>
        <p:spPr>
          <a:xfrm>
            <a:off x="566928" y="5230368"/>
            <a:ext cx="5760720" cy="5760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230368"/>
            <a:ext cx="36576" cy="576072"/>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276088"/>
            <a:ext cx="310896" cy="457200"/>
          </a:xfrm>
          <a:prstGeom prst="rect">
            <a:avLst/>
          </a:prstGeom>
          <a:noFill/>
        </p:spPr>
        <p:txBody>
          <a:bodyPr wrap="square" lIns="0" rIns="0" tIns="0" bIns="0">
            <a:spAutoFit/>
          </a:bodyPr>
          <a:lstStyle/>
          <a:p>
            <a:pPr algn="l">
              <a:spcAft>
                <a:spcPts val="0"/>
              </a:spcAft>
            </a:pPr>
            <a:r>
              <a:rPr sz="1300" b="1" i="0">
                <a:solidFill>
                  <a:srgbClr val="C96F1E"/>
                </a:solidFill>
                <a:latin typeface="Segoe UI"/>
              </a:rPr>
              <a:t>6</a:t>
            </a:r>
          </a:p>
        </p:txBody>
      </p:sp>
      <p:sp>
        <p:nvSpPr>
          <p:cNvPr id="33" name="TextBox 32"/>
          <p:cNvSpPr txBox="1"/>
          <p:nvPr/>
        </p:nvSpPr>
        <p:spPr>
          <a:xfrm>
            <a:off x="1115568" y="5285232"/>
            <a:ext cx="5120640" cy="502920"/>
          </a:xfrm>
          <a:prstGeom prst="rect">
            <a:avLst/>
          </a:prstGeom>
          <a:noFill/>
        </p:spPr>
        <p:txBody>
          <a:bodyPr wrap="square" lIns="0" rIns="0" tIns="0" bIns="0">
            <a:spAutoFit/>
          </a:bodyPr>
          <a:lstStyle/>
          <a:p>
            <a:pPr algn="l">
              <a:spcAft>
                <a:spcPts val="200"/>
              </a:spcAft>
            </a:pPr>
            <a:r>
              <a:rPr sz="1100" b="1" i="0">
                <a:solidFill>
                  <a:srgbClr val="141B24"/>
                </a:solidFill>
                <a:latin typeface="Segoe UI"/>
              </a:rPr>
              <a:t>Vẫn hoà → clarify</a:t>
            </a:r>
          </a:p>
          <a:p>
            <a:pPr algn="l">
              <a:spcAft>
                <a:spcPts val="0"/>
              </a:spcAft>
            </a:pPr>
            <a:r>
              <a:rPr sz="950" b="0" i="0">
                <a:solidFill>
                  <a:srgbClr val="6B7A8A"/>
                </a:solidFill>
                <a:latin typeface="Segoe UI"/>
              </a:rPr>
              <a:t>không tự chọn</a:t>
            </a:r>
          </a:p>
        </p:txBody>
      </p:sp>
      <p:sp>
        <p:nvSpPr>
          <p:cNvPr id="34" name="Rectangle 33"/>
          <p:cNvSpPr/>
          <p:nvPr/>
        </p:nvSpPr>
        <p:spPr>
          <a:xfrm>
            <a:off x="6629400" y="1481328"/>
            <a:ext cx="5010912" cy="2377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629400" y="1481328"/>
            <a:ext cx="41148" cy="237744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30568" y="1627632"/>
            <a:ext cx="4645152" cy="210312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A-CAPABILITY-MISS trả bốn phần deterministic</a:t>
            </a:r>
          </a:p>
          <a:p>
            <a:pPr algn="l">
              <a:spcAft>
                <a:spcPts val="300"/>
              </a:spcAft>
            </a:pPr>
            <a:r>
              <a:rPr sz="1000" b="0" i="0">
                <a:solidFill>
                  <a:srgbClr val="33414E"/>
                </a:solidFill>
                <a:latin typeface="Segoe UI"/>
              </a:rPr>
              <a:t>1  Hệ đã nhận diện measure / grouping / shape nào</a:t>
            </a:r>
          </a:p>
          <a:p>
            <a:pPr algn="l">
              <a:spcAft>
                <a:spcPts val="300"/>
              </a:spcAft>
            </a:pPr>
            <a:r>
              <a:rPr sz="1000" b="0" i="0">
                <a:solidFill>
                  <a:srgbClr val="33414E"/>
                </a:solidFill>
                <a:latin typeface="Segoe UI"/>
              </a:rPr>
              <a:t>2  Blocker THẬT: thiếu dữ liệu · zero variance ·</a:t>
            </a:r>
          </a:p>
          <a:p>
            <a:pPr algn="l">
              <a:spcAft>
                <a:spcPts val="300"/>
              </a:spcAft>
            </a:pPr>
            <a:r>
              <a:rPr sz="1000" b="0" i="0">
                <a:solidFill>
                  <a:srgbClr val="33414E"/>
                </a:solidFill>
                <a:latin typeface="Segoe UI"/>
              </a:rPr>
              <a:t>     unavailable binding · chưa có phép tính duyệt</a:t>
            </a:r>
          </a:p>
          <a:p>
            <a:pPr algn="l">
              <a:spcAft>
                <a:spcPts val="300"/>
              </a:spcAft>
            </a:pPr>
            <a:r>
              <a:rPr sz="1000" b="0" i="0">
                <a:solidFill>
                  <a:srgbClr val="33414E"/>
                </a:solidFill>
                <a:latin typeface="Segoe UI"/>
              </a:rPr>
              <a:t>3  Một đến ba câu hỏi GẦN NHẤT làm được, sinh từ</a:t>
            </a:r>
          </a:p>
          <a:p>
            <a:pPr algn="l">
              <a:spcAft>
                <a:spcPts val="300"/>
              </a:spcAft>
            </a:pPr>
            <a:r>
              <a:rPr sz="1000" b="0" i="0">
                <a:solidFill>
                  <a:srgbClr val="33414E"/>
                </a:solidFill>
                <a:latin typeface="Segoe UI"/>
              </a:rPr>
              <a:t>     CapabilitySpec bằng cách nới đúng MỘT trục</a:t>
            </a:r>
          </a:p>
          <a:p>
            <a:pPr algn="l">
              <a:spcAft>
                <a:spcPts val="300"/>
              </a:spcAft>
            </a:pPr>
            <a:r>
              <a:rPr sz="1000" b="0" i="0">
                <a:solidFill>
                  <a:srgbClr val="33414E"/>
                </a:solidFill>
                <a:latin typeface="Segoe UI"/>
              </a:rPr>
              <a:t>4  Dữ liệu / quyết định cần bổ sung để mở năng lực</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Reason lấy từ CapabilityDecision.decision_blockers —</a:t>
            </a:r>
          </a:p>
          <a:p>
            <a:pPr algn="l">
              <a:spcAft>
                <a:spcPts val="300"/>
              </a:spcAft>
            </a:pPr>
            <a:r>
              <a:rPr sz="1000" b="0" i="0">
                <a:solidFill>
                  <a:srgbClr val="33414E"/>
                </a:solidFill>
                <a:latin typeface="Segoe UI"/>
              </a:rPr>
              <a:t>không suy lại bằng template riêng.</a:t>
            </a:r>
          </a:p>
        </p:txBody>
      </p:sp>
      <p:sp>
        <p:nvSpPr>
          <p:cNvPr id="37" name="Rectangle 36"/>
          <p:cNvSpPr/>
          <p:nvPr/>
        </p:nvSpPr>
        <p:spPr>
          <a:xfrm>
            <a:off x="6629400" y="4023360"/>
            <a:ext cx="5010912" cy="2011680"/>
          </a:xfrm>
          <a:prstGeom prst="rect">
            <a:avLst/>
          </a:prstGeom>
          <a:solidFill>
            <a:srgbClr val="FD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629400" y="4023360"/>
            <a:ext cx="45720" cy="2011680"/>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0" y="4187952"/>
            <a:ext cx="4572000" cy="1737360"/>
          </a:xfrm>
          <a:prstGeom prst="rect">
            <a:avLst/>
          </a:prstGeom>
          <a:noFill/>
        </p:spPr>
        <p:txBody>
          <a:bodyPr wrap="square" lIns="0" rIns="0" tIns="0" bIns="0">
            <a:spAutoFit/>
          </a:bodyPr>
          <a:lstStyle/>
          <a:p>
            <a:pPr algn="l">
              <a:spcAft>
                <a:spcPts val="600"/>
              </a:spcAft>
            </a:pPr>
            <a:r>
              <a:rPr sz="1150" b="1" i="0">
                <a:solidFill>
                  <a:srgbClr val="A6333F"/>
                </a:solidFill>
                <a:latin typeface="Segoe UI"/>
              </a:rPr>
              <a:t>Khả năng khắc phục THẮNG thứ tự phase (§4.5.1)</a:t>
            </a:r>
          </a:p>
          <a:p>
            <a:pPr algn="l">
              <a:spcAft>
                <a:spcPts val="200"/>
              </a:spcAft>
            </a:pPr>
            <a:r>
              <a:rPr sz="950" b="0" i="0">
                <a:solidFill>
                  <a:srgbClr val="33414E"/>
                </a:solidFill>
                <a:latin typeface="Segoe UI"/>
              </a:rPr>
              <a:t>Trước: priority = thứ tự gọi trong source ⇒ gate chọn rule</a:t>
            </a:r>
          </a:p>
          <a:p>
            <a:pPr algn="l">
              <a:spcAft>
                <a:spcPts val="200"/>
              </a:spcAft>
            </a:pPr>
            <a:r>
              <a:rPr sz="950" b="0" i="0">
                <a:solidFill>
                  <a:srgbClr val="33414E"/>
                </a:solidFill>
                <a:latin typeface="Segoe UI"/>
              </a:rPr>
              <a:t>BẮN SỚM NHẤT, không phải rule mô tả đúng vấn đề.</a:t>
            </a:r>
          </a:p>
          <a:p>
            <a:pPr algn="l">
              <a:spcAft>
                <a:spcPts val="200"/>
              </a:spcAft>
            </a:pPr>
            <a:r>
              <a:rPr sz="950" b="0" i="0">
                <a:solidFill>
                  <a:srgbClr val="33414E"/>
                </a:solidFill>
                <a:latin typeface="Segoe UI"/>
              </a:rPr>
              <a:t/>
            </a:r>
          </a:p>
          <a:p>
            <a:pPr algn="l">
              <a:spcAft>
                <a:spcPts val="200"/>
              </a:spcAft>
            </a:pPr>
            <a:r>
              <a:rPr sz="950" b="0" i="0">
                <a:solidFill>
                  <a:srgbClr val="33414E"/>
                </a:solidFill>
                <a:latin typeface="Segoe UI"/>
              </a:rPr>
              <a:t>bgk16  mã 99999999999 không tồn tại</a:t>
            </a:r>
          </a:p>
          <a:p>
            <a:pPr algn="l">
              <a:spcAft>
                <a:spcPts val="200"/>
              </a:spcAft>
            </a:pPr>
            <a:r>
              <a:rPr sz="950" b="0" i="0">
                <a:solidFill>
                  <a:srgbClr val="33414E"/>
                </a:solidFill>
                <a:latin typeface="Segoe UI"/>
              </a:rPr>
              <a:t>   → hệ nói: “Cần chọn thị trường VN hoặc ID”</a:t>
            </a:r>
          </a:p>
          <a:p>
            <a:pPr algn="l">
              <a:spcAft>
                <a:spcPts val="200"/>
              </a:spcAft>
            </a:pPr>
            <a:r>
              <a:rPr sz="950" b="0" i="0">
                <a:solidFill>
                  <a:srgbClr val="33414E"/>
                </a:solidFill>
                <a:latin typeface="Segoe UI"/>
              </a:rPr>
              <a:t>bgk14  hỏi lợi nhuận (dataset không có cột)</a:t>
            </a:r>
          </a:p>
          <a:p>
            <a:pPr algn="l">
              <a:spcAft>
                <a:spcPts val="200"/>
              </a:spcAft>
            </a:pPr>
            <a:r>
              <a:rPr sz="950" b="0" i="0">
                <a:solidFill>
                  <a:srgbClr val="33414E"/>
                </a:solidFill>
                <a:latin typeface="Segoe UI"/>
              </a:rPr>
              <a:t>   → hệ nói: “Thiếu country để khoá scope”</a:t>
            </a:r>
          </a:p>
          <a:p>
            <a:pPr algn="l">
              <a:spcAft>
                <a:spcPts val="200"/>
              </a:spcAft>
            </a:pPr>
            <a:r>
              <a:rPr sz="950" b="0" i="0">
                <a:solidFill>
                  <a:srgbClr val="33414E"/>
                </a:solidFill>
                <a:latin typeface="Segoe UI"/>
              </a:rPr>
              <a:t/>
            </a:r>
          </a:p>
          <a:p>
            <a:pPr algn="l">
              <a:spcAft>
                <a:spcPts val="200"/>
              </a:spcAft>
            </a:pPr>
            <a:r>
              <a:rPr sz="950" b="0" i="0">
                <a:solidFill>
                  <a:srgbClr val="33414E"/>
                </a:solidFill>
                <a:latin typeface="Segoe UI"/>
              </a:rPr>
              <a:t>Cả hai gợi ý một hành động KHÔNG THỂ giúp gì. Luật mới:</a:t>
            </a:r>
          </a:p>
          <a:p>
            <a:pPr algn="l">
              <a:spcAft>
                <a:spcPts val="200"/>
              </a:spcAft>
            </a:pPr>
            <a:r>
              <a:rPr sz="950" b="0" i="0">
                <a:solidFill>
                  <a:srgbClr val="33414E"/>
                </a:solidFill>
                <a:latin typeface="Segoe UI"/>
              </a:rPr>
              <a:t>min(key=(not fixable, priority)) — issue không khắc phục</a:t>
            </a:r>
          </a:p>
          <a:p>
            <a:pPr algn="l">
              <a:spcAft>
                <a:spcPts val="200"/>
              </a:spcAft>
            </a:pPr>
            <a:r>
              <a:rPr sz="950" b="0" i="0">
                <a:solidFill>
                  <a:srgbClr val="33414E"/>
                </a:solidFill>
                <a:latin typeface="Segoe UI"/>
              </a:rPr>
              <a:t>được thắng, và không kèm gợi ý “hãy nêu rõ 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DeterministicPlanSynthesizer — lớp ngữ pháp đóng chạy không cần LLM</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§5 · Chạy TRƯỚC AnalyticalDecomposer; ngoài ngữ pháp thì chuyển tiếp, không nới</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10</a:t>
            </a:r>
          </a:p>
        </p:txBody>
      </p:sp>
      <p:sp>
        <p:nvSpPr>
          <p:cNvPr id="9" name="Rectangle 8"/>
          <p:cNvSpPr/>
          <p:nvPr/>
        </p:nvSpPr>
        <p:spPr>
          <a:xfrm>
            <a:off x="566928" y="1481328"/>
            <a:ext cx="5669280" cy="228600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664208"/>
            <a:ext cx="5212080" cy="2011680"/>
          </a:xfrm>
          <a:prstGeom prst="rect">
            <a:avLst/>
          </a:prstGeom>
          <a:noFill/>
        </p:spPr>
        <p:txBody>
          <a:bodyPr wrap="square" lIns="0" rIns="0" tIns="0" bIns="0">
            <a:spAutoFit/>
          </a:bodyPr>
          <a:lstStyle/>
          <a:p>
            <a:pPr algn="l">
              <a:spcAft>
                <a:spcPts val="800"/>
              </a:spcAft>
            </a:pPr>
            <a:r>
              <a:rPr sz="1000" b="1" i="0">
                <a:solidFill>
                  <a:srgbClr val="6FC7D1"/>
                </a:solidFill>
                <a:latin typeface="Segoe UI"/>
              </a:rPr>
              <a:t>NGỮ PHÁP RELEASE</a:t>
            </a:r>
          </a:p>
          <a:p>
            <a:pPr algn="l">
              <a:spcAft>
                <a:spcPts val="300"/>
              </a:spcAft>
            </a:pPr>
            <a:r>
              <a:rPr sz="1100" b="0" i="0">
                <a:solidFill>
                  <a:srgbClr val="C8D6E2"/>
                </a:solidFill>
                <a:latin typeface="Consolas"/>
              </a:rPr>
              <a:t>1 bound scalar measure  hoặc  1 certified RatioSpec</a:t>
            </a:r>
          </a:p>
          <a:p>
            <a:pPr algn="l">
              <a:spcAft>
                <a:spcPts val="300"/>
              </a:spcAft>
            </a:pPr>
            <a:r>
              <a:rPr sz="1100" b="0" i="0">
                <a:solidFill>
                  <a:srgbClr val="C8D6E2"/>
                </a:solidFill>
                <a:latin typeface="Consolas"/>
              </a:rPr>
              <a:t>×  0..2 bound dimensions</a:t>
            </a:r>
          </a:p>
          <a:p>
            <a:pPr algn="l">
              <a:spcAft>
                <a:spcPts val="300"/>
              </a:spcAft>
            </a:pPr>
            <a:r>
              <a:rPr sz="1100" b="0" i="0">
                <a:solidFill>
                  <a:srgbClr val="C8D6E2"/>
                </a:solidFill>
                <a:latin typeface="Consolas"/>
              </a:rPr>
              <a:t>×  shape ∈ {scalar, ratio, ranking, comparison, table}</a:t>
            </a:r>
          </a:p>
          <a:p>
            <a:pPr algn="l">
              <a:spcAft>
                <a:spcPts val="300"/>
              </a:spcAft>
            </a:pPr>
            <a:r>
              <a:rPr sz="1100" b="0" i="0">
                <a:solidFill>
                  <a:srgbClr val="C8D6E2"/>
                </a:solidFill>
                <a:latin typeface="Consolas"/>
              </a:rPr>
              <a:t>×  aggregation ∈ CatalogObject.valid_aggregations</a:t>
            </a:r>
          </a:p>
          <a:p>
            <a:pPr algn="l">
              <a:spcAft>
                <a:spcPts val="300"/>
              </a:spcAft>
            </a:pPr>
            <a:r>
              <a:rPr sz="1100" b="0" i="0">
                <a:solidFill>
                  <a:srgbClr val="C8D6E2"/>
                </a:solidFill>
                <a:latin typeface="Consolas"/>
              </a:rPr>
              <a:t>×  country BẮT BUỘC</a:t>
            </a:r>
          </a:p>
          <a:p>
            <a:pPr algn="l">
              <a:spcAft>
                <a:spcPts val="300"/>
              </a:spcAft>
            </a:pPr>
            <a:r>
              <a:rPr sz="1100" b="0" i="0">
                <a:solidFill>
                  <a:srgbClr val="C8D6E2"/>
                </a:solidFill>
                <a:latin typeface="Consolas"/>
              </a:rPr>
              <a:t>×  optional date</a:t>
            </a:r>
          </a:p>
          <a:p>
            <a:pPr algn="l">
              <a:spcAft>
                <a:spcPts val="300"/>
              </a:spcAft>
            </a:pPr>
            <a:r>
              <a:rPr sz="1100" b="0" i="0">
                <a:solidFill>
                  <a:srgbClr val="C8D6E2"/>
                </a:solidFill>
                <a:latin typeface="Consolas"/>
              </a:rPr>
              <a:t>×  ≤ 2 allowed predicate</a:t>
            </a:r>
          </a:p>
          <a:p>
            <a:pPr algn="l">
              <a:spcAft>
                <a:spcPts val="300"/>
              </a:spcAft>
            </a:pPr>
            <a:r>
              <a:rPr sz="1100" b="0" i="0">
                <a:solidFill>
                  <a:srgbClr val="C8D6E2"/>
                </a:solidFill>
                <a:latin typeface="Consolas"/>
              </a:rPr>
              <a:t>×  0..1 certified relation</a:t>
            </a:r>
          </a:p>
        </p:txBody>
      </p:sp>
      <p:sp>
        <p:nvSpPr>
          <p:cNvPr id="11" name="TextBox 10"/>
          <p:cNvSpPr txBox="1"/>
          <p:nvPr/>
        </p:nvSpPr>
        <p:spPr>
          <a:xfrm>
            <a:off x="566928" y="4023360"/>
            <a:ext cx="5669280" cy="4206240"/>
          </a:xfrm>
          <a:prstGeom prst="rect">
            <a:avLst/>
          </a:prstGeom>
          <a:noFill/>
        </p:spPr>
        <p:txBody>
          <a:bodyPr wrap="square" lIns="0" rIns="0" tIns="0" bIns="0">
            <a:spAutoFit/>
          </a:bodyPr>
          <a:lstStyle/>
          <a:p>
            <a:pPr>
              <a:spcAft>
                <a:spcPts val="800"/>
              </a:spcAft>
            </a:pPr>
            <a:r>
              <a:rPr sz="1100">
                <a:solidFill>
                  <a:srgbClr val="0E7C86"/>
                </a:solidFill>
                <a:latin typeface="Segoe UI"/>
              </a:rPr>
              <a:t>▪  </a:t>
            </a:r>
            <a:r>
              <a:rPr sz="1100" b="1">
                <a:solidFill>
                  <a:srgbClr val="141B24"/>
                </a:solidFill>
                <a:latin typeface="Segoe UI"/>
              </a:rPr>
              <a:t>Chỉ nhận binding column | expression | aggregate.</a:t>
            </a:r>
            <a:r>
              <a:rPr sz="1100">
                <a:solidFill>
                  <a:srgbClr val="33414E"/>
                </a:solidFill>
                <a:latin typeface="Segoe UI"/>
              </a:rPr>
              <a:t> tool_computed và context_only không bao giờ vào SQL plan.</a:t>
            </a:r>
          </a:p>
          <a:p>
            <a:pPr>
              <a:spcAft>
                <a:spcPts val="800"/>
              </a:spcAft>
            </a:pPr>
            <a:r>
              <a:rPr sz="1100">
                <a:solidFill>
                  <a:srgbClr val="0E7C86"/>
                </a:solidFill>
                <a:latin typeface="Segoe UI"/>
              </a:rPr>
              <a:t>▪  </a:t>
            </a:r>
            <a:r>
              <a:rPr sz="1100" b="1">
                <a:solidFill>
                  <a:srgbClr val="141B24"/>
                </a:solidFill>
                <a:latin typeface="Segoe UI"/>
              </a:rPr>
              <a:t>find_path() KHÔNG được coi là bằng chứng đủ.</a:t>
            </a:r>
            <a:r>
              <a:rPr sz="1100">
                <a:solidFill>
                  <a:srgbClr val="33414E"/>
                </a:solidFill>
                <a:latin typeface="Segoe UI"/>
              </a:rPr>
              <a:t> Path phải khớp source, direction, grain và compiler adapter.</a:t>
            </a:r>
          </a:p>
          <a:p>
            <a:pPr>
              <a:spcAft>
                <a:spcPts val="800"/>
              </a:spcAft>
            </a:pPr>
            <a:r>
              <a:rPr sz="1100">
                <a:solidFill>
                  <a:srgbClr val="0E7C86"/>
                </a:solidFill>
                <a:latin typeface="Segoe UI"/>
              </a:rPr>
              <a:t>▪  </a:t>
            </a:r>
            <a:r>
              <a:rPr sz="1100" b="1">
                <a:solidFill>
                  <a:srgbClr val="141B24"/>
                </a:solidFill>
                <a:latin typeface="Segoe UI"/>
              </a:rPr>
              <a:t>sum(monthly_sold) bị loại</a:t>
            </a:r>
            <a:r>
              <a:rPr sz="1100">
                <a:solidFill>
                  <a:srgbClr val="33414E"/>
                </a:solidFill>
                <a:latin typeface="Segoe UI"/>
              </a:rPr>
              <a:t> vì catalog không cho phép — cộng proxy qua snapshot là tính trùng.</a:t>
            </a:r>
          </a:p>
        </p:txBody>
      </p:sp>
      <p:sp>
        <p:nvSpPr>
          <p:cNvPr id="12" name="Rectangle 11"/>
          <p:cNvSpPr/>
          <p:nvPr/>
        </p:nvSpPr>
        <p:spPr>
          <a:xfrm>
            <a:off x="6629400" y="1481328"/>
            <a:ext cx="5010912" cy="22860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29400" y="1481328"/>
            <a:ext cx="41148" cy="2286000"/>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0568" y="1627632"/>
            <a:ext cx="4645152" cy="201168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Acceptance — số, không phải lời</a:t>
            </a:r>
          </a:p>
          <a:p>
            <a:pPr algn="l">
              <a:spcAft>
                <a:spcPts val="300"/>
              </a:spcAft>
            </a:pPr>
            <a:r>
              <a:rPr sz="1050" b="0" i="0">
                <a:solidFill>
                  <a:srgbClr val="33414E"/>
                </a:solidFill>
                <a:latin typeface="Segoe UI"/>
              </a:rPr>
              <a:t>Bộ ít nhất 30 NL case có oracle</a:t>
            </a:r>
          </a:p>
          <a:p>
            <a:pPr algn="l">
              <a:spcAft>
                <a:spcPts val="300"/>
              </a:spcAft>
            </a:pPr>
            <a:r>
              <a:rPr sz="1050" b="0" i="0">
                <a:solidFill>
                  <a:srgbClr val="33414E"/>
                </a:solidFill>
                <a:latin typeface="Segoe UI"/>
              </a:rPr>
              <a:t>provider=offline: ≥ 80% case trong grammar → allow</a:t>
            </a:r>
          </a:p>
          <a:p>
            <a:pPr algn="l">
              <a:spcAft>
                <a:spcPts val="300"/>
              </a:spcAft>
            </a:pPr>
            <a:r>
              <a:rPr sz="1050" b="0" i="0">
                <a:solidFill>
                  <a:srgbClr val="33414E"/>
                </a:solidFill>
                <a:latin typeface="Segoe UI"/>
              </a:rPr>
              <a:t>0 case NGOÀI grammar bị synthesizer nhận</a:t>
            </a:r>
          </a:p>
          <a:p>
            <a:pPr algn="l">
              <a:spcAft>
                <a:spcPts val="300"/>
              </a:spcAft>
            </a:pPr>
            <a:r>
              <a:rPr sz="1050" b="0" i="0">
                <a:solidFill>
                  <a:srgbClr val="33414E"/>
                </a:solidFill>
                <a:latin typeface="Segoe UI"/>
              </a:rPr>
              <a:t>Mutation shape/aggregation/grouping → plan phải đổi</a:t>
            </a:r>
          </a:p>
          <a:p>
            <a:pPr algn="l">
              <a:spcAft>
                <a:spcPts val="300"/>
              </a:spcAft>
            </a:pPr>
            <a:r>
              <a:rPr sz="1050" b="0" i="0">
                <a:solidFill>
                  <a:srgbClr val="33414E"/>
                </a:solidFill>
                <a:latin typeface="Segoe UI"/>
              </a:rPr>
              <a:t>     tương ứng hoặc bị chặn</a:t>
            </a:r>
          </a:p>
          <a:p>
            <a:pPr algn="l">
              <a:spcAft>
                <a:spcPts val="300"/>
              </a:spcAft>
            </a:pPr>
            <a:r>
              <a:rPr sz="1050" b="0" i="0">
                <a:solidFill>
                  <a:srgbClr val="33414E"/>
                </a:solidFill>
                <a:latin typeface="Segoe UI"/>
              </a:rPr>
              <a:t>Zero denominator không được thành chia-cho-0,</a:t>
            </a:r>
          </a:p>
          <a:p>
            <a:pPr algn="l">
              <a:spcAft>
                <a:spcPts val="300"/>
              </a:spcAft>
            </a:pPr>
            <a:r>
              <a:rPr sz="1050" b="0" i="0">
                <a:solidFill>
                  <a:srgbClr val="33414E"/>
                </a:solidFill>
                <a:latin typeface="Segoe UI"/>
              </a:rPr>
              <a:t>     count thay thế, hoặc ratio bịa</a:t>
            </a:r>
          </a:p>
        </p:txBody>
      </p:sp>
      <p:sp>
        <p:nvSpPr>
          <p:cNvPr id="15" name="Rectangle 14"/>
          <p:cNvSpPr/>
          <p:nvPr/>
        </p:nvSpPr>
        <p:spPr>
          <a:xfrm>
            <a:off x="6629400" y="4023360"/>
            <a:ext cx="5010912" cy="20116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629400" y="4023360"/>
            <a:ext cx="41148" cy="20116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30568" y="4169664"/>
            <a:ext cx="4645152" cy="173736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Vì sao lớp này quan trọng hơn vẻ ngoài của nó</a:t>
            </a:r>
          </a:p>
          <a:p>
            <a:pPr algn="l">
              <a:spcAft>
                <a:spcPts val="300"/>
              </a:spcAft>
            </a:pPr>
            <a:r>
              <a:rPr sz="1050" b="0" i="0">
                <a:solidFill>
                  <a:srgbClr val="33414E"/>
                </a:solidFill>
                <a:latin typeface="Segoe UI"/>
              </a:rPr>
              <a:t>Đây là lớp trả lời được mà KHÔNG tốn một lời gọi LLM nào.</a:t>
            </a:r>
          </a:p>
          <a:p>
            <a:pPr algn="l">
              <a:spcAft>
                <a:spcPts val="300"/>
              </a:spcAft>
            </a:pPr>
            <a:r>
              <a:rPr sz="1050" b="0" i="0">
                <a:solidFill>
                  <a:srgbClr val="33414E"/>
                </a:solidFill>
                <a:latin typeface="Segoe UI"/>
              </a:rPr>
              <a:t/>
            </a:r>
          </a:p>
          <a:p>
            <a:pPr algn="l">
              <a:spcAft>
                <a:spcPts val="300"/>
              </a:spcAft>
            </a:pPr>
            <a:r>
              <a:rPr sz="1050" b="0" i="0">
                <a:solidFill>
                  <a:srgbClr val="33414E"/>
                </a:solidFill>
                <a:latin typeface="Segoe UI"/>
              </a:rPr>
              <a:t>Mỗi câu rơi vào ngữ pháp đóng là một câu:</a:t>
            </a:r>
          </a:p>
          <a:p>
            <a:pPr algn="l">
              <a:spcAft>
                <a:spcPts val="300"/>
              </a:spcAft>
            </a:pPr>
            <a:r>
              <a:rPr sz="1050" b="0" i="0">
                <a:solidFill>
                  <a:srgbClr val="33414E"/>
                </a:solidFill>
                <a:latin typeface="Segoe UI"/>
              </a:rPr>
              <a:t>  · không có rủi ro model sinh plan sai</a:t>
            </a:r>
          </a:p>
          <a:p>
            <a:pPr algn="l">
              <a:spcAft>
                <a:spcPts val="300"/>
              </a:spcAft>
            </a:pPr>
            <a:r>
              <a:rPr sz="1050" b="0" i="0">
                <a:solidFill>
                  <a:srgbClr val="33414E"/>
                </a:solidFill>
                <a:latin typeface="Segoe UI"/>
              </a:rPr>
              <a:t>  · độ trễ tính bằng mili-giây, không phải chục giây</a:t>
            </a:r>
          </a:p>
          <a:p>
            <a:pPr algn="l">
              <a:spcAft>
                <a:spcPts val="300"/>
              </a:spcAft>
            </a:pPr>
            <a:r>
              <a:rPr sz="1050" b="0" i="0">
                <a:solidFill>
                  <a:srgbClr val="33414E"/>
                </a:solidFill>
                <a:latin typeface="Segoe UI"/>
              </a:rPr>
              <a:t>  · tái lập 100% giữa các lần chạy</a:t>
            </a:r>
          </a:p>
          <a:p>
            <a:pPr algn="l">
              <a:spcAft>
                <a:spcPts val="300"/>
              </a:spcAft>
            </a:pPr>
            <a:r>
              <a:rPr sz="1050" b="0" i="0">
                <a:solidFill>
                  <a:srgbClr val="33414E"/>
                </a:solidFill>
                <a:latin typeface="Segoe UI"/>
              </a:rPr>
              <a:t/>
            </a:r>
          </a:p>
          <a:p>
            <a:pPr algn="l">
              <a:spcAft>
                <a:spcPts val="300"/>
              </a:spcAft>
            </a:pPr>
            <a:r>
              <a:rPr sz="1050" b="0" i="0">
                <a:solidFill>
                  <a:srgbClr val="33414E"/>
                </a:solidFill>
                <a:latin typeface="Segoe UI"/>
              </a:rPr>
              <a:t>Ngữ pháp hẹp là lựa chọn có chủ đích, không phải thiếu sót.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AnalyticalDecomposer — tách câu hỏi phức hợp mà không mất ràng buộc</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§8 · Thay OpenAnalyticalPlanner. LLM chỉ đề xuất CÁCH TÁCH, không sinh SQL</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11</a:t>
            </a:r>
          </a:p>
        </p:txBody>
      </p:sp>
      <p:sp>
        <p:nvSpPr>
          <p:cNvPr id="9" name="TextBox 8"/>
          <p:cNvSpPr txBox="1"/>
          <p:nvPr/>
        </p:nvSpPr>
        <p:spPr>
          <a:xfrm>
            <a:off x="566928" y="1481328"/>
            <a:ext cx="5669280" cy="320040"/>
          </a:xfrm>
          <a:prstGeom prst="rect">
            <a:avLst/>
          </a:prstGeom>
          <a:noFill/>
        </p:spPr>
        <p:txBody>
          <a:bodyPr wrap="square" lIns="0" rIns="0" tIns="0" bIns="0">
            <a:spAutoFit/>
          </a:bodyPr>
          <a:lstStyle/>
          <a:p>
            <a:pPr algn="l">
              <a:spcAft>
                <a:spcPts val="0"/>
              </a:spcAft>
            </a:pPr>
            <a:r>
              <a:rPr sz="1200" b="1" i="0">
                <a:solidFill>
                  <a:srgbClr val="141B24"/>
                </a:solidFill>
                <a:latin typeface="Segoe UI"/>
              </a:rPr>
              <a:t>Bốn composition operator — tập ĐÓNG, mỗi cái một hợp đồng riêng</a:t>
            </a:r>
          </a:p>
        </p:txBody>
      </p:sp>
      <p:sp>
        <p:nvSpPr>
          <p:cNvPr id="10" name="Rectangle 9"/>
          <p:cNvSpPr/>
          <p:nvPr/>
        </p:nvSpPr>
        <p:spPr>
          <a:xfrm>
            <a:off x="566928" y="1901952"/>
            <a:ext cx="5669280" cy="9144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901952"/>
            <a:ext cx="41148" cy="9144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002536"/>
            <a:ext cx="5303520" cy="777240"/>
          </a:xfrm>
          <a:prstGeom prst="rect">
            <a:avLst/>
          </a:prstGeom>
          <a:noFill/>
        </p:spPr>
        <p:txBody>
          <a:bodyPr wrap="square" lIns="0" rIns="0" tIns="0" bIns="0">
            <a:spAutoFit/>
          </a:bodyPr>
          <a:lstStyle/>
          <a:p>
            <a:pPr algn="l">
              <a:spcAft>
                <a:spcPts val="200"/>
              </a:spcAft>
            </a:pPr>
            <a:r>
              <a:rPr sz="1150" b="1" i="0">
                <a:solidFill>
                  <a:srgbClr val="0E7C86"/>
                </a:solidFill>
                <a:latin typeface="Consolas"/>
              </a:rPr>
              <a:t>side_by_side</a:t>
            </a:r>
          </a:p>
          <a:p>
            <a:pPr algn="l">
              <a:spcAft>
                <a:spcPts val="400"/>
              </a:spcAft>
            </a:pPr>
            <a:r>
              <a:rPr sz="950" b="0" i="0">
                <a:solidFill>
                  <a:srgbClr val="6B7A8A"/>
                </a:solidFill>
                <a:latin typeface="Segoe UI"/>
              </a:rPr>
              <a:t>2–4 input · trình bày cạnh nhau</a:t>
            </a:r>
          </a:p>
          <a:p>
            <a:pPr algn="l">
              <a:spcAft>
                <a:spcPts val="0"/>
              </a:spcAft>
            </a:pPr>
            <a:r>
              <a:rPr sz="1000" b="0" i="0">
                <a:solidFill>
                  <a:srgbClr val="33414E"/>
                </a:solidFill>
                <a:latin typeface="Segoe UI"/>
              </a:rPr>
              <a:t>Cho phép khác grain/unit. CẤM join, sum, average hoặc so sánh số tự động.</a:t>
            </a:r>
          </a:p>
        </p:txBody>
      </p:sp>
      <p:sp>
        <p:nvSpPr>
          <p:cNvPr id="13" name="Rectangle 12"/>
          <p:cNvSpPr/>
          <p:nvPr/>
        </p:nvSpPr>
        <p:spPr>
          <a:xfrm>
            <a:off x="566928" y="2926080"/>
            <a:ext cx="5669280" cy="9144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926080"/>
            <a:ext cx="41148" cy="91440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3026664"/>
            <a:ext cx="5303520" cy="777240"/>
          </a:xfrm>
          <a:prstGeom prst="rect">
            <a:avLst/>
          </a:prstGeom>
          <a:noFill/>
        </p:spPr>
        <p:txBody>
          <a:bodyPr wrap="square" lIns="0" rIns="0" tIns="0" bIns="0">
            <a:spAutoFit/>
          </a:bodyPr>
          <a:lstStyle/>
          <a:p>
            <a:pPr algn="l">
              <a:spcAft>
                <a:spcPts val="200"/>
              </a:spcAft>
            </a:pPr>
            <a:r>
              <a:rPr sz="1150" b="1" i="0">
                <a:solidFill>
                  <a:srgbClr val="1E4D8C"/>
                </a:solidFill>
                <a:latin typeface="Consolas"/>
              </a:rPr>
              <a:t>union_scope</a:t>
            </a:r>
          </a:p>
          <a:p>
            <a:pPr algn="l">
              <a:spcAft>
                <a:spcPts val="400"/>
              </a:spcAft>
            </a:pPr>
            <a:r>
              <a:rPr sz="950" b="0" i="0">
                <a:solidFill>
                  <a:srgbClr val="6B7A8A"/>
                </a:solidFill>
                <a:latin typeface="Segoe UI"/>
              </a:rPr>
              <a:t>2–4 input · cùng phép đo, scope rời nhau</a:t>
            </a:r>
          </a:p>
          <a:p>
            <a:pPr algn="l">
              <a:spcAft>
                <a:spcPts val="0"/>
              </a:spcAft>
            </a:pPr>
            <a:r>
              <a:rPr sz="1000" b="0" i="0">
                <a:solidFill>
                  <a:srgbClr val="33414E"/>
                </a:solidFill>
                <a:latin typeface="Segoe UI"/>
              </a:rPr>
              <a:t>Schema/unit/grain giống nhau. VN+ID chỉ union để TRÌNH BÀY, aggregatable=false.</a:t>
            </a:r>
          </a:p>
        </p:txBody>
      </p:sp>
      <p:sp>
        <p:nvSpPr>
          <p:cNvPr id="16" name="Rectangle 15"/>
          <p:cNvSpPr/>
          <p:nvPr/>
        </p:nvSpPr>
        <p:spPr>
          <a:xfrm>
            <a:off x="566928" y="3950208"/>
            <a:ext cx="5669280" cy="9144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950208"/>
            <a:ext cx="41148" cy="91440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050792"/>
            <a:ext cx="5303520" cy="777240"/>
          </a:xfrm>
          <a:prstGeom prst="rect">
            <a:avLst/>
          </a:prstGeom>
          <a:noFill/>
        </p:spPr>
        <p:txBody>
          <a:bodyPr wrap="square" lIns="0" rIns="0" tIns="0" bIns="0">
            <a:spAutoFit/>
          </a:bodyPr>
          <a:lstStyle/>
          <a:p>
            <a:pPr algn="l">
              <a:spcAft>
                <a:spcPts val="200"/>
              </a:spcAft>
            </a:pPr>
            <a:r>
              <a:rPr sz="1150" b="1" i="0">
                <a:solidFill>
                  <a:srgbClr val="C96F1E"/>
                </a:solidFill>
                <a:latin typeface="Consolas"/>
              </a:rPr>
              <a:t>join_on_relation</a:t>
            </a:r>
          </a:p>
          <a:p>
            <a:pPr algn="l">
              <a:spcAft>
                <a:spcPts val="400"/>
              </a:spcAft>
            </a:pPr>
            <a:r>
              <a:rPr sz="950" b="0" i="0">
                <a:solidFill>
                  <a:srgbClr val="6B7A8A"/>
                </a:solidFill>
                <a:latin typeface="Segoe UI"/>
              </a:rPr>
              <a:t>đúng 2 input · nối qua relation đã chứng nhận</a:t>
            </a:r>
          </a:p>
          <a:p>
            <a:pPr algn="l">
              <a:spcAft>
                <a:spcPts val="0"/>
              </a:spcAft>
            </a:pPr>
            <a:r>
              <a:rPr sz="1000" b="0" i="0">
                <a:solidFill>
                  <a:srgbClr val="33414E"/>
                </a:solidFill>
                <a:latin typeface="Segoe UI"/>
              </a:rPr>
              <a:t>Chỉ 1:1, N:1, 1:N khi cardinality assertion pass. N:M mặc định disabled.</a:t>
            </a:r>
          </a:p>
        </p:txBody>
      </p:sp>
      <p:sp>
        <p:nvSpPr>
          <p:cNvPr id="19" name="Rectangle 18"/>
          <p:cNvSpPr/>
          <p:nvPr/>
        </p:nvSpPr>
        <p:spPr>
          <a:xfrm>
            <a:off x="566928" y="4974336"/>
            <a:ext cx="5669280" cy="9144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974336"/>
            <a:ext cx="41148" cy="914400"/>
          </a:xfrm>
          <a:prstGeom prst="rect">
            <a:avLst/>
          </a:prstGeom>
          <a:solidFill>
            <a:srgbClr val="6B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074920"/>
            <a:ext cx="5303520" cy="777240"/>
          </a:xfrm>
          <a:prstGeom prst="rect">
            <a:avLst/>
          </a:prstGeom>
          <a:noFill/>
        </p:spPr>
        <p:txBody>
          <a:bodyPr wrap="square" lIns="0" rIns="0" tIns="0" bIns="0">
            <a:spAutoFit/>
          </a:bodyPr>
          <a:lstStyle/>
          <a:p>
            <a:pPr algn="l">
              <a:spcAft>
                <a:spcPts val="200"/>
              </a:spcAft>
            </a:pPr>
            <a:r>
              <a:rPr sz="1150" b="1" i="0">
                <a:solidFill>
                  <a:srgbClr val="6B468F"/>
                </a:solidFill>
                <a:latin typeface="Consolas"/>
              </a:rPr>
              <a:t>filter_then_measure</a:t>
            </a:r>
          </a:p>
          <a:p>
            <a:pPr algn="l">
              <a:spcAft>
                <a:spcPts val="400"/>
              </a:spcAft>
            </a:pPr>
            <a:r>
              <a:rPr sz="950" b="0" i="0">
                <a:solidFill>
                  <a:srgbClr val="6B7A8A"/>
                </a:solidFill>
                <a:latin typeface="Segoe UI"/>
              </a:rPr>
              <a:t>đúng 2 input · producer sinh entity, consumer đo</a:t>
            </a:r>
          </a:p>
          <a:p>
            <a:pPr algn="l">
              <a:spcAft>
                <a:spcPts val="0"/>
              </a:spcAft>
            </a:pPr>
            <a:r>
              <a:rPr sz="1000" b="0" i="0">
                <a:solidFill>
                  <a:srgbClr val="33414E"/>
                </a:solidFill>
                <a:latin typeface="Segoe UI"/>
              </a:rPr>
              <a:t>Key set lấy từ EXECUTION RESULT, không từ LLM. Tối đa 500 key.</a:t>
            </a:r>
          </a:p>
        </p:txBody>
      </p:sp>
      <p:sp>
        <p:nvSpPr>
          <p:cNvPr id="22" name="Rectangle 21"/>
          <p:cNvSpPr/>
          <p:nvPr/>
        </p:nvSpPr>
        <p:spPr>
          <a:xfrm>
            <a:off x="6629400" y="1481328"/>
            <a:ext cx="5010912" cy="22128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629400" y="1481328"/>
            <a:ext cx="41148" cy="2212848"/>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0568" y="1627632"/>
            <a:ext cx="4645152" cy="1938528"/>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Không dùng quy tắc “hai topic thì luôn tách”</a:t>
            </a:r>
          </a:p>
          <a:p>
            <a:pPr algn="l">
              <a:spcAft>
                <a:spcPts val="300"/>
              </a:spcAft>
            </a:pPr>
            <a:r>
              <a:rPr sz="1000" b="0" i="0">
                <a:solidFill>
                  <a:srgbClr val="33414E"/>
                </a:solidFill>
                <a:latin typeface="Segoe UI"/>
              </a:rPr>
              <a:t>AtomicFeasibilityAnalyzer phải CHỨNG MINH một atomic plan</a:t>
            </a:r>
          </a:p>
          <a:p>
            <a:pPr algn="l">
              <a:spcAft>
                <a:spcPts val="300"/>
              </a:spcAft>
            </a:pPr>
            <a:r>
              <a:rPr sz="1000" b="0" i="0">
                <a:solidFill>
                  <a:srgbClr val="33414E"/>
                </a:solidFill>
                <a:latin typeface="Segoe UI"/>
              </a:rPr>
              <a:t>không đủ, trước khi được phép tách:</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  · mọi SQL-bound ref trong một connected relation graph?</a:t>
            </a:r>
          </a:p>
          <a:p>
            <a:pPr algn="l">
              <a:spcAft>
                <a:spcPts val="300"/>
              </a:spcAft>
            </a:pPr>
            <a:r>
              <a:rPr sz="1000" b="0" i="0">
                <a:solidFill>
                  <a:srgbClr val="33414E"/>
                </a:solidFill>
                <a:latin typeface="Segoe UI"/>
              </a:rPr>
              <a:t>  · có đúng MỘT target grain hợp lệ?</a:t>
            </a:r>
          </a:p>
          <a:p>
            <a:pPr algn="l">
              <a:spcAft>
                <a:spcPts val="300"/>
              </a:spcAft>
            </a:pPr>
            <a:r>
              <a:rPr sz="1000" b="0" i="0">
                <a:solidFill>
                  <a:srgbClr val="33414E"/>
                </a:solidFill>
                <a:latin typeface="Segoe UI"/>
              </a:rPr>
              <a:t>  · unit tương thích? fanout có dedupe?</a:t>
            </a:r>
          </a:p>
          <a:p>
            <a:pPr algn="l">
              <a:spcAft>
                <a:spcPts val="300"/>
              </a:spcAft>
            </a:pPr>
            <a:r>
              <a:rPr sz="1000" b="0" i="0">
                <a:solidFill>
                  <a:srgbClr val="33414E"/>
                </a:solidFill>
                <a:latin typeface="Segoe UI"/>
              </a:rPr>
              <a:t>  · output shape biểu diễn được bằng atomic IR?</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Nhiều grain đều hợp lệ ⇒ trả ambiguous_target_grain và</a:t>
            </a:r>
          </a:p>
          <a:p>
            <a:pPr algn="l">
              <a:spcAft>
                <a:spcPts val="300"/>
              </a:spcAft>
            </a:pPr>
            <a:r>
              <a:rPr sz="1000" b="0" i="0">
                <a:solidFill>
                  <a:srgbClr val="33414E"/>
                </a:solidFill>
                <a:latin typeface="Segoe UI"/>
              </a:rPr>
              <a:t>CLARIFY — không chọn theo path cost hay thứ tự tên.</a:t>
            </a:r>
          </a:p>
        </p:txBody>
      </p:sp>
      <p:sp>
        <p:nvSpPr>
          <p:cNvPr id="25" name="Rectangle 24"/>
          <p:cNvSpPr/>
          <p:nvPr/>
        </p:nvSpPr>
        <p:spPr>
          <a:xfrm>
            <a:off x="6629400" y="3858768"/>
            <a:ext cx="5010912" cy="21762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629400" y="3858768"/>
            <a:ext cx="41148" cy="2176272"/>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30568" y="4005072"/>
            <a:ext cx="4645152" cy="1901952"/>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Ranh giới quyền của LLM trong khâu này</a:t>
            </a:r>
          </a:p>
          <a:p>
            <a:pPr algn="l">
              <a:spcAft>
                <a:spcPts val="300"/>
              </a:spcAft>
            </a:pPr>
            <a:r>
              <a:rPr sz="1000" b="0" i="0">
                <a:solidFill>
                  <a:srgbClr val="33414E"/>
                </a:solidFill>
                <a:latin typeface="Segoe UI"/>
              </a:rPr>
              <a:t>ĐƯỢC:  đề xuất subrequest, covered atom IDs, compose op</a:t>
            </a:r>
          </a:p>
          <a:p>
            <a:pPr algn="l">
              <a:spcAft>
                <a:spcPts val="300"/>
              </a:spcAft>
            </a:pPr>
            <a:r>
              <a:rPr sz="1000" b="0" i="0">
                <a:solidFill>
                  <a:srgbClr val="33414E"/>
                </a:solidFill>
                <a:latin typeface="Segoe UI"/>
              </a:rPr>
              <a:t>CẤM:   sinh SQL, physical column, file path, join key</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request_hash · digest_hash · request_atoms do CALLER bọc</a:t>
            </a:r>
          </a:p>
          <a:p>
            <a:pPr algn="l">
              <a:spcAft>
                <a:spcPts val="300"/>
              </a:spcAft>
            </a:pPr>
            <a:r>
              <a:rPr sz="1000" b="0" i="0">
                <a:solidFill>
                  <a:srgbClr val="33414E"/>
                </a:solidFill>
                <a:latin typeface="Segoe UI"/>
              </a:rPr>
              <a:t>từ trusted root state. Mọi giá trị model lặp lại trusted</a:t>
            </a:r>
          </a:p>
          <a:p>
            <a:pPr algn="l">
              <a:spcAft>
                <a:spcPts val="300"/>
              </a:spcAft>
            </a:pPr>
            <a:r>
              <a:rPr sz="1000" b="0" i="0">
                <a:solidFill>
                  <a:srgbClr val="33414E"/>
                </a:solidFill>
                <a:latin typeface="Segoe UI"/>
              </a:rPr>
              <a:t>field bị REJECT, không dùng để ghi đè.</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Call budget: 1 proposal + 1/subplan + 1 repair/subplan,</a:t>
            </a:r>
          </a:p>
          <a:p>
            <a:pPr algn="l">
              <a:spcAft>
                <a:spcPts val="300"/>
              </a:spcAft>
            </a:pPr>
            <a:r>
              <a:rPr sz="1000" b="0" i="0">
                <a:solidFill>
                  <a:srgbClr val="33414E"/>
                </a:solidFill>
                <a:latin typeface="Segoe UI"/>
              </a:rPr>
              <a:t>tối đa 4 subplan, mặc định 9 call/request. Vượt → fail-closed,</a:t>
            </a:r>
          </a:p>
          <a:p>
            <a:pPr algn="l">
              <a:spcAft>
                <a:spcPts val="300"/>
              </a:spcAft>
            </a:pPr>
            <a:r>
              <a:rPr sz="1000" b="0" i="0">
                <a:solidFill>
                  <a:srgbClr val="33414E"/>
                </a:solidFill>
                <a:latin typeface="Segoe UI"/>
              </a:rPr>
              <a:t>không hạ xuống macro gần nhất.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Topic-routed context và ContextPacker — budget là hợp đồng, không phải gợi ý</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CHART 2/4 · §6–7 · Token budget mặc định theo từng stage, ghi vào trace</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12</a:t>
            </a:r>
          </a:p>
        </p:txBody>
      </p:sp>
      <p:graphicFrame>
        <p:nvGraphicFramePr>
          <p:cNvPr id="9" name="Chart 8"/>
          <p:cNvGraphicFramePr>
            <a:graphicFrameLocks noGrp="1"/>
          </p:cNvGraphicFramePr>
          <p:nvPr/>
        </p:nvGraphicFramePr>
        <p:xfrm>
          <a:off x="566928" y="1627632"/>
          <a:ext cx="6537960" cy="3200400"/>
        </p:xfrm>
        <a:graphic>
          <a:graphicData uri="http://schemas.openxmlformats.org/drawingml/2006/chart">
            <c:chart xmlns:c="http://schemas.openxmlformats.org/drawingml/2006/chart" r:id="rId2"/>
          </a:graphicData>
        </a:graphic>
      </p:graphicFrame>
      <p:sp>
        <p:nvSpPr>
          <p:cNvPr id="10" name="TextBox 9"/>
          <p:cNvSpPr txBox="1"/>
          <p:nvPr/>
        </p:nvSpPr>
        <p:spPr>
          <a:xfrm>
            <a:off x="566928" y="4937760"/>
            <a:ext cx="6537960" cy="4206240"/>
          </a:xfrm>
          <a:prstGeom prst="rect">
            <a:avLst/>
          </a:prstGeom>
          <a:noFill/>
        </p:spPr>
        <p:txBody>
          <a:bodyPr wrap="square" lIns="0" rIns="0" tIns="0" bIns="0">
            <a:spAutoFit/>
          </a:bodyPr>
          <a:lstStyle/>
          <a:p>
            <a:pPr>
              <a:spcAft>
                <a:spcPts val="700"/>
              </a:spcAft>
            </a:pPr>
            <a:r>
              <a:rPr sz="1100">
                <a:solidFill>
                  <a:srgbClr val="0E7C86"/>
                </a:solidFill>
                <a:latin typeface="Segoe UI"/>
              </a:rPr>
              <a:t>▪  </a:t>
            </a:r>
            <a:r>
              <a:rPr sz="1100" b="1">
                <a:solidFill>
                  <a:srgbClr val="141B24"/>
                </a:solidFill>
                <a:latin typeface="Segoe UI"/>
              </a:rPr>
              <a:t>Packer tự canonical-render rồi tự đếm token —</a:t>
            </a:r>
            <a:r>
              <a:rPr sz="1100">
                <a:solidFill>
                  <a:srgbClr val="33414E"/>
                </a:solidFill>
                <a:latin typeface="Segoe UI"/>
              </a:rPr>
              <a:t> không tin estimated_tokens do caller truyền.</a:t>
            </a:r>
          </a:p>
          <a:p>
            <a:pPr>
              <a:spcAft>
                <a:spcPts val="700"/>
              </a:spcAft>
            </a:pPr>
            <a:r>
              <a:rPr sz="1100">
                <a:solidFill>
                  <a:srgbClr val="0E7C86"/>
                </a:solidFill>
                <a:latin typeface="Segoe UI"/>
              </a:rPr>
              <a:t>▪  </a:t>
            </a:r>
            <a:r>
              <a:rPr sz="1100" b="1">
                <a:solidFill>
                  <a:srgbClr val="141B24"/>
                </a:solidFill>
                <a:latin typeface="Segoe UI"/>
              </a:rPr>
              <a:t>Không bao giờ drop:</a:t>
            </a:r>
            <a:r>
              <a:rPr sz="1100">
                <a:solidFill>
                  <a:srgbClr val="33414E"/>
                </a:solidFill>
                <a:latin typeface="Segoe UI"/>
              </a:rPr>
              <a:t> hard constraints · digest · required refs/relations · validator feedback cho repair. Hard block vượt budget ⇒ fail context_budget_unsatisfied, KHÔNG cắt invariant.</a:t>
            </a:r>
          </a:p>
        </p:txBody>
      </p:sp>
      <p:sp>
        <p:nvSpPr>
          <p:cNvPr id="11" name="Rectangle 10"/>
          <p:cNvSpPr/>
          <p:nvPr/>
        </p:nvSpPr>
        <p:spPr>
          <a:xfrm>
            <a:off x="7406640" y="1627632"/>
            <a:ext cx="4233672" cy="2377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06640" y="1627632"/>
            <a:ext cx="41148" cy="2377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07808" y="1773936"/>
            <a:ext cx="3867912" cy="210312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TopicRouter chỉ THU HẸP, không cấp quyền</a:t>
            </a:r>
          </a:p>
          <a:p>
            <a:pPr algn="l">
              <a:spcAft>
                <a:spcPts val="300"/>
              </a:spcAft>
            </a:pPr>
            <a:r>
              <a:rPr sz="1000" b="0" i="0">
                <a:solidFill>
                  <a:srgbClr val="33414E"/>
                </a:solidFill>
                <a:latin typeface="Segoe UI"/>
              </a:rPr>
              <a:t>Router KHÔNG chọn intent hay capability</a:t>
            </a:r>
          </a:p>
          <a:p>
            <a:pPr algn="l">
              <a:spcAft>
                <a:spcPts val="300"/>
              </a:spcAft>
            </a:pPr>
            <a:r>
              <a:rPr sz="1000" b="0" i="0">
                <a:solidFill>
                  <a:srgbClr val="33414E"/>
                </a:solidFill>
                <a:latin typeface="Segoe UI"/>
              </a:rPr>
              <a:t>Router KHÔNG mở ref / relation / filter mới</a:t>
            </a:r>
          </a:p>
          <a:p>
            <a:pPr algn="l">
              <a:spcAft>
                <a:spcPts val="300"/>
              </a:spcAft>
            </a:pPr>
            <a:r>
              <a:rPr sz="1000" b="0" i="0">
                <a:solidFill>
                  <a:srgbClr val="33414E"/>
                </a:solidFill>
                <a:latin typeface="Segoe UI"/>
              </a:rPr>
              <a:t>Router KHÔNG ra safety decision</a:t>
            </a:r>
          </a:p>
          <a:p>
            <a:pPr algn="l">
              <a:spcAft>
                <a:spcPts val="300"/>
              </a:spcAft>
            </a:pPr>
            <a:r>
              <a:rPr sz="1000" b="0" i="0">
                <a:solidFill>
                  <a:srgbClr val="33414E"/>
                </a:solidFill>
                <a:latin typeface="Segoe UI"/>
              </a:rPr>
              <a:t>Router chỉ chọn context item cho planner</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Topic chưa qua gate ⇒ về broad slice đã admit,</a:t>
            </a:r>
          </a:p>
          <a:p>
            <a:pPr algn="l">
              <a:spcAft>
                <a:spcPts val="300"/>
              </a:spcAft>
            </a:pPr>
            <a:r>
              <a:rPr sz="1000" b="0" i="0">
                <a:solidFill>
                  <a:srgbClr val="33414E"/>
                </a:solidFill>
                <a:latin typeface="Segoe UI"/>
              </a:rPr>
              <a:t>ghi topic_gate_disabled, KHÔNG đổi capability.</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Không bao giờ bỏ topic thứ ba — overflow giữ</a:t>
            </a:r>
          </a:p>
          <a:p>
            <a:pPr algn="l">
              <a:spcAft>
                <a:spcPts val="300"/>
              </a:spcAft>
            </a:pPr>
            <a:r>
              <a:rPr sz="1000" b="0" i="0">
                <a:solidFill>
                  <a:srgbClr val="33414E"/>
                </a:solidFill>
                <a:latin typeface="Segoe UI"/>
              </a:rPr>
              <a:t>toàn bộ metadata, router không truncate.</a:t>
            </a:r>
          </a:p>
        </p:txBody>
      </p:sp>
      <p:sp>
        <p:nvSpPr>
          <p:cNvPr id="14" name="Rectangle 13"/>
          <p:cNvSpPr/>
          <p:nvPr/>
        </p:nvSpPr>
        <p:spPr>
          <a:xfrm>
            <a:off x="7406640" y="4160520"/>
            <a:ext cx="4233672" cy="1874519"/>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06640" y="4160520"/>
            <a:ext cx="41148" cy="1874519"/>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07808" y="4306824"/>
            <a:ext cx="3867912" cy="1600199"/>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Điều kiện bật routing — không có ngoại lệ</a:t>
            </a:r>
          </a:p>
          <a:p>
            <a:pPr algn="l">
              <a:spcAft>
                <a:spcPts val="300"/>
              </a:spcAft>
            </a:pPr>
            <a:r>
              <a:rPr sz="1000" b="0" i="0">
                <a:solidFill>
                  <a:srgbClr val="33414E"/>
                </a:solidFill>
                <a:latin typeface="Segoe UI"/>
              </a:rPr>
              <a:t>required-ref recall        = 100%</a:t>
            </a:r>
          </a:p>
          <a:p>
            <a:pPr algn="l">
              <a:spcAft>
                <a:spcPts val="300"/>
              </a:spcAft>
            </a:pPr>
            <a:r>
              <a:rPr sz="1000" b="0" i="0">
                <a:solidFill>
                  <a:srgbClr val="33414E"/>
                </a:solidFill>
                <a:latin typeface="Segoe UI"/>
              </a:rPr>
              <a:t>required-relation recall   = 100%</a:t>
            </a:r>
          </a:p>
          <a:p>
            <a:pPr algn="l">
              <a:spcAft>
                <a:spcPts val="300"/>
              </a:spcAft>
            </a:pPr>
            <a:r>
              <a:rPr sz="1000" b="0" i="0">
                <a:solidFill>
                  <a:srgbClr val="33414E"/>
                </a:solidFill>
                <a:latin typeface="Segoe UI"/>
              </a:rPr>
              <a:t>plan-valid rate            không giảm</a:t>
            </a:r>
          </a:p>
          <a:p>
            <a:pPr algn="l">
              <a:spcAft>
                <a:spcPts val="300"/>
              </a:spcAft>
            </a:pPr>
            <a:r>
              <a:rPr sz="1000" b="0" i="0">
                <a:solidFill>
                  <a:srgbClr val="33414E"/>
                </a:solidFill>
                <a:latin typeface="Segoe UI"/>
              </a:rPr>
              <a:t>false_allow_rate           = 0</a:t>
            </a:r>
          </a:p>
          <a:p>
            <a:pPr algn="l">
              <a:spcAft>
                <a:spcPts val="300"/>
              </a:spcAft>
            </a:pPr>
            <a:r>
              <a:rPr sz="1000" b="0" i="0">
                <a:solidFill>
                  <a:srgbClr val="33414E"/>
                </a:solidFill>
                <a:latin typeface="Segoe UI"/>
              </a:rPr>
              <a:t>mọi adversarial case       pass</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Token giảm là mục tiêu PHỤ, không được đem</a:t>
            </a:r>
          </a:p>
          <a:p>
            <a:pPr algn="l">
              <a:spcAft>
                <a:spcPts val="300"/>
              </a:spcAft>
            </a:pPr>
            <a:r>
              <a:rPr sz="1000" b="0" i="0">
                <a:solidFill>
                  <a:srgbClr val="33414E"/>
                </a:solidFill>
                <a:latin typeface="Segoe UI"/>
              </a:rPr>
              <a:t>đổi lấy correctness.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Chuỗi truy vết — vì sao mỗi con số đều chỉ về được nguồn gốc của nó</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Evidence là bản ghi bắt buộc, không phải metadata tuỳ chọn</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13</a:t>
            </a:r>
          </a:p>
        </p:txBody>
      </p:sp>
      <p:sp>
        <p:nvSpPr>
          <p:cNvPr id="9" name="Rectangle 8"/>
          <p:cNvSpPr/>
          <p:nvPr/>
        </p:nvSpPr>
        <p:spPr>
          <a:xfrm>
            <a:off x="566928" y="1481328"/>
            <a:ext cx="1719072" cy="14173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81328"/>
            <a:ext cx="1719072" cy="4572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664208"/>
            <a:ext cx="1463040" cy="1188720"/>
          </a:xfrm>
          <a:prstGeom prst="rect">
            <a:avLst/>
          </a:prstGeom>
          <a:noFill/>
        </p:spPr>
        <p:txBody>
          <a:bodyPr wrap="square" lIns="0" rIns="0" tIns="0" bIns="0">
            <a:spAutoFit/>
          </a:bodyPr>
          <a:lstStyle/>
          <a:p>
            <a:pPr algn="l">
              <a:spcAft>
                <a:spcPts val="500"/>
              </a:spcAft>
            </a:pPr>
            <a:r>
              <a:rPr sz="1050" b="1" i="0">
                <a:solidFill>
                  <a:srgbClr val="141B24"/>
                </a:solidFill>
                <a:latin typeface="Segoe UI"/>
              </a:rPr>
              <a:t>Dataset version</a:t>
            </a:r>
          </a:p>
          <a:p>
            <a:pPr algn="l">
              <a:spcAft>
                <a:spcPts val="0"/>
              </a:spcAft>
            </a:pPr>
            <a:r>
              <a:rPr sz="880" b="0" i="0">
                <a:solidFill>
                  <a:srgbClr val="33414E"/>
                </a:solidFill>
                <a:latin typeface="Segoe UI"/>
              </a:rPr>
              <a:t>hash immutable, pin cho TOÀN request</a:t>
            </a:r>
          </a:p>
        </p:txBody>
      </p:sp>
      <p:sp>
        <p:nvSpPr>
          <p:cNvPr id="12" name="TextBox 11"/>
          <p:cNvSpPr txBox="1"/>
          <p:nvPr/>
        </p:nvSpPr>
        <p:spPr>
          <a:xfrm>
            <a:off x="2286000" y="2029968"/>
            <a:ext cx="164592"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13" name="Rectangle 12"/>
          <p:cNvSpPr/>
          <p:nvPr/>
        </p:nvSpPr>
        <p:spPr>
          <a:xfrm>
            <a:off x="2450592" y="1481328"/>
            <a:ext cx="1719072" cy="14173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50592" y="1481328"/>
            <a:ext cx="1719072" cy="4572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87752" y="1664208"/>
            <a:ext cx="1463040" cy="1188720"/>
          </a:xfrm>
          <a:prstGeom prst="rect">
            <a:avLst/>
          </a:prstGeom>
          <a:noFill/>
        </p:spPr>
        <p:txBody>
          <a:bodyPr wrap="square" lIns="0" rIns="0" tIns="0" bIns="0">
            <a:spAutoFit/>
          </a:bodyPr>
          <a:lstStyle/>
          <a:p>
            <a:pPr algn="l">
              <a:spcAft>
                <a:spcPts val="500"/>
              </a:spcAft>
            </a:pPr>
            <a:r>
              <a:rPr sz="1050" b="1" i="0">
                <a:solidFill>
                  <a:srgbClr val="141B24"/>
                </a:solidFill>
                <a:latin typeface="Segoe UI"/>
              </a:rPr>
              <a:t>Artifact + row key</a:t>
            </a:r>
          </a:p>
          <a:p>
            <a:pPr algn="l">
              <a:spcAft>
                <a:spcPts val="0"/>
              </a:spcAft>
            </a:pPr>
            <a:r>
              <a:rPr sz="880" b="0" i="0">
                <a:solidFill>
                  <a:srgbClr val="33414E"/>
                </a:solidFill>
                <a:latin typeface="Segoe UI"/>
              </a:rPr>
              <a:t>stable row/field key, không phải index</a:t>
            </a:r>
          </a:p>
        </p:txBody>
      </p:sp>
      <p:sp>
        <p:nvSpPr>
          <p:cNvPr id="16" name="TextBox 15"/>
          <p:cNvSpPr txBox="1"/>
          <p:nvPr/>
        </p:nvSpPr>
        <p:spPr>
          <a:xfrm>
            <a:off x="4169664" y="2029968"/>
            <a:ext cx="164592"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17" name="Rectangle 16"/>
          <p:cNvSpPr/>
          <p:nvPr/>
        </p:nvSpPr>
        <p:spPr>
          <a:xfrm>
            <a:off x="4334256" y="1481328"/>
            <a:ext cx="1719072" cy="14173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34256" y="1481328"/>
            <a:ext cx="1719072"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71416" y="1664208"/>
            <a:ext cx="1463040" cy="1188720"/>
          </a:xfrm>
          <a:prstGeom prst="rect">
            <a:avLst/>
          </a:prstGeom>
          <a:noFill/>
        </p:spPr>
        <p:txBody>
          <a:bodyPr wrap="square" lIns="0" rIns="0" tIns="0" bIns="0">
            <a:spAutoFit/>
          </a:bodyPr>
          <a:lstStyle/>
          <a:p>
            <a:pPr algn="l">
              <a:spcAft>
                <a:spcPts val="500"/>
              </a:spcAft>
            </a:pPr>
            <a:r>
              <a:rPr sz="1050" b="1" i="0">
                <a:solidFill>
                  <a:srgbClr val="141B24"/>
                </a:solidFill>
                <a:latin typeface="Segoe UI"/>
              </a:rPr>
              <a:t>Công thức + unit</a:t>
            </a:r>
          </a:p>
          <a:p>
            <a:pPr algn="l">
              <a:spcAft>
                <a:spcPts val="0"/>
              </a:spcAft>
            </a:pPr>
            <a:r>
              <a:rPr sz="880" b="0" i="0">
                <a:solidFill>
                  <a:srgbClr val="33414E"/>
                </a:solidFill>
                <a:latin typeface="Segoe UI"/>
              </a:rPr>
              <a:t>formula_version, unit, currency_code</a:t>
            </a:r>
          </a:p>
        </p:txBody>
      </p:sp>
      <p:sp>
        <p:nvSpPr>
          <p:cNvPr id="20" name="TextBox 19"/>
          <p:cNvSpPr txBox="1"/>
          <p:nvPr/>
        </p:nvSpPr>
        <p:spPr>
          <a:xfrm>
            <a:off x="6053328" y="2029968"/>
            <a:ext cx="164592"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21" name="Rectangle 20"/>
          <p:cNvSpPr/>
          <p:nvPr/>
        </p:nvSpPr>
        <p:spPr>
          <a:xfrm>
            <a:off x="6217920" y="1481328"/>
            <a:ext cx="1719072" cy="14173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481328"/>
            <a:ext cx="1719072"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1664208"/>
            <a:ext cx="1463040" cy="1188720"/>
          </a:xfrm>
          <a:prstGeom prst="rect">
            <a:avLst/>
          </a:prstGeom>
          <a:noFill/>
        </p:spPr>
        <p:txBody>
          <a:bodyPr wrap="square" lIns="0" rIns="0" tIns="0" bIns="0">
            <a:spAutoFit/>
          </a:bodyPr>
          <a:lstStyle/>
          <a:p>
            <a:pPr algn="l">
              <a:spcAft>
                <a:spcPts val="500"/>
              </a:spcAft>
            </a:pPr>
            <a:r>
              <a:rPr sz="1050" b="1" i="0">
                <a:solidFill>
                  <a:srgbClr val="141B24"/>
                </a:solidFill>
                <a:latin typeface="Segoe UI"/>
              </a:rPr>
              <a:t>Evidence ID</a:t>
            </a:r>
          </a:p>
          <a:p>
            <a:pPr algn="l">
              <a:spcAft>
                <a:spcPts val="0"/>
              </a:spcAft>
            </a:pPr>
            <a:r>
              <a:rPr sz="880" b="0" i="0">
                <a:solidFill>
                  <a:srgbClr val="33414E"/>
                </a:solidFill>
                <a:latin typeface="Segoe UI"/>
              </a:rPr>
              <a:t>dataset ver + execution/subplan ID + row key</a:t>
            </a:r>
          </a:p>
        </p:txBody>
      </p:sp>
      <p:sp>
        <p:nvSpPr>
          <p:cNvPr id="24" name="TextBox 23"/>
          <p:cNvSpPr txBox="1"/>
          <p:nvPr/>
        </p:nvSpPr>
        <p:spPr>
          <a:xfrm>
            <a:off x="7936992" y="2029968"/>
            <a:ext cx="164592"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25" name="Rectangle 24"/>
          <p:cNvSpPr/>
          <p:nvPr/>
        </p:nvSpPr>
        <p:spPr>
          <a:xfrm>
            <a:off x="8101584" y="1481328"/>
            <a:ext cx="1719072" cy="14173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01584" y="1481328"/>
            <a:ext cx="1719072" cy="4572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38744" y="1664208"/>
            <a:ext cx="1463040" cy="1188720"/>
          </a:xfrm>
          <a:prstGeom prst="rect">
            <a:avLst/>
          </a:prstGeom>
          <a:noFill/>
        </p:spPr>
        <p:txBody>
          <a:bodyPr wrap="square" lIns="0" rIns="0" tIns="0" bIns="0">
            <a:spAutoFit/>
          </a:bodyPr>
          <a:lstStyle/>
          <a:p>
            <a:pPr algn="l">
              <a:spcAft>
                <a:spcPts val="500"/>
              </a:spcAft>
            </a:pPr>
            <a:r>
              <a:rPr sz="1050" b="1" i="0">
                <a:solidFill>
                  <a:srgbClr val="141B24"/>
                </a:solidFill>
                <a:latin typeface="Segoe UI"/>
              </a:rPr>
              <a:t>Claim trong answer</a:t>
            </a:r>
          </a:p>
          <a:p>
            <a:pPr algn="l">
              <a:spcAft>
                <a:spcPts val="0"/>
              </a:spcAft>
            </a:pPr>
            <a:r>
              <a:rPr sz="880" b="0" i="0">
                <a:solidFill>
                  <a:srgbClr val="33414E"/>
                </a:solidFill>
                <a:latin typeface="Segoe UI"/>
              </a:rPr>
              <a:t>verifier đối chiếu từng chữ số</a:t>
            </a:r>
          </a:p>
        </p:txBody>
      </p:sp>
      <p:sp>
        <p:nvSpPr>
          <p:cNvPr id="28" name="TextBox 27"/>
          <p:cNvSpPr txBox="1"/>
          <p:nvPr/>
        </p:nvSpPr>
        <p:spPr>
          <a:xfrm>
            <a:off x="9820656" y="2029968"/>
            <a:ext cx="164592" cy="274320"/>
          </a:xfrm>
          <a:prstGeom prst="rect">
            <a:avLst/>
          </a:prstGeom>
          <a:noFill/>
        </p:spPr>
        <p:txBody>
          <a:bodyPr wrap="square" lIns="0" rIns="0" tIns="0" bIns="0">
            <a:spAutoFit/>
          </a:bodyPr>
          <a:lstStyle/>
          <a:p>
            <a:pPr algn="ctr">
              <a:spcAft>
                <a:spcPts val="0"/>
              </a:spcAft>
            </a:pPr>
            <a:r>
              <a:rPr sz="1300" b="1" i="0">
                <a:solidFill>
                  <a:srgbClr val="8A97A5"/>
                </a:solidFill>
                <a:latin typeface="Segoe UI"/>
              </a:rPr>
              <a:t>›</a:t>
            </a:r>
          </a:p>
        </p:txBody>
      </p:sp>
      <p:sp>
        <p:nvSpPr>
          <p:cNvPr id="29" name="Rectangle 28"/>
          <p:cNvSpPr/>
          <p:nvPr/>
        </p:nvSpPr>
        <p:spPr>
          <a:xfrm>
            <a:off x="9985248" y="1481328"/>
            <a:ext cx="1719072" cy="14173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985248" y="1481328"/>
            <a:ext cx="1719072" cy="45720"/>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22408" y="1664208"/>
            <a:ext cx="1463040" cy="1188720"/>
          </a:xfrm>
          <a:prstGeom prst="rect">
            <a:avLst/>
          </a:prstGeom>
          <a:noFill/>
        </p:spPr>
        <p:txBody>
          <a:bodyPr wrap="square" lIns="0" rIns="0" tIns="0" bIns="0">
            <a:spAutoFit/>
          </a:bodyPr>
          <a:lstStyle/>
          <a:p>
            <a:pPr algn="l">
              <a:spcAft>
                <a:spcPts val="500"/>
              </a:spcAft>
            </a:pPr>
            <a:r>
              <a:rPr sz="1050" b="1" i="0">
                <a:solidFill>
                  <a:srgbClr val="141B24"/>
                </a:solidFill>
                <a:latin typeface="Segoe UI"/>
              </a:rPr>
              <a:t>Citation hiển thị</a:t>
            </a:r>
          </a:p>
          <a:p>
            <a:pPr algn="l">
              <a:spcAft>
                <a:spcPts val="0"/>
              </a:spcAft>
            </a:pPr>
            <a:r>
              <a:rPr sz="880" b="0" i="0">
                <a:solidFill>
                  <a:srgbClr val="33414E"/>
                </a:solidFill>
                <a:latin typeface="Segoe UI"/>
              </a:rPr>
              <a:t>[ev:…] phải trỏ evidence CÓ THẬT</a:t>
            </a:r>
          </a:p>
        </p:txBody>
      </p:sp>
      <p:sp>
        <p:nvSpPr>
          <p:cNvPr id="32" name="TextBox 31"/>
          <p:cNvSpPr txBox="1"/>
          <p:nvPr/>
        </p:nvSpPr>
        <p:spPr>
          <a:xfrm>
            <a:off x="566928" y="3246120"/>
            <a:ext cx="5669280" cy="320040"/>
          </a:xfrm>
          <a:prstGeom prst="rect">
            <a:avLst/>
          </a:prstGeom>
          <a:noFill/>
        </p:spPr>
        <p:txBody>
          <a:bodyPr wrap="square" lIns="0" rIns="0" tIns="0" bIns="0">
            <a:spAutoFit/>
          </a:bodyPr>
          <a:lstStyle/>
          <a:p>
            <a:pPr algn="l">
              <a:spcAft>
                <a:spcPts val="0"/>
              </a:spcAft>
            </a:pPr>
            <a:r>
              <a:rPr sz="1200" b="1" i="0">
                <a:solidFill>
                  <a:srgbClr val="141B24"/>
                </a:solidFill>
                <a:latin typeface="Segoe UI"/>
              </a:rPr>
              <a:t>Output thật của hệ — trích nguyên văn, chạy offline 09/08</a:t>
            </a:r>
          </a:p>
        </p:txBody>
      </p:sp>
      <p:sp>
        <p:nvSpPr>
          <p:cNvPr id="33" name="Rectangle 32"/>
          <p:cNvSpPr/>
          <p:nvPr/>
        </p:nvSpPr>
        <p:spPr>
          <a:xfrm>
            <a:off x="566928" y="3611880"/>
            <a:ext cx="5669280" cy="242316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3739896"/>
            <a:ext cx="5349240" cy="2185416"/>
          </a:xfrm>
          <a:prstGeom prst="rect">
            <a:avLst/>
          </a:prstGeom>
          <a:noFill/>
        </p:spPr>
        <p:txBody>
          <a:bodyPr wrap="square" lIns="0" rIns="0" tIns="0" bIns="0">
            <a:spAutoFit/>
          </a:bodyPr>
          <a:lstStyle/>
          <a:p>
            <a:pPr>
              <a:spcAft>
                <a:spcPts val="200"/>
              </a:spcAft>
            </a:pPr>
            <a:r>
              <a:rPr sz="1000" b="0">
                <a:solidFill>
                  <a:srgbClr val="C8D6E2"/>
                </a:solidFill>
                <a:latin typeface="Consolas"/>
              </a:rPr>
              <a:t>Kết quả</a:t>
            </a:r>
          </a:p>
          <a:p>
            <a:pPr>
              <a:spcAft>
                <a:spcPts val="200"/>
              </a:spcAft>
            </a:pPr>
            <a:r>
              <a:rPr sz="1000" b="1">
                <a:solidFill>
                  <a:srgbClr val="8FE3C0"/>
                </a:solidFill>
                <a:latin typeface="Consolas"/>
              </a:rPr>
              <a:t>  Có 668 listing [ev:da6f3eef79f3:0001] trong phạm vi đã chọn.</a:t>
            </a:r>
          </a:p>
          <a:p>
            <a:pPr>
              <a:spcAft>
                <a:spcPts val="200"/>
              </a:spcAft>
            </a:pPr>
            <a:r>
              <a:rPr sz="1000" b="0">
                <a:solidFill>
                  <a:srgbClr val="C8D6E2"/>
                </a:solidFill>
                <a:latin typeface="Consolas"/>
              </a:rPr>
              <a:t/>
            </a:r>
          </a:p>
          <a:p>
            <a:pPr>
              <a:spcAft>
                <a:spcPts val="200"/>
              </a:spcAft>
            </a:pPr>
            <a:r>
              <a:rPr sz="1000" b="0">
                <a:solidFill>
                  <a:srgbClr val="C8D6E2"/>
                </a:solidFill>
                <a:latin typeface="Consolas"/>
              </a:rPr>
              <a:t>Phạm vi</a:t>
            </a:r>
          </a:p>
          <a:p>
            <a:pPr>
              <a:spcAft>
                <a:spcPts val="200"/>
              </a:spcAft>
            </a:pPr>
            <a:r>
              <a:rPr sz="1000" b="0">
                <a:solidFill>
                  <a:srgbClr val="C8D6E2"/>
                </a:solidFill>
                <a:latin typeface="Consolas"/>
              </a:rPr>
              <a:t>  Thị trường VN, snapshot 2026-07-03.</a:t>
            </a:r>
          </a:p>
          <a:p>
            <a:pPr>
              <a:spcAft>
                <a:spcPts val="200"/>
              </a:spcAft>
            </a:pPr>
            <a:r>
              <a:rPr sz="1000" b="0">
                <a:solidFill>
                  <a:srgbClr val="C8D6E2"/>
                </a:solidFill>
                <a:latin typeface="Consolas"/>
              </a:rPr>
              <a:t/>
            </a:r>
          </a:p>
          <a:p>
            <a:pPr>
              <a:spcAft>
                <a:spcPts val="200"/>
              </a:spcAft>
            </a:pPr>
            <a:r>
              <a:rPr sz="1000" b="0">
                <a:solidFill>
                  <a:srgbClr val="C8D6E2"/>
                </a:solidFill>
                <a:latin typeface="Consolas"/>
              </a:rPr>
              <a:t>Cách tính</a:t>
            </a:r>
          </a:p>
          <a:p>
            <a:pPr>
              <a:spcAft>
                <a:spcPts val="200"/>
              </a:spcAft>
            </a:pPr>
            <a:r>
              <a:rPr sz="1000" b="0">
                <a:solidFill>
                  <a:srgbClr val="C8D6E2"/>
                </a:solidFill>
                <a:latin typeface="Consolas"/>
              </a:rPr>
              <a:t>  Lọc đúng thị trường và snapshot, sau đó đếm distinct</a:t>
            </a:r>
          </a:p>
          <a:p>
            <a:pPr>
              <a:spcAft>
                <a:spcPts val="200"/>
              </a:spcAft>
            </a:pPr>
            <a:r>
              <a:rPr sz="1000" b="0">
                <a:solidFill>
                  <a:srgbClr val="C8D6E2"/>
                </a:solidFill>
                <a:latin typeface="Consolas"/>
              </a:rPr>
              <a:t>  product_listing_key.</a:t>
            </a:r>
          </a:p>
          <a:p>
            <a:pPr>
              <a:spcAft>
                <a:spcPts val="200"/>
              </a:spcAft>
            </a:pPr>
            <a:r>
              <a:rPr sz="1000" b="0">
                <a:solidFill>
                  <a:srgbClr val="C8D6E2"/>
                </a:solidFill>
                <a:latin typeface="Consolas"/>
              </a:rPr>
              <a:t/>
            </a:r>
          </a:p>
          <a:p>
            <a:pPr>
              <a:spcAft>
                <a:spcPts val="200"/>
              </a:spcAft>
            </a:pPr>
            <a:r>
              <a:rPr sz="1000" b="0">
                <a:solidFill>
                  <a:srgbClr val="C8D6E2"/>
                </a:solidFill>
                <a:latin typeface="Consolas"/>
              </a:rPr>
              <a:t>Giới hạn</a:t>
            </a:r>
          </a:p>
          <a:p>
            <a:pPr>
              <a:spcAft>
                <a:spcPts val="200"/>
              </a:spcAft>
            </a:pPr>
            <a:r>
              <a:rPr sz="1000" b="0">
                <a:solidFill>
                  <a:srgbClr val="C8D6E2"/>
                </a:solidFill>
                <a:latin typeface="Consolas"/>
              </a:rPr>
              <a:t>  Đây là số listing, không phải số SKU và không phải</a:t>
            </a:r>
          </a:p>
          <a:p>
            <a:pPr>
              <a:spcAft>
                <a:spcPts val="200"/>
              </a:spcAft>
            </a:pPr>
            <a:r>
              <a:rPr sz="1000" b="1">
                <a:solidFill>
                  <a:srgbClr val="FFCF9A"/>
                </a:solidFill>
                <a:latin typeface="Consolas"/>
              </a:rPr>
              <a:t>  số dòng snapshot.</a:t>
            </a:r>
          </a:p>
        </p:txBody>
      </p:sp>
      <p:sp>
        <p:nvSpPr>
          <p:cNvPr id="35" name="Rectangle 34"/>
          <p:cNvSpPr/>
          <p:nvPr/>
        </p:nvSpPr>
        <p:spPr>
          <a:xfrm>
            <a:off x="6446520" y="3246120"/>
            <a:ext cx="5193792" cy="13716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46520" y="3246120"/>
            <a:ext cx="41148" cy="13716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47688" y="3392424"/>
            <a:ext cx="4828032" cy="109728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Mỗi câu trả lời allow đều mang năm mục cố định</a:t>
            </a:r>
          </a:p>
          <a:p>
            <a:pPr algn="l">
              <a:spcAft>
                <a:spcPts val="300"/>
              </a:spcAft>
            </a:pPr>
            <a:r>
              <a:rPr sz="1000" b="0" i="0">
                <a:solidFill>
                  <a:srgbClr val="33414E"/>
                </a:solidFill>
                <a:latin typeface="Segoe UI"/>
              </a:rPr>
              <a:t>Kết quả · Phạm vi · Cách tính · Giới hạn · Độ tin cậy</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“Độ tin cậy: High” được định nghĩa tường minh là mức đầy đủ</a:t>
            </a:r>
          </a:p>
          <a:p>
            <a:pPr algn="l">
              <a:spcAft>
                <a:spcPts val="300"/>
              </a:spcAft>
            </a:pPr>
            <a:r>
              <a:rPr sz="1000" b="0" i="0">
                <a:solidFill>
                  <a:srgbClr val="33414E"/>
                </a:solidFill>
                <a:latin typeface="Segoe UI"/>
              </a:rPr>
              <a:t>và nhất quán của EVIDENCE — không phải xác suất đúng.</a:t>
            </a:r>
          </a:p>
        </p:txBody>
      </p:sp>
      <p:sp>
        <p:nvSpPr>
          <p:cNvPr id="38" name="Rectangle 37"/>
          <p:cNvSpPr/>
          <p:nvPr/>
        </p:nvSpPr>
        <p:spPr>
          <a:xfrm>
            <a:off x="6446520" y="4754880"/>
            <a:ext cx="5193792" cy="12801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46520" y="4754880"/>
            <a:ext cx="41148" cy="1280160"/>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47688" y="4901184"/>
            <a:ext cx="4828032" cy="100584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Cạm bẫy: không viết chữ số vào message từ chối</a:t>
            </a:r>
          </a:p>
          <a:p>
            <a:pPr algn="l">
              <a:spcAft>
                <a:spcPts val="300"/>
              </a:spcAft>
            </a:pPr>
            <a:r>
              <a:rPr sz="1000" b="0" i="0">
                <a:solidFill>
                  <a:srgbClr val="33414E"/>
                </a:solidFill>
                <a:latin typeface="Segoe UI"/>
              </a:rPr>
              <a:t>verifier.scan_numbers quét mọi số và đòi evidence. Câu abstain</a:t>
            </a:r>
          </a:p>
          <a:p>
            <a:pPr algn="l">
              <a:spcAft>
                <a:spcPts val="300"/>
              </a:spcAft>
            </a:pPr>
            <a:r>
              <a:rPr sz="1000" b="0" i="0">
                <a:solidFill>
                  <a:srgbClr val="33414E"/>
                </a:solidFill>
                <a:latin typeface="Segoe UI"/>
              </a:rPr>
              <a:t>không mang evidence, nên “1.157 listing” trong capability_messages</a:t>
            </a:r>
          </a:p>
          <a:p>
            <a:pPr algn="l">
              <a:spcAft>
                <a:spcPts val="300"/>
              </a:spcAft>
            </a:pPr>
            <a:r>
              <a:rPr sz="1000" b="0" i="0">
                <a:solidFill>
                  <a:srgbClr val="33414E"/>
                </a:solidFill>
                <a:latin typeface="Segoe UI"/>
              </a:rPr>
              <a:t>bị chấm là số bịa — đã làm eval rơi từ 1.0 xuống 0.77.</a:t>
            </a:r>
          </a:p>
          <a:p>
            <a:pPr algn="l">
              <a:spcAft>
                <a:spcPts val="300"/>
              </a:spcAft>
            </a:pPr>
            <a:r>
              <a:rPr sz="1000" b="0" i="0">
                <a:solidFill>
                  <a:srgbClr val="33414E"/>
                </a:solidFill>
                <a:latin typeface="Segoe UI"/>
              </a:rPr>
              <a:t>Mô tả phạm vi BẰNG LỜI.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Từ chối đúng cách — sáu ca thật hệ đã chạy</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Trích nguyên văn output, provider=offline, 09/08/2026. Đây là HÀNH VI ĐÚNG, không phải lỗi</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14</a:t>
            </a:r>
          </a:p>
        </p:txBody>
      </p:sp>
      <p:sp>
        <p:nvSpPr>
          <p:cNvPr id="9" name="Rectangle 8"/>
          <p:cNvSpPr/>
          <p:nvPr/>
        </p:nvSpPr>
        <p:spPr>
          <a:xfrm>
            <a:off x="566928" y="1481328"/>
            <a:ext cx="5440680" cy="144475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81328"/>
            <a:ext cx="41148" cy="1444752"/>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600200"/>
            <a:ext cx="749808" cy="219456"/>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00" b="1" i="0">
                <a:solidFill>
                  <a:srgbClr val="FFFFFF"/>
                </a:solidFill>
                <a:latin typeface="Segoe UI"/>
              </a:rPr>
              <a:t>ABSTAIN</a:t>
            </a:r>
          </a:p>
        </p:txBody>
      </p:sp>
      <p:sp>
        <p:nvSpPr>
          <p:cNvPr id="12" name="TextBox 11"/>
          <p:cNvSpPr txBox="1"/>
          <p:nvPr/>
        </p:nvSpPr>
        <p:spPr>
          <a:xfrm>
            <a:off x="1572768" y="1600200"/>
            <a:ext cx="4297680" cy="256032"/>
          </a:xfrm>
          <a:prstGeom prst="rect">
            <a:avLst/>
          </a:prstGeom>
          <a:noFill/>
        </p:spPr>
        <p:txBody>
          <a:bodyPr wrap="square" lIns="0" rIns="0" tIns="0" bIns="0">
            <a:spAutoFit/>
          </a:bodyPr>
          <a:lstStyle/>
          <a:p>
            <a:pPr algn="l">
              <a:spcAft>
                <a:spcPts val="0"/>
              </a:spcAft>
            </a:pPr>
            <a:r>
              <a:rPr sz="950" b="1" i="0">
                <a:solidFill>
                  <a:srgbClr val="141B24"/>
                </a:solidFill>
                <a:latin typeface="Segoe UI"/>
              </a:rPr>
              <a:t>Lợi nhuận và margin tại VN là bao nhiêu?</a:t>
            </a:r>
          </a:p>
        </p:txBody>
      </p:sp>
      <p:sp>
        <p:nvSpPr>
          <p:cNvPr id="13" name="TextBox 12"/>
          <p:cNvSpPr txBox="1"/>
          <p:nvPr/>
        </p:nvSpPr>
        <p:spPr>
          <a:xfrm>
            <a:off x="749808" y="1901952"/>
            <a:ext cx="5074920" cy="713232"/>
          </a:xfrm>
          <a:prstGeom prst="rect">
            <a:avLst/>
          </a:prstGeom>
          <a:noFill/>
        </p:spPr>
        <p:txBody>
          <a:bodyPr wrap="square" lIns="0" rIns="0" tIns="0" bIns="0">
            <a:spAutoFit/>
          </a:bodyPr>
          <a:lstStyle/>
          <a:p>
            <a:pPr algn="l">
              <a:spcAft>
                <a:spcPts val="0"/>
              </a:spcAft>
            </a:pPr>
            <a:r>
              <a:rPr sz="919" b="0" i="1">
                <a:solidFill>
                  <a:srgbClr val="33414E"/>
                </a:solidFill>
                <a:latin typeface="Segoe UI"/>
              </a:rPr>
              <a:t>“Dataset không có giá vốn, phí sàn hay chi phí vận hành nên không tính được lợi nhuận. … Vẫn trả lời được doanh thu proxy ước tính, giá và lượt bán proxy. Ví dụ: 'Doanh thu proxy ước tính ở VN tại snapshot mới nhất là bao nhiêu?'”</a:t>
            </a:r>
          </a:p>
        </p:txBody>
      </p:sp>
      <p:sp>
        <p:nvSpPr>
          <p:cNvPr id="14" name="TextBox 13"/>
          <p:cNvSpPr txBox="1"/>
          <p:nvPr/>
        </p:nvSpPr>
        <p:spPr>
          <a:xfrm>
            <a:off x="749808" y="2633472"/>
            <a:ext cx="5074920" cy="237744"/>
          </a:xfrm>
          <a:prstGeom prst="rect">
            <a:avLst/>
          </a:prstGeom>
          <a:noFill/>
        </p:spPr>
        <p:txBody>
          <a:bodyPr wrap="square" lIns="0" rIns="0" tIns="0" bIns="0">
            <a:spAutoFit/>
          </a:bodyPr>
          <a:lstStyle/>
          <a:p>
            <a:pPr algn="l">
              <a:spcAft>
                <a:spcPts val="0"/>
              </a:spcAft>
            </a:pPr>
            <a:r>
              <a:rPr sz="900" b="1" i="0">
                <a:solidFill>
                  <a:srgbClr val="A6333F"/>
                </a:solidFill>
                <a:latin typeface="Segoe UI"/>
              </a:rPr>
              <a:t>→ Nêu blocker THẬT + gợi ý câu gần nhất LÀM ĐƯỢC</a:t>
            </a:r>
          </a:p>
        </p:txBody>
      </p:sp>
      <p:sp>
        <p:nvSpPr>
          <p:cNvPr id="15" name="Rectangle 14"/>
          <p:cNvSpPr/>
          <p:nvPr/>
        </p:nvSpPr>
        <p:spPr>
          <a:xfrm>
            <a:off x="6199632" y="1481328"/>
            <a:ext cx="5440680" cy="144475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1481328"/>
            <a:ext cx="41148" cy="1444752"/>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64224" y="1600200"/>
            <a:ext cx="749808" cy="219456"/>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00" b="1" i="0">
                <a:solidFill>
                  <a:srgbClr val="FFFFFF"/>
                </a:solidFill>
                <a:latin typeface="Segoe UI"/>
              </a:rPr>
              <a:t>ABSTAIN</a:t>
            </a:r>
          </a:p>
        </p:txBody>
      </p:sp>
      <p:sp>
        <p:nvSpPr>
          <p:cNvPr id="18" name="TextBox 17"/>
          <p:cNvSpPr txBox="1"/>
          <p:nvPr/>
        </p:nvSpPr>
        <p:spPr>
          <a:xfrm>
            <a:off x="7205472" y="1600200"/>
            <a:ext cx="4297680" cy="256032"/>
          </a:xfrm>
          <a:prstGeom prst="rect">
            <a:avLst/>
          </a:prstGeom>
          <a:noFill/>
        </p:spPr>
        <p:txBody>
          <a:bodyPr wrap="square" lIns="0" rIns="0" tIns="0" bIns="0">
            <a:spAutoFit/>
          </a:bodyPr>
          <a:lstStyle/>
          <a:p>
            <a:pPr algn="l">
              <a:spcAft>
                <a:spcPts val="0"/>
              </a:spcAft>
            </a:pPr>
            <a:r>
              <a:rPr sz="950" b="1" i="0">
                <a:solidFill>
                  <a:srgbClr val="141B24"/>
                </a:solidFill>
                <a:latin typeface="Segoe UI"/>
              </a:rPr>
              <a:t>Dự báo doanh số tháng sau tại VN</a:t>
            </a:r>
          </a:p>
        </p:txBody>
      </p:sp>
      <p:sp>
        <p:nvSpPr>
          <p:cNvPr id="19" name="TextBox 18"/>
          <p:cNvSpPr txBox="1"/>
          <p:nvPr/>
        </p:nvSpPr>
        <p:spPr>
          <a:xfrm>
            <a:off x="6382512" y="1901952"/>
            <a:ext cx="5074920" cy="713232"/>
          </a:xfrm>
          <a:prstGeom prst="rect">
            <a:avLst/>
          </a:prstGeom>
          <a:noFill/>
        </p:spPr>
        <p:txBody>
          <a:bodyPr wrap="square" lIns="0" rIns="0" tIns="0" bIns="0">
            <a:spAutoFit/>
          </a:bodyPr>
          <a:lstStyle/>
          <a:p>
            <a:pPr algn="l">
              <a:spcAft>
                <a:spcPts val="0"/>
              </a:spcAft>
            </a:pPr>
            <a:r>
              <a:rPr sz="919" b="0" i="1">
                <a:solidFill>
                  <a:srgbClr val="33414E"/>
                </a:solidFill>
                <a:latin typeface="Segoe UI"/>
              </a:rPr>
              <a:t>“Ba snapshot không đủ để lập dự báo hoặc seasonality đáng tin cậy. … Vẫn mô tả được chênh lệch giữa các snapshot đã quan sát.”</a:t>
            </a:r>
          </a:p>
        </p:txBody>
      </p:sp>
      <p:sp>
        <p:nvSpPr>
          <p:cNvPr id="20" name="TextBox 19"/>
          <p:cNvSpPr txBox="1"/>
          <p:nvPr/>
        </p:nvSpPr>
        <p:spPr>
          <a:xfrm>
            <a:off x="6382512" y="2633472"/>
            <a:ext cx="5074920" cy="237744"/>
          </a:xfrm>
          <a:prstGeom prst="rect">
            <a:avLst/>
          </a:prstGeom>
          <a:noFill/>
        </p:spPr>
        <p:txBody>
          <a:bodyPr wrap="square" lIns="0" rIns="0" tIns="0" bIns="0">
            <a:spAutoFit/>
          </a:bodyPr>
          <a:lstStyle/>
          <a:p>
            <a:pPr algn="l">
              <a:spcAft>
                <a:spcPts val="0"/>
              </a:spcAft>
            </a:pPr>
            <a:r>
              <a:rPr sz="900" b="1" i="0">
                <a:solidFill>
                  <a:srgbClr val="A6333F"/>
                </a:solidFill>
                <a:latin typeface="Segoe UI"/>
              </a:rPr>
              <a:t>→ Từ chối ngoại suy — 3 điểm không thành xu hướng</a:t>
            </a:r>
          </a:p>
        </p:txBody>
      </p:sp>
      <p:sp>
        <p:nvSpPr>
          <p:cNvPr id="21" name="Rectangle 20"/>
          <p:cNvSpPr/>
          <p:nvPr/>
        </p:nvSpPr>
        <p:spPr>
          <a:xfrm>
            <a:off x="566928" y="3054096"/>
            <a:ext cx="5440680" cy="144475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054096"/>
            <a:ext cx="41148" cy="1444752"/>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3172968"/>
            <a:ext cx="749808" cy="219456"/>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00" b="1" i="0">
                <a:solidFill>
                  <a:srgbClr val="FFFFFF"/>
                </a:solidFill>
                <a:latin typeface="Segoe UI"/>
              </a:rPr>
              <a:t>CLARIFY</a:t>
            </a:r>
          </a:p>
        </p:txBody>
      </p:sp>
      <p:sp>
        <p:nvSpPr>
          <p:cNvPr id="24" name="TextBox 23"/>
          <p:cNvSpPr txBox="1"/>
          <p:nvPr/>
        </p:nvSpPr>
        <p:spPr>
          <a:xfrm>
            <a:off x="1572768" y="3172968"/>
            <a:ext cx="4297680" cy="256032"/>
          </a:xfrm>
          <a:prstGeom prst="rect">
            <a:avLst/>
          </a:prstGeom>
          <a:noFill/>
        </p:spPr>
        <p:txBody>
          <a:bodyPr wrap="square" lIns="0" rIns="0" tIns="0" bIns="0">
            <a:spAutoFit/>
          </a:bodyPr>
          <a:lstStyle/>
          <a:p>
            <a:pPr algn="l">
              <a:spcAft>
                <a:spcPts val="0"/>
              </a:spcAft>
            </a:pPr>
            <a:r>
              <a:rPr sz="950" b="1" i="0">
                <a:solidFill>
                  <a:srgbClr val="141B24"/>
                </a:solidFill>
                <a:latin typeface="Segoe UI"/>
              </a:rPr>
              <a:t>Giá trung bình tại Việt Nam và Indonesia cộng lại?</a:t>
            </a:r>
          </a:p>
        </p:txBody>
      </p:sp>
      <p:sp>
        <p:nvSpPr>
          <p:cNvPr id="25" name="TextBox 24"/>
          <p:cNvSpPr txBox="1"/>
          <p:nvPr/>
        </p:nvSpPr>
        <p:spPr>
          <a:xfrm>
            <a:off x="749808" y="3474720"/>
            <a:ext cx="5074920" cy="713232"/>
          </a:xfrm>
          <a:prstGeom prst="rect">
            <a:avLst/>
          </a:prstGeom>
          <a:noFill/>
        </p:spPr>
        <p:txBody>
          <a:bodyPr wrap="square" lIns="0" rIns="0" tIns="0" bIns="0">
            <a:spAutoFit/>
          </a:bodyPr>
          <a:lstStyle/>
          <a:p>
            <a:pPr algn="l">
              <a:spcAft>
                <a:spcPts val="0"/>
              </a:spcAft>
            </a:pPr>
            <a:r>
              <a:rPr sz="919" b="0" i="1">
                <a:solidFill>
                  <a:srgbClr val="33414E"/>
                </a:solidFill>
                <a:latin typeface="Segoe UI"/>
              </a:rPr>
              <a:t>“Không thể cộng, quy đổi hoặc kết luận hơn-kém giữa VND và IDR: contract cross-tier derived value T-8c chưa được phê duyệt.”</a:t>
            </a:r>
          </a:p>
        </p:txBody>
      </p:sp>
      <p:sp>
        <p:nvSpPr>
          <p:cNvPr id="26" name="TextBox 25"/>
          <p:cNvSpPr txBox="1"/>
          <p:nvPr/>
        </p:nvSpPr>
        <p:spPr>
          <a:xfrm>
            <a:off x="749808" y="4206240"/>
            <a:ext cx="5074920" cy="237744"/>
          </a:xfrm>
          <a:prstGeom prst="rect">
            <a:avLst/>
          </a:prstGeom>
          <a:noFill/>
        </p:spPr>
        <p:txBody>
          <a:bodyPr wrap="square" lIns="0" rIns="0" tIns="0" bIns="0">
            <a:spAutoFit/>
          </a:bodyPr>
          <a:lstStyle/>
          <a:p>
            <a:pPr algn="l">
              <a:spcAft>
                <a:spcPts val="0"/>
              </a:spcAft>
            </a:pPr>
            <a:r>
              <a:rPr sz="900" b="1" i="0">
                <a:solidFill>
                  <a:srgbClr val="C96F1E"/>
                </a:solidFill>
                <a:latin typeface="Segoe UI"/>
              </a:rPr>
              <a:t>→ Cross-currency là hard block, không phải tuỳ chọn</a:t>
            </a:r>
          </a:p>
        </p:txBody>
      </p:sp>
      <p:sp>
        <p:nvSpPr>
          <p:cNvPr id="27" name="Rectangle 26"/>
          <p:cNvSpPr/>
          <p:nvPr/>
        </p:nvSpPr>
        <p:spPr>
          <a:xfrm>
            <a:off x="6199632" y="3054096"/>
            <a:ext cx="5440680" cy="144475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99632" y="3054096"/>
            <a:ext cx="41148" cy="1444752"/>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64224" y="3172968"/>
            <a:ext cx="749808" cy="219456"/>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00" b="1" i="0">
                <a:solidFill>
                  <a:srgbClr val="FFFFFF"/>
                </a:solidFill>
                <a:latin typeface="Segoe UI"/>
              </a:rPr>
              <a:t>CLARIFY</a:t>
            </a:r>
          </a:p>
        </p:txBody>
      </p:sp>
      <p:sp>
        <p:nvSpPr>
          <p:cNvPr id="30" name="TextBox 29"/>
          <p:cNvSpPr txBox="1"/>
          <p:nvPr/>
        </p:nvSpPr>
        <p:spPr>
          <a:xfrm>
            <a:off x="7205472" y="3172968"/>
            <a:ext cx="4297680" cy="256032"/>
          </a:xfrm>
          <a:prstGeom prst="rect">
            <a:avLst/>
          </a:prstGeom>
          <a:noFill/>
        </p:spPr>
        <p:txBody>
          <a:bodyPr wrap="square" lIns="0" rIns="0" tIns="0" bIns="0">
            <a:spAutoFit/>
          </a:bodyPr>
          <a:lstStyle/>
          <a:p>
            <a:pPr algn="l">
              <a:spcAft>
                <a:spcPts val="0"/>
              </a:spcAft>
            </a:pPr>
            <a:r>
              <a:rPr sz="950" b="1" i="0">
                <a:solidFill>
                  <a:srgbClr val="141B24"/>
                </a:solidFill>
                <a:latin typeface="Segoe UI"/>
              </a:rPr>
              <a:t>Vì sao số listing tại VN giảm mạnh từ 01/07 đến 03/07?</a:t>
            </a:r>
          </a:p>
        </p:txBody>
      </p:sp>
      <p:sp>
        <p:nvSpPr>
          <p:cNvPr id="31" name="TextBox 30"/>
          <p:cNvSpPr txBox="1"/>
          <p:nvPr/>
        </p:nvSpPr>
        <p:spPr>
          <a:xfrm>
            <a:off x="6382512" y="3474720"/>
            <a:ext cx="5074920" cy="713232"/>
          </a:xfrm>
          <a:prstGeom prst="rect">
            <a:avLst/>
          </a:prstGeom>
          <a:noFill/>
        </p:spPr>
        <p:txBody>
          <a:bodyPr wrap="square" lIns="0" rIns="0" tIns="0" bIns="0">
            <a:spAutoFit/>
          </a:bodyPr>
          <a:lstStyle/>
          <a:p>
            <a:pPr algn="l">
              <a:spcAft>
                <a:spcPts val="0"/>
              </a:spcAft>
            </a:pPr>
            <a:r>
              <a:rPr sz="919" b="0" i="1">
                <a:solidFill>
                  <a:srgbClr val="33414E"/>
                </a:solidFill>
                <a:latin typeface="Segoe UI"/>
              </a:rPr>
              <a:t>“Evidence chỉ phủ 2026-07-03→2026-07-03 thay vì 2026-07-01→2026-07-03 đã hỏi.”</a:t>
            </a:r>
          </a:p>
        </p:txBody>
      </p:sp>
      <p:sp>
        <p:nvSpPr>
          <p:cNvPr id="32" name="TextBox 31"/>
          <p:cNvSpPr txBox="1"/>
          <p:nvPr/>
        </p:nvSpPr>
        <p:spPr>
          <a:xfrm>
            <a:off x="6382512" y="4206240"/>
            <a:ext cx="5074920" cy="237744"/>
          </a:xfrm>
          <a:prstGeom prst="rect">
            <a:avLst/>
          </a:prstGeom>
          <a:noFill/>
        </p:spPr>
        <p:txBody>
          <a:bodyPr wrap="square" lIns="0" rIns="0" tIns="0" bIns="0">
            <a:spAutoFit/>
          </a:bodyPr>
          <a:lstStyle/>
          <a:p>
            <a:pPr algn="l">
              <a:spcAft>
                <a:spcPts val="0"/>
              </a:spcAft>
            </a:pPr>
            <a:r>
              <a:rPr sz="900" b="1" i="0">
                <a:solidFill>
                  <a:srgbClr val="C96F1E"/>
                </a:solidFill>
                <a:latin typeface="Segoe UI"/>
              </a:rPr>
              <a:t>→ A22 coverage — trước 09/08 ca này trả “668” và PASS</a:t>
            </a:r>
          </a:p>
        </p:txBody>
      </p:sp>
      <p:sp>
        <p:nvSpPr>
          <p:cNvPr id="33" name="Rectangle 32"/>
          <p:cNvSpPr/>
          <p:nvPr/>
        </p:nvSpPr>
        <p:spPr>
          <a:xfrm>
            <a:off x="566928" y="4626864"/>
            <a:ext cx="5440680" cy="144475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626864"/>
            <a:ext cx="41148" cy="1444752"/>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1520" y="4745736"/>
            <a:ext cx="749808" cy="219456"/>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00" b="1" i="0">
                <a:solidFill>
                  <a:srgbClr val="FFFFFF"/>
                </a:solidFill>
                <a:latin typeface="Segoe UI"/>
              </a:rPr>
              <a:t>ABSTAIN</a:t>
            </a:r>
          </a:p>
        </p:txBody>
      </p:sp>
      <p:sp>
        <p:nvSpPr>
          <p:cNvPr id="36" name="TextBox 35"/>
          <p:cNvSpPr txBox="1"/>
          <p:nvPr/>
        </p:nvSpPr>
        <p:spPr>
          <a:xfrm>
            <a:off x="1572768" y="4745736"/>
            <a:ext cx="4297680" cy="256032"/>
          </a:xfrm>
          <a:prstGeom prst="rect">
            <a:avLst/>
          </a:prstGeom>
          <a:noFill/>
        </p:spPr>
        <p:txBody>
          <a:bodyPr wrap="square" lIns="0" rIns="0" tIns="0" bIns="0">
            <a:spAutoFit/>
          </a:bodyPr>
          <a:lstStyle/>
          <a:p>
            <a:pPr algn="l">
              <a:spcAft>
                <a:spcPts val="0"/>
              </a:spcAft>
            </a:pPr>
            <a:r>
              <a:rPr sz="950" b="1" i="0">
                <a:solidFill>
                  <a:srgbClr val="141B24"/>
                </a:solidFill>
                <a:latin typeface="Segoe UI"/>
              </a:rPr>
              <a:t>Xếp hạng nhóm có giá trị cao nhất (nhiều nhóm bằng nhau)</a:t>
            </a:r>
          </a:p>
        </p:txBody>
      </p:sp>
      <p:sp>
        <p:nvSpPr>
          <p:cNvPr id="37" name="TextBox 36"/>
          <p:cNvSpPr txBox="1"/>
          <p:nvPr/>
        </p:nvSpPr>
        <p:spPr>
          <a:xfrm>
            <a:off x="749808" y="5047488"/>
            <a:ext cx="5074920" cy="713232"/>
          </a:xfrm>
          <a:prstGeom prst="rect">
            <a:avLst/>
          </a:prstGeom>
          <a:noFill/>
        </p:spPr>
        <p:txBody>
          <a:bodyPr wrap="square" lIns="0" rIns="0" tIns="0" bIns="0">
            <a:spAutoFit/>
          </a:bodyPr>
          <a:lstStyle/>
          <a:p>
            <a:pPr algn="l">
              <a:spcAft>
                <a:spcPts val="0"/>
              </a:spcAft>
            </a:pPr>
            <a:r>
              <a:rPr sz="919" b="0" i="1">
                <a:solidFill>
                  <a:srgbClr val="33414E"/>
                </a:solidFill>
                <a:latin typeface="Segoe UI"/>
              </a:rPr>
              <a:t>“Nhiều nhóm cùng đạt giá trị cao nhất nên không xếp hạng được; chọn một nhóm sẽ là quyết định của hệ chứ không phải của dữ liệu.  [A22-ALIGN-RANK-TIE]”</a:t>
            </a:r>
          </a:p>
        </p:txBody>
      </p:sp>
      <p:sp>
        <p:nvSpPr>
          <p:cNvPr id="38" name="TextBox 37"/>
          <p:cNvSpPr txBox="1"/>
          <p:nvPr/>
        </p:nvSpPr>
        <p:spPr>
          <a:xfrm>
            <a:off x="749808" y="5779008"/>
            <a:ext cx="5074920" cy="237744"/>
          </a:xfrm>
          <a:prstGeom prst="rect">
            <a:avLst/>
          </a:prstGeom>
          <a:noFill/>
        </p:spPr>
        <p:txBody>
          <a:bodyPr wrap="square" lIns="0" rIns="0" tIns="0" bIns="0">
            <a:spAutoFit/>
          </a:bodyPr>
          <a:lstStyle/>
          <a:p>
            <a:pPr algn="l">
              <a:spcAft>
                <a:spcPts val="0"/>
              </a:spcAft>
            </a:pPr>
            <a:r>
              <a:rPr sz="900" b="1" i="0">
                <a:solidFill>
                  <a:srgbClr val="A6333F"/>
                </a:solidFill>
                <a:latin typeface="Segoe UI"/>
              </a:rPr>
              <a:t>→ Hoà thì không tự phá hoà</a:t>
            </a:r>
          </a:p>
        </p:txBody>
      </p:sp>
      <p:sp>
        <p:nvSpPr>
          <p:cNvPr id="39" name="Rectangle 38"/>
          <p:cNvSpPr/>
          <p:nvPr/>
        </p:nvSpPr>
        <p:spPr>
          <a:xfrm>
            <a:off x="6199632" y="4626864"/>
            <a:ext cx="5440680" cy="144475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99632" y="4626864"/>
            <a:ext cx="41148" cy="1444752"/>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224" y="4745736"/>
            <a:ext cx="749808" cy="219456"/>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00" b="1" i="0">
                <a:solidFill>
                  <a:srgbClr val="FFFFFF"/>
                </a:solidFill>
                <a:latin typeface="Segoe UI"/>
              </a:rPr>
              <a:t>ALLOW</a:t>
            </a:r>
          </a:p>
        </p:txBody>
      </p:sp>
      <p:sp>
        <p:nvSpPr>
          <p:cNvPr id="42" name="TextBox 41"/>
          <p:cNvSpPr txBox="1"/>
          <p:nvPr/>
        </p:nvSpPr>
        <p:spPr>
          <a:xfrm>
            <a:off x="7205472" y="4745736"/>
            <a:ext cx="4297680" cy="256032"/>
          </a:xfrm>
          <a:prstGeom prst="rect">
            <a:avLst/>
          </a:prstGeom>
          <a:noFill/>
        </p:spPr>
        <p:txBody>
          <a:bodyPr wrap="square" lIns="0" rIns="0" tIns="0" bIns="0">
            <a:spAutoFit/>
          </a:bodyPr>
          <a:lstStyle/>
          <a:p>
            <a:pPr algn="l">
              <a:spcAft>
                <a:spcPts val="0"/>
              </a:spcAft>
            </a:pPr>
            <a:r>
              <a:rPr sz="950" b="1" i="0">
                <a:solidFill>
                  <a:srgbClr val="141B24"/>
                </a:solidFill>
                <a:latin typeface="Segoe UI"/>
              </a:rPr>
              <a:t>Tìm sản phẩm cùng mẫu tương tự "id:1112776376:46456356622"</a:t>
            </a:r>
          </a:p>
        </p:txBody>
      </p:sp>
      <p:sp>
        <p:nvSpPr>
          <p:cNvPr id="43" name="TextBox 42"/>
          <p:cNvSpPr txBox="1"/>
          <p:nvPr/>
        </p:nvSpPr>
        <p:spPr>
          <a:xfrm>
            <a:off x="6382512" y="5047488"/>
            <a:ext cx="5074920" cy="713232"/>
          </a:xfrm>
          <a:prstGeom prst="rect">
            <a:avLst/>
          </a:prstGeom>
          <a:noFill/>
        </p:spPr>
        <p:txBody>
          <a:bodyPr wrap="square" lIns="0" rIns="0" tIns="0" bIns="0">
            <a:spAutoFit/>
          </a:bodyPr>
          <a:lstStyle/>
          <a:p>
            <a:pPr algn="l">
              <a:spcAft>
                <a:spcPts val="0"/>
              </a:spcAft>
            </a:pPr>
            <a:r>
              <a:rPr sz="919" b="0" i="1">
                <a:solidFill>
                  <a:srgbClr val="33414E"/>
                </a:solidFill>
                <a:latin typeface="Segoe UI"/>
              </a:rPr>
              <a:t>“SCORA Honey Glow Tone Up Cream 30 Gr (điểm 0.95) [ev:794fca742fae:0001]; … Điểm chỉ dùng để xếp hạng tương đồng; không khẳng định cùng mẫu hoặc cùng SKU.”</a:t>
            </a:r>
          </a:p>
        </p:txBody>
      </p:sp>
      <p:sp>
        <p:nvSpPr>
          <p:cNvPr id="44" name="TextBox 43"/>
          <p:cNvSpPr txBox="1"/>
          <p:nvPr/>
        </p:nvSpPr>
        <p:spPr>
          <a:xfrm>
            <a:off x="6382512" y="5779008"/>
            <a:ext cx="5074920" cy="237744"/>
          </a:xfrm>
          <a:prstGeom prst="rect">
            <a:avLst/>
          </a:prstGeom>
          <a:noFill/>
        </p:spPr>
        <p:txBody>
          <a:bodyPr wrap="square" lIns="0" rIns="0" tIns="0" bIns="0">
            <a:spAutoFit/>
          </a:bodyPr>
          <a:lstStyle/>
          <a:p>
            <a:pPr algn="l">
              <a:spcAft>
                <a:spcPts val="0"/>
              </a:spcAft>
            </a:pPr>
            <a:r>
              <a:rPr sz="900" b="1" i="0">
                <a:solidFill>
                  <a:srgbClr val="2F7A4F"/>
                </a:solidFill>
                <a:latin typeface="Segoe UI"/>
              </a:rPr>
              <a:t>→ Trả lời được nhưng vẫn tự giới hạn tuyên bố</a:t>
            </a:r>
          </a:p>
        </p:txBody>
      </p:sp>
      <p:sp>
        <p:nvSpPr>
          <p:cNvPr id="45" name="Rectangle 44"/>
          <p:cNvSpPr/>
          <p:nvPr/>
        </p:nvSpPr>
        <p:spPr>
          <a:xfrm>
            <a:off x="566928" y="6172200"/>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Đánh giá độc lập 20 câu — và sáu lớp lỗi đã khắc phục</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CHART 3/4 · Ground truth tính bằng pandas thuần, KHÔNG import gladiators</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15</a:t>
            </a:r>
          </a:p>
        </p:txBody>
      </p:sp>
      <p:graphicFrame>
        <p:nvGraphicFramePr>
          <p:cNvPr id="9" name="Chart 8"/>
          <p:cNvGraphicFramePr>
            <a:graphicFrameLocks noGrp="1"/>
          </p:cNvGraphicFramePr>
          <p:nvPr/>
        </p:nvGraphicFramePr>
        <p:xfrm>
          <a:off x="566928" y="1627632"/>
          <a:ext cx="5577840" cy="2697480"/>
        </p:xfrm>
        <a:graphic>
          <a:graphicData uri="http://schemas.openxmlformats.org/drawingml/2006/chart">
            <c:chart xmlns:c="http://schemas.openxmlformats.org/drawingml/2006/chart" r:id="rId2"/>
          </a:graphicData>
        </a:graphic>
      </p:graphicFrame>
      <p:sp>
        <p:nvSpPr>
          <p:cNvPr id="10" name="TextBox 9"/>
          <p:cNvSpPr txBox="1"/>
          <p:nvPr/>
        </p:nvSpPr>
        <p:spPr>
          <a:xfrm>
            <a:off x="566928" y="4407408"/>
            <a:ext cx="5577840" cy="822960"/>
          </a:xfrm>
          <a:prstGeom prst="rect">
            <a:avLst/>
          </a:prstGeom>
          <a:noFill/>
        </p:spPr>
        <p:txBody>
          <a:bodyPr wrap="square" lIns="0" rIns="0" tIns="0" bIns="0">
            <a:spAutoFit/>
          </a:bodyPr>
          <a:lstStyle/>
          <a:p>
            <a:pPr algn="l">
              <a:spcAft>
                <a:spcPts val="400"/>
              </a:spcAft>
            </a:pPr>
            <a:r>
              <a:rPr sz="1150" b="1" i="0">
                <a:solidFill>
                  <a:srgbClr val="A6333F"/>
                </a:solidFill>
                <a:latin typeface="Segoe UI"/>
              </a:rPr>
              <a:t>Chỉ số KHÔNG được đánh đổi: “hiển thị số sai” phải về 0.</a:t>
            </a:r>
          </a:p>
          <a:p>
            <a:pPr algn="l">
              <a:spcAft>
                <a:spcPts val="0"/>
              </a:spcAft>
            </a:pPr>
            <a:r>
              <a:rPr sz="1050" b="0" i="0">
                <a:solidFill>
                  <a:srgbClr val="33414E"/>
                </a:solidFill>
                <a:latin typeface="Segoe UI"/>
              </a:rPr>
              <a:t>Tăng số câu trả lời được bằng cách NỚI LỎNG kiểm tra là đi ngược toàn bộ mục đích của kiến trúc này. Sau mỗi thay đổi, verifier_mutation_detection phải giữ 1.0 — nếu nó tụt, bản vá đã tắt một phép kiểm chứ không sửa một lỗi.</a:t>
            </a:r>
          </a:p>
        </p:txBody>
      </p:sp>
      <p:sp>
        <p:nvSpPr>
          <p:cNvPr id="11" name="Rectangle 10"/>
          <p:cNvSpPr/>
          <p:nvPr/>
        </p:nvSpPr>
        <p:spPr>
          <a:xfrm>
            <a:off x="566928" y="5349240"/>
            <a:ext cx="5577840" cy="6858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5349240"/>
            <a:ext cx="41148" cy="685800"/>
          </a:xfrm>
          <a:prstGeom prst="rect">
            <a:avLst/>
          </a:prstGeom>
          <a:solidFill>
            <a:srgbClr val="8A9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5495544"/>
            <a:ext cx="5212080" cy="411480"/>
          </a:xfrm>
          <a:prstGeom prst="rect">
            <a:avLst/>
          </a:prstGeom>
          <a:noFill/>
        </p:spPr>
        <p:txBody>
          <a:bodyPr wrap="square" lIns="0" rIns="0" tIns="0" bIns="0">
            <a:spAutoFit/>
          </a:bodyPr>
          <a:lstStyle/>
          <a:p>
            <a:pPr algn="l">
              <a:spcAft>
                <a:spcPts val="500"/>
              </a:spcAft>
            </a:pPr>
            <a:r>
              <a:rPr sz="1050" b="1" i="0">
                <a:solidFill>
                  <a:srgbClr val="141B24"/>
                </a:solidFill>
                <a:latin typeface="Segoe UI"/>
              </a:rPr>
              <a:t>Ba giới hạn của chính phép đo này — nói rõ để không đọc quá lời</a:t>
            </a:r>
          </a:p>
          <a:p>
            <a:pPr algn="l">
              <a:spcAft>
                <a:spcPts val="300"/>
              </a:spcAft>
            </a:pPr>
            <a:r>
              <a:rPr sz="950" b="0" i="0">
                <a:solidFill>
                  <a:srgbClr val="33414E"/>
                </a:solidFill>
                <a:latin typeface="Segoe UI"/>
              </a:rPr>
              <a:t>N=20 (một câu lật đổi 5%) · bộ câu soạn SAU khi đã biết điểm yếu · chấm bằng luật máy, ba ca wrong_value đã kiểm tay</a:t>
            </a:r>
          </a:p>
        </p:txBody>
      </p:sp>
      <p:graphicFrame>
        <p:nvGraphicFramePr>
          <p:cNvPr id="14" name="Table 13"/>
          <p:cNvGraphicFramePr>
            <a:graphicFrameLocks noGrp="1"/>
          </p:cNvGraphicFramePr>
          <p:nvPr/>
        </p:nvGraphicFramePr>
        <p:xfrm>
          <a:off x="6446520" y="1627632"/>
          <a:ext cx="5193790" cy="3840480"/>
        </p:xfrm>
        <a:graphic>
          <a:graphicData uri="http://schemas.openxmlformats.org/drawingml/2006/table">
            <a:tbl>
              <a:tblPr firstRow="1" bandRow="1">
                <a:tableStyleId>{5C22544A-7EE6-4342-B048-85BDC9FD1C3A}</a:tableStyleId>
              </a:tblPr>
              <a:tblGrid>
                <a:gridCol w="2700771"/>
                <a:gridCol w="934882"/>
                <a:gridCol w="1558137"/>
              </a:tblGrid>
              <a:tr h="548640">
                <a:tc>
                  <a:txBody>
                    <a:bodyPr wrap="square"/>
                    <a:lstStyle/>
                    <a:p>
                      <a:pPr algn="l"/>
                      <a:r>
                        <a:rPr sz="1000" b="1">
                          <a:solidFill>
                            <a:srgbClr val="FFFFFF"/>
                          </a:solidFill>
                          <a:latin typeface="Segoe UI"/>
                        </a:rPr>
                        <a:t>Lớp lỗi</a:t>
                      </a:r>
                    </a:p>
                  </a:txBody>
                  <a:tcPr marL="82296" marR="82296" marT="18288" marB="18288" anchor="ctr">
                    <a:solidFill>
                      <a:srgbClr val="0F2A43"/>
                    </a:solidFill>
                  </a:tcPr>
                </a:tc>
                <a:tc>
                  <a:txBody>
                    <a:bodyPr wrap="square"/>
                    <a:lstStyle/>
                    <a:p>
                      <a:pPr algn="l"/>
                      <a:r>
                        <a:rPr sz="1000" b="1">
                          <a:solidFill>
                            <a:srgbClr val="FFFFFF"/>
                          </a:solidFill>
                          <a:latin typeface="Segoe UI"/>
                        </a:rPr>
                        <a:t>Ca</a:t>
                      </a:r>
                    </a:p>
                  </a:txBody>
                  <a:tcPr marL="82296" marR="82296" marT="18288" marB="18288" anchor="ctr">
                    <a:solidFill>
                      <a:srgbClr val="0F2A43"/>
                    </a:solidFill>
                  </a:tcPr>
                </a:tc>
                <a:tc>
                  <a:txBody>
                    <a:bodyPr wrap="square"/>
                    <a:lstStyle/>
                    <a:p>
                      <a:pPr algn="l"/>
                      <a:r>
                        <a:rPr sz="1000" b="1">
                          <a:solidFill>
                            <a:srgbClr val="FFFFFF"/>
                          </a:solidFill>
                          <a:latin typeface="Segoe UI"/>
                        </a:rPr>
                        <a:t>Trạng thái</a:t>
                      </a:r>
                    </a:p>
                  </a:txBody>
                  <a:tcPr marL="82296" marR="82296" marT="18288" marB="18288" anchor="ctr">
                    <a:solidFill>
                      <a:srgbClr val="0F2A43"/>
                    </a:solidFill>
                  </a:tcPr>
                </a:tc>
              </a:tr>
              <a:tr h="548640">
                <a:tc>
                  <a:txBody>
                    <a:bodyPr wrap="square"/>
                    <a:lstStyle/>
                    <a:p>
                      <a:pPr algn="l"/>
                      <a:r>
                        <a:rPr sz="950" b="0">
                          <a:solidFill>
                            <a:srgbClr val="33414E"/>
                          </a:solidFill>
                          <a:latin typeface="Segoe UI"/>
                        </a:rPr>
                        <a:t>A · Entity ref là đơn vị phân tích,
không phải khoá gom nhóm</a:t>
                      </a:r>
                    </a:p>
                  </a:txBody>
                  <a:tcPr marL="82296" marR="82296" marT="18288" marB="18288" anchor="ctr">
                    <a:solidFill>
                      <a:srgbClr val="FFFFFF"/>
                    </a:solidFill>
                  </a:tcPr>
                </a:tc>
                <a:tc>
                  <a:txBody>
                    <a:bodyPr wrap="square"/>
                    <a:lstStyle/>
                    <a:p>
                      <a:pPr algn="l"/>
                      <a:r>
                        <a:rPr sz="950" b="0">
                          <a:solidFill>
                            <a:srgbClr val="33414E"/>
                          </a:solidFill>
                          <a:latin typeface="Segoe UI"/>
                        </a:rPr>
                        <a:t>bgk01 · 02
bgk08 · 11</a:t>
                      </a:r>
                    </a:p>
                  </a:txBody>
                  <a:tcPr marL="82296" marR="82296" marT="18288" marB="18288" anchor="ctr">
                    <a:solidFill>
                      <a:srgbClr val="FFFFFF"/>
                    </a:solidFill>
                  </a:tcPr>
                </a:tc>
                <a:tc>
                  <a:txBody>
                    <a:bodyPr wrap="square"/>
                    <a:lstStyle/>
                    <a:p>
                      <a:pPr algn="l"/>
                      <a:r>
                        <a:rPr sz="950" b="0">
                          <a:solidFill>
                            <a:srgbClr val="33414E"/>
                          </a:solidFill>
                          <a:latin typeface="Segoe UI"/>
                        </a:rPr>
                        <a:t>✔ đã hiện thực</a:t>
                      </a:r>
                    </a:p>
                  </a:txBody>
                  <a:tcPr marL="82296" marR="82296" marT="18288" marB="18288" anchor="ctr">
                    <a:solidFill>
                      <a:srgbClr val="FFFFFF"/>
                    </a:solidFill>
                  </a:tcPr>
                </a:tc>
              </a:tr>
              <a:tr h="548640">
                <a:tc>
                  <a:txBody>
                    <a:bodyPr wrap="square"/>
                    <a:lstStyle/>
                    <a:p>
                      <a:pPr algn="l"/>
                      <a:r>
                        <a:rPr sz="950" b="0">
                          <a:solidFill>
                            <a:srgbClr val="33414E"/>
                          </a:solidFill>
                          <a:latin typeface="Segoe UI"/>
                        </a:rPr>
                        <a:t>B · Coverage ≠ containment;
tiền đề không được kiểm</a:t>
                      </a:r>
                    </a:p>
                  </a:txBody>
                  <a:tcPr marL="82296" marR="82296" marT="18288" marB="18288" anchor="ctr">
                    <a:solidFill>
                      <a:srgbClr val="F2F5F8"/>
                    </a:solidFill>
                  </a:tcPr>
                </a:tc>
                <a:tc>
                  <a:txBody>
                    <a:bodyPr wrap="square"/>
                    <a:lstStyle/>
                    <a:p>
                      <a:pPr algn="l"/>
                      <a:r>
                        <a:rPr sz="950" b="0">
                          <a:solidFill>
                            <a:srgbClr val="33414E"/>
                          </a:solidFill>
                          <a:latin typeface="Segoe UI"/>
                        </a:rPr>
                        <a:t>bgk13</a:t>
                      </a:r>
                    </a:p>
                  </a:txBody>
                  <a:tcPr marL="82296" marR="82296" marT="18288" marB="18288" anchor="ctr">
                    <a:solidFill>
                      <a:srgbClr val="F2F5F8"/>
                    </a:solidFill>
                  </a:tcPr>
                </a:tc>
                <a:tc>
                  <a:txBody>
                    <a:bodyPr wrap="square"/>
                    <a:lstStyle/>
                    <a:p>
                      <a:pPr algn="l"/>
                      <a:r>
                        <a:rPr sz="950" b="0">
                          <a:solidFill>
                            <a:srgbClr val="33414E"/>
                          </a:solidFill>
                          <a:latin typeface="Segoe UI"/>
                        </a:rPr>
                        <a:t>✔ đã hiện thực</a:t>
                      </a:r>
                    </a:p>
                  </a:txBody>
                  <a:tcPr marL="82296" marR="82296" marT="18288" marB="18288" anchor="ctr">
                    <a:solidFill>
                      <a:srgbClr val="F2F5F8"/>
                    </a:solidFill>
                  </a:tcPr>
                </a:tc>
              </a:tr>
              <a:tr h="548640">
                <a:tc>
                  <a:txBody>
                    <a:bodyPr wrap="square"/>
                    <a:lstStyle/>
                    <a:p>
                      <a:pPr algn="l"/>
                      <a:r>
                        <a:rPr sz="950" b="0">
                          <a:solidFill>
                            <a:srgbClr val="33414E"/>
                          </a:solidFill>
                          <a:latin typeface="Segoe UI"/>
                        </a:rPr>
                        <a:t>C · Phép đếm thừa hưởng bộ lọc
của phép đo</a:t>
                      </a:r>
                    </a:p>
                  </a:txBody>
                  <a:tcPr marL="82296" marR="82296" marT="18288" marB="18288" anchor="ctr">
                    <a:solidFill>
                      <a:srgbClr val="FFFFFF"/>
                    </a:solidFill>
                  </a:tcPr>
                </a:tc>
                <a:tc>
                  <a:txBody>
                    <a:bodyPr wrap="square"/>
                    <a:lstStyle/>
                    <a:p>
                      <a:pPr algn="l"/>
                      <a:r>
                        <a:rPr sz="950" b="0">
                          <a:solidFill>
                            <a:srgbClr val="33414E"/>
                          </a:solidFill>
                          <a:latin typeface="Segoe UI"/>
                        </a:rPr>
                        <a:t>bgk03 · 10</a:t>
                      </a:r>
                    </a:p>
                  </a:txBody>
                  <a:tcPr marL="82296" marR="82296" marT="18288" marB="18288" anchor="ctr">
                    <a:solidFill>
                      <a:srgbClr val="FFFFFF"/>
                    </a:solidFill>
                  </a:tcPr>
                </a:tc>
                <a:tc>
                  <a:txBody>
                    <a:bodyPr wrap="square"/>
                    <a:lstStyle/>
                    <a:p>
                      <a:pPr algn="l"/>
                      <a:r>
                        <a:rPr sz="950" b="0">
                          <a:solidFill>
                            <a:srgbClr val="33414E"/>
                          </a:solidFill>
                          <a:latin typeface="Segoe UI"/>
                        </a:rPr>
                        <a:t>✔ đã hiện thực</a:t>
                      </a:r>
                    </a:p>
                  </a:txBody>
                  <a:tcPr marL="82296" marR="82296" marT="18288" marB="18288" anchor="ctr">
                    <a:solidFill>
                      <a:srgbClr val="FFFFFF"/>
                    </a:solidFill>
                  </a:tcPr>
                </a:tc>
              </a:tr>
              <a:tr h="548640">
                <a:tc>
                  <a:txBody>
                    <a:bodyPr wrap="square"/>
                    <a:lstStyle/>
                    <a:p>
                      <a:pPr algn="l"/>
                      <a:r>
                        <a:rPr sz="950" b="0">
                          <a:solidFill>
                            <a:srgbClr val="33414E"/>
                          </a:solidFill>
                          <a:latin typeface="Segoe UI"/>
                        </a:rPr>
                        <a:t>D · Blocker không khắc phục được
phải thắng blocker khắc phục được</a:t>
                      </a:r>
                    </a:p>
                  </a:txBody>
                  <a:tcPr marL="82296" marR="82296" marT="18288" marB="18288" anchor="ctr">
                    <a:solidFill>
                      <a:srgbClr val="F2F5F8"/>
                    </a:solidFill>
                  </a:tcPr>
                </a:tc>
                <a:tc>
                  <a:txBody>
                    <a:bodyPr wrap="square"/>
                    <a:lstStyle/>
                    <a:p>
                      <a:pPr algn="l"/>
                      <a:r>
                        <a:rPr sz="950" b="0">
                          <a:solidFill>
                            <a:srgbClr val="33414E"/>
                          </a:solidFill>
                          <a:latin typeface="Segoe UI"/>
                        </a:rPr>
                        <a:t>bgk14 · 16</a:t>
                      </a:r>
                    </a:p>
                  </a:txBody>
                  <a:tcPr marL="82296" marR="82296" marT="18288" marB="18288" anchor="ctr">
                    <a:solidFill>
                      <a:srgbClr val="F2F5F8"/>
                    </a:solidFill>
                  </a:tcPr>
                </a:tc>
                <a:tc>
                  <a:txBody>
                    <a:bodyPr wrap="square"/>
                    <a:lstStyle/>
                    <a:p>
                      <a:pPr algn="l"/>
                      <a:r>
                        <a:rPr sz="950" b="0">
                          <a:solidFill>
                            <a:srgbClr val="33414E"/>
                          </a:solidFill>
                          <a:latin typeface="Segoe UI"/>
                        </a:rPr>
                        <a:t>✔ đã hiện thực</a:t>
                      </a:r>
                    </a:p>
                  </a:txBody>
                  <a:tcPr marL="82296" marR="82296" marT="18288" marB="18288" anchor="ctr">
                    <a:solidFill>
                      <a:srgbClr val="F2F5F8"/>
                    </a:solidFill>
                  </a:tcPr>
                </a:tc>
              </a:tr>
              <a:tr h="548640">
                <a:tc>
                  <a:txBody>
                    <a:bodyPr wrap="square"/>
                    <a:lstStyle/>
                    <a:p>
                      <a:pPr algn="l"/>
                      <a:r>
                        <a:rPr sz="950" b="0">
                          <a:solidFill>
                            <a:srgbClr val="33414E"/>
                          </a:solidFill>
                          <a:latin typeface="Segoe UI"/>
                        </a:rPr>
                        <a:t>E · Ánh xạ chữ → ký hiệu</a:t>
                      </a:r>
                    </a:p>
                  </a:txBody>
                  <a:tcPr marL="82296" marR="82296" marT="18288" marB="18288" anchor="ctr">
                    <a:solidFill>
                      <a:srgbClr val="FFFFFF"/>
                    </a:solidFill>
                  </a:tcPr>
                </a:tc>
                <a:tc>
                  <a:txBody>
                    <a:bodyPr wrap="square"/>
                    <a:lstStyle/>
                    <a:p>
                      <a:pPr algn="l"/>
                      <a:r>
                        <a:rPr sz="950" b="0">
                          <a:solidFill>
                            <a:srgbClr val="33414E"/>
                          </a:solidFill>
                          <a:latin typeface="Segoe UI"/>
                        </a:rPr>
                        <a:t>bgk05 · 11</a:t>
                      </a:r>
                    </a:p>
                  </a:txBody>
                  <a:tcPr marL="82296" marR="82296" marT="18288" marB="18288" anchor="ctr">
                    <a:solidFill>
                      <a:srgbClr val="FFFFFF"/>
                    </a:solidFill>
                  </a:tcPr>
                </a:tc>
                <a:tc>
                  <a:txBody>
                    <a:bodyPr wrap="square"/>
                    <a:lstStyle/>
                    <a:p>
                      <a:pPr algn="l"/>
                      <a:r>
                        <a:rPr sz="950" b="0">
                          <a:solidFill>
                            <a:srgbClr val="33414E"/>
                          </a:solidFill>
                          <a:latin typeface="Segoe UI"/>
                        </a:rPr>
                        <a:t>✔ đã hiện thực</a:t>
                      </a:r>
                    </a:p>
                  </a:txBody>
                  <a:tcPr marL="82296" marR="82296" marT="18288" marB="18288" anchor="ctr">
                    <a:solidFill>
                      <a:srgbClr val="FFFFFF"/>
                    </a:solidFill>
                  </a:tcPr>
                </a:tc>
              </a:tr>
              <a:tr h="548640">
                <a:tc>
                  <a:txBody>
                    <a:bodyPr wrap="square"/>
                    <a:lstStyle/>
                    <a:p>
                      <a:pPr algn="l"/>
                      <a:r>
                        <a:rPr sz="950" b="0">
                          <a:solidFill>
                            <a:srgbClr val="33414E"/>
                          </a:solidFill>
                          <a:latin typeface="Segoe UI"/>
                        </a:rPr>
                        <a:t>F · Chính sách trọng tài LLM</a:t>
                      </a:r>
                    </a:p>
                  </a:txBody>
                  <a:tcPr marL="82296" marR="82296" marT="18288" marB="18288" anchor="ctr">
                    <a:solidFill>
                      <a:srgbClr val="F2F5F8"/>
                    </a:solidFill>
                  </a:tcPr>
                </a:tc>
                <a:tc>
                  <a:txBody>
                    <a:bodyPr wrap="square"/>
                    <a:lstStyle/>
                    <a:p>
                      <a:pPr algn="l"/>
                      <a:r>
                        <a:rPr sz="950" b="0">
                          <a:solidFill>
                            <a:srgbClr val="33414E"/>
                          </a:solidFill>
                          <a:latin typeface="Segoe UI"/>
                        </a:rPr>
                        <a:t>toàn bộ</a:t>
                      </a:r>
                    </a:p>
                  </a:txBody>
                  <a:tcPr marL="82296" marR="82296" marT="18288" marB="18288" anchor="ctr">
                    <a:solidFill>
                      <a:srgbClr val="F2F5F8"/>
                    </a:solidFill>
                  </a:tcPr>
                </a:tc>
                <a:tc>
                  <a:txBody>
                    <a:bodyPr wrap="square"/>
                    <a:lstStyle/>
                    <a:p>
                      <a:pPr algn="l"/>
                      <a:r>
                        <a:rPr sz="950" b="0">
                          <a:solidFill>
                            <a:srgbClr val="33414E"/>
                          </a:solidFill>
                          <a:latin typeface="Segoe UI"/>
                        </a:rPr>
                        <a:t>✔ trace; precedence giữ nguyên</a:t>
                      </a:r>
                    </a:p>
                  </a:txBody>
                  <a:tcPr marL="82296" marR="82296" marT="18288" marB="18288" anchor="ctr">
                    <a:solidFill>
                      <a:srgbClr val="F2F5F8"/>
                    </a:solidFill>
                  </a:tcPr>
                </a:tc>
              </a:tr>
            </a:tbl>
          </a:graphicData>
        </a:graphic>
      </p:graphicFrame>
      <p:sp>
        <p:nvSpPr>
          <p:cNvPr id="15" name="TextBox 14"/>
          <p:cNvSpPr txBox="1"/>
          <p:nvPr/>
        </p:nvSpPr>
        <p:spPr>
          <a:xfrm>
            <a:off x="6446520" y="5532120"/>
            <a:ext cx="5193792" cy="502920"/>
          </a:xfrm>
          <a:prstGeom prst="rect">
            <a:avLst/>
          </a:prstGeom>
          <a:noFill/>
        </p:spPr>
        <p:txBody>
          <a:bodyPr wrap="square" lIns="0" rIns="0" tIns="0" bIns="0">
            <a:spAutoFit/>
          </a:bodyPr>
          <a:lstStyle/>
          <a:p>
            <a:pPr algn="l">
              <a:spcAft>
                <a:spcPts val="300"/>
              </a:spcAft>
            </a:pPr>
            <a:r>
              <a:rPr sz="1050" b="1" i="0">
                <a:solidFill>
                  <a:srgbClr val="2F7A4F"/>
                </a:solidFill>
                <a:latin typeface="Segoe UI"/>
              </a:rPr>
              <a:t>Xác minh lại 10/08:</a:t>
            </a:r>
          </a:p>
          <a:p>
            <a:pPr algn="l">
              <a:spcAft>
                <a:spcPts val="0"/>
              </a:spcAft>
            </a:pPr>
            <a:r>
              <a:rPr sz="950" b="0" i="0">
                <a:solidFill>
                  <a:srgbClr val="33414E"/>
                </a:solidFill>
                <a:latin typeface="Segoe UI"/>
              </a:rPr>
              <a:t>bgk01 → shop_count=10 ✔ · bgk02/11 crash → clarify có rule_id ✔ · bgk03 → 577/91 khớp oracle ✔ · bgk13 → clarify coverage ✔ · bgk16 → A-ENTITY-NOT-FOUND ✔ · bgk14 → A-MISSING-PROFIT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Trạng thái đo — bảy suite, đo lại sau vòng sửa sáu lớp lỗi</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CHART 4/4 · Đo tại HEAD nhánh MVP_Dai_V2 (1cf7327), provider=offline, --runs 3</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16</a:t>
            </a:r>
          </a:p>
        </p:txBody>
      </p:sp>
      <p:graphicFrame>
        <p:nvGraphicFramePr>
          <p:cNvPr id="9" name="Chart 8"/>
          <p:cNvGraphicFramePr>
            <a:graphicFrameLocks noGrp="1"/>
          </p:cNvGraphicFramePr>
          <p:nvPr/>
        </p:nvGraphicFramePr>
        <p:xfrm>
          <a:off x="566928" y="1627632"/>
          <a:ext cx="6766560" cy="3063240"/>
        </p:xfrm>
        <a:graphic>
          <a:graphicData uri="http://schemas.openxmlformats.org/drawingml/2006/chart">
            <c:chart xmlns:c="http://schemas.openxmlformats.org/drawingml/2006/chart" r:id="rId2"/>
          </a:graphicData>
        </a:graphic>
      </p:graphicFrame>
      <p:sp>
        <p:nvSpPr>
          <p:cNvPr id="10" name="Rectangle 9"/>
          <p:cNvSpPr/>
          <p:nvPr/>
        </p:nvSpPr>
        <p:spPr>
          <a:xfrm>
            <a:off x="566928" y="4864608"/>
            <a:ext cx="6766560" cy="1170432"/>
          </a:xfrm>
          <a:prstGeom prst="rect">
            <a:avLst/>
          </a:prstGeom>
          <a:solidFill>
            <a:srgbClr val="FFF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4864608"/>
            <a:ext cx="45720" cy="1170432"/>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4992624"/>
            <a:ext cx="6400800" cy="1005840"/>
          </a:xfrm>
          <a:prstGeom prst="rect">
            <a:avLst/>
          </a:prstGeom>
          <a:noFill/>
        </p:spPr>
        <p:txBody>
          <a:bodyPr wrap="square" lIns="0" rIns="0" tIns="0" bIns="0">
            <a:spAutoFit/>
          </a:bodyPr>
          <a:lstStyle/>
          <a:p>
            <a:pPr algn="l">
              <a:spcAft>
                <a:spcPts val="500"/>
              </a:spcAft>
            </a:pPr>
            <a:r>
              <a:rPr sz="1100" b="1" i="0">
                <a:solidFill>
                  <a:srgbClr val="C96F1E"/>
                </a:solidFill>
                <a:latin typeface="Segoe UI"/>
              </a:rPr>
              <a:t>Regression legacy 0.65 ghi trong CLAUDE.md §5 KHÔNG còn tái lập — và không phải do vòng sửa này</a:t>
            </a:r>
          </a:p>
          <a:p>
            <a:pPr algn="l">
              <a:spcAft>
                <a:spcPts val="0"/>
              </a:spcAft>
            </a:pPr>
            <a:r>
              <a:rPr sz="1000" b="0" i="0">
                <a:solidFill>
                  <a:srgbClr val="33414E"/>
                </a:solidFill>
                <a:latin typeface="Segoe UI"/>
              </a:rPr>
              <a:t>Đo lại chính suite đó ở commit gốc TRƯỚC vòng sửa (31c1d6b, dựng worktree riêng) cũng cho 1.0. Con số 0.65/0.879/0.833 trong CLAUDE.md §5 đo ngày 08/08 tại 1df8e5b và đã cũ; nguyên nhân nó biến mất chưa được truy, nên deck KHÔNG nhận công. Điều kiểm được là trạng thái hiện tại, đo bằng lệnh in ở phụ đề.</a:t>
            </a:r>
          </a:p>
        </p:txBody>
      </p:sp>
      <p:sp>
        <p:nvSpPr>
          <p:cNvPr id="13" name="Rectangle 12"/>
          <p:cNvSpPr/>
          <p:nvPr/>
        </p:nvSpPr>
        <p:spPr>
          <a:xfrm>
            <a:off x="7607808" y="1627632"/>
            <a:ext cx="4032504" cy="2148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07808" y="1627632"/>
            <a:ext cx="41148" cy="2148840"/>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08976" y="1773936"/>
            <a:ext cx="3666744" cy="187452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Chỉ số giữ nguyên 1.0 — không được phép tụt</a:t>
            </a:r>
          </a:p>
          <a:p>
            <a:pPr algn="l">
              <a:spcAft>
                <a:spcPts val="300"/>
              </a:spcAft>
            </a:pPr>
            <a:r>
              <a:rPr sz="1000" b="0" i="0">
                <a:solidFill>
                  <a:srgbClr val="33414E"/>
                </a:solidFill>
                <a:latin typeface="Segoe UI"/>
              </a:rPr>
              <a:t>verifier_mutation_detection     1.0</a:t>
            </a:r>
          </a:p>
          <a:p>
            <a:pPr algn="l">
              <a:spcAft>
                <a:spcPts val="300"/>
              </a:spcAft>
            </a:pPr>
            <a:r>
              <a:rPr sz="1000" b="0" i="0">
                <a:solidFill>
                  <a:srgbClr val="33414E"/>
                </a:solidFill>
                <a:latin typeface="Segoe UI"/>
              </a:rPr>
              <a:t>evidence_accuracy               1.0</a:t>
            </a:r>
          </a:p>
          <a:p>
            <a:pPr algn="l">
              <a:spcAft>
                <a:spcPts val="300"/>
              </a:spcAft>
            </a:pPr>
            <a:r>
              <a:rPr sz="1000" b="0" i="0">
                <a:solidFill>
                  <a:srgbClr val="33414E"/>
                </a:solidFill>
                <a:latin typeface="Segoe UI"/>
              </a:rPr>
              <a:t>citation_recall / precision     1.0</a:t>
            </a:r>
          </a:p>
          <a:p>
            <a:pPr algn="l">
              <a:spcAft>
                <a:spcPts val="300"/>
              </a:spcAft>
            </a:pPr>
            <a:r>
              <a:rPr sz="1000" b="0" i="0">
                <a:solidFill>
                  <a:srgbClr val="33414E"/>
                </a:solidFill>
                <a:latin typeface="Segoe UI"/>
              </a:rPr>
              <a:t>routing_accuracy                1.0</a:t>
            </a:r>
          </a:p>
          <a:p>
            <a:pPr algn="l">
              <a:spcAft>
                <a:spcPts val="300"/>
              </a:spcAft>
            </a:pPr>
            <a:r>
              <a:rPr sz="1000" b="0" i="0">
                <a:solidFill>
                  <a:srgbClr val="33414E"/>
                </a:solidFill>
                <a:latin typeface="Segoe UI"/>
              </a:rPr>
              <a:t>semantic_plan_success_rate      1.0</a:t>
            </a:r>
          </a:p>
          <a:p>
            <a:pPr algn="l">
              <a:spcAft>
                <a:spcPts val="300"/>
              </a:spcAft>
            </a:pPr>
            <a:r>
              <a:rPr sz="1000" b="0" i="0">
                <a:solidFill>
                  <a:srgbClr val="33414E"/>
                </a:solidFill>
                <a:latin typeface="Segoe UI"/>
              </a:rPr>
              <a:t>plan_stability_rate             1.0</a:t>
            </a:r>
          </a:p>
          <a:p>
            <a:pPr algn="l">
              <a:spcAft>
                <a:spcPts val="300"/>
              </a:spcAft>
            </a:pPr>
            <a:r>
              <a:rPr sz="1000" b="0" i="0">
                <a:solidFill>
                  <a:srgbClr val="33414E"/>
                </a:solidFill>
                <a:latin typeface="Segoe UI"/>
              </a:rPr>
              <a:t>crash_rate                      0.0</a:t>
            </a:r>
          </a:p>
        </p:txBody>
      </p:sp>
      <p:sp>
        <p:nvSpPr>
          <p:cNvPr id="16" name="Rectangle 15"/>
          <p:cNvSpPr/>
          <p:nvPr/>
        </p:nvSpPr>
        <p:spPr>
          <a:xfrm>
            <a:off x="7607808" y="3931920"/>
            <a:ext cx="4032504" cy="2103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07808" y="3931920"/>
            <a:ext cx="41148" cy="210312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08976" y="4078224"/>
            <a:ext cx="3666744" cy="182880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Hai luật vận hành khi đọc số</a:t>
            </a:r>
          </a:p>
          <a:p>
            <a:pPr algn="l">
              <a:spcAft>
                <a:spcPts val="300"/>
              </a:spcAft>
            </a:pPr>
            <a:r>
              <a:rPr sz="1000" b="0" i="0">
                <a:solidFill>
                  <a:srgbClr val="33414E"/>
                </a:solidFill>
                <a:latin typeface="Segoe UI"/>
              </a:rPr>
              <a:t>1 · Xác minh bằng HÀNH VI, không bằng cấu trúc.</a:t>
            </a:r>
          </a:p>
          <a:p>
            <a:pPr algn="l">
              <a:spcAft>
                <a:spcPts val="300"/>
              </a:spcAft>
            </a:pPr>
            <a:r>
              <a:rPr sz="1000" b="0" i="0">
                <a:solidFill>
                  <a:srgbClr val="33414E"/>
                </a:solidFill>
                <a:latin typeface="Segoe UI"/>
              </a:rPr>
              <a:t>     Ref do tool tính trông giống hệt measure thật;</a:t>
            </a:r>
          </a:p>
          <a:p>
            <a:pPr algn="l">
              <a:spcAft>
                <a:spcPts val="300"/>
              </a:spcAft>
            </a:pPr>
            <a:r>
              <a:rPr sz="1000" b="0" i="0">
                <a:solidFill>
                  <a:srgbClr val="33414E"/>
                </a:solidFill>
                <a:latin typeface="Segoe UI"/>
              </a:rPr>
              <a:t>     điểm bị void trông giống hệt điểm khoẻ mạnh.</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2 · Harness báo lạ thì NGHI HARNESS TRƯỚC.</a:t>
            </a:r>
          </a:p>
          <a:p>
            <a:pPr algn="l">
              <a:spcAft>
                <a:spcPts val="300"/>
              </a:spcAft>
            </a:pPr>
            <a:r>
              <a:rPr sz="1000" b="0" i="0">
                <a:solidFill>
                  <a:srgbClr val="33414E"/>
                </a:solidFill>
                <a:latin typeface="Segoe UI"/>
              </a:rPr>
              <a:t>     Đã có harness nuốt exception khiến 188 phép đo</a:t>
            </a:r>
          </a:p>
          <a:p>
            <a:pPr algn="l">
              <a:spcAft>
                <a:spcPts val="300"/>
              </a:spcAft>
            </a:pPr>
            <a:r>
              <a:rPr sz="1000" b="0" i="0">
                <a:solidFill>
                  <a:srgbClr val="33414E"/>
                </a:solidFill>
                <a:latin typeface="Segoe UI"/>
              </a:rPr>
              <a:t>     chạy với input rỗng.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LLM đóng góp gì — một phép đo trung thực đến mức bất tiện</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§4.12 · Cùng 20 câu, hai chế độ. Kết quả không phải thứ ta mong đợi</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17</a:t>
            </a:r>
          </a:p>
        </p:txBody>
      </p:sp>
      <p:sp>
        <p:nvSpPr>
          <p:cNvPr id="9" name="TextBox 8"/>
          <p:cNvSpPr txBox="1"/>
          <p:nvPr/>
        </p:nvSpPr>
        <p:spPr>
          <a:xfrm>
            <a:off x="566928" y="1481328"/>
            <a:ext cx="2651760" cy="914400"/>
          </a:xfrm>
          <a:prstGeom prst="rect">
            <a:avLst/>
          </a:prstGeom>
          <a:noFill/>
        </p:spPr>
        <p:txBody>
          <a:bodyPr wrap="square" lIns="0" rIns="0" tIns="0" bIns="0">
            <a:spAutoFit/>
          </a:bodyPr>
          <a:lstStyle/>
          <a:p>
            <a:pPr algn="l">
              <a:spcAft>
                <a:spcPts val="100"/>
              </a:spcAft>
            </a:pPr>
            <a:r>
              <a:rPr sz="3100" b="1" i="0">
                <a:solidFill>
                  <a:srgbClr val="2F7A4F"/>
                </a:solidFill>
                <a:latin typeface="Segoe UI"/>
              </a:rPr>
              <a:t>0,9s</a:t>
            </a:r>
          </a:p>
          <a:p>
            <a:pPr algn="l">
              <a:spcAft>
                <a:spcPts val="0"/>
              </a:spcAft>
            </a:pPr>
            <a:r>
              <a:rPr sz="1000" b="0" i="0">
                <a:solidFill>
                  <a:srgbClr val="6B7A8A"/>
                </a:solidFill>
                <a:latin typeface="Segoe UI"/>
              </a:rPr>
              <a:t>toàn bộ 20 câu · offline</a:t>
            </a:r>
          </a:p>
        </p:txBody>
      </p:sp>
      <p:sp>
        <p:nvSpPr>
          <p:cNvPr id="10" name="TextBox 9"/>
          <p:cNvSpPr txBox="1"/>
          <p:nvPr/>
        </p:nvSpPr>
        <p:spPr>
          <a:xfrm>
            <a:off x="3401568" y="1481328"/>
            <a:ext cx="2651760" cy="914400"/>
          </a:xfrm>
          <a:prstGeom prst="rect">
            <a:avLst/>
          </a:prstGeom>
          <a:noFill/>
        </p:spPr>
        <p:txBody>
          <a:bodyPr wrap="square" lIns="0" rIns="0" tIns="0" bIns="0">
            <a:spAutoFit/>
          </a:bodyPr>
          <a:lstStyle/>
          <a:p>
            <a:pPr algn="l">
              <a:spcAft>
                <a:spcPts val="100"/>
              </a:spcAft>
            </a:pPr>
            <a:r>
              <a:rPr sz="3100" b="1" i="0">
                <a:solidFill>
                  <a:srgbClr val="A6333F"/>
                </a:solidFill>
                <a:latin typeface="Segoe UI"/>
              </a:rPr>
              <a:t>394,1s</a:t>
            </a:r>
          </a:p>
          <a:p>
            <a:pPr algn="l">
              <a:spcAft>
                <a:spcPts val="0"/>
              </a:spcAft>
            </a:pPr>
            <a:r>
              <a:rPr sz="1000" b="0" i="0">
                <a:solidFill>
                  <a:srgbClr val="6B7A8A"/>
                </a:solidFill>
                <a:latin typeface="Segoe UI"/>
              </a:rPr>
              <a:t>toàn bộ 20 câu · LLM (deepseek)</a:t>
            </a:r>
          </a:p>
        </p:txBody>
      </p:sp>
      <p:sp>
        <p:nvSpPr>
          <p:cNvPr id="11" name="TextBox 10"/>
          <p:cNvSpPr txBox="1"/>
          <p:nvPr/>
        </p:nvSpPr>
        <p:spPr>
          <a:xfrm>
            <a:off x="6236208" y="1481328"/>
            <a:ext cx="2651760" cy="914400"/>
          </a:xfrm>
          <a:prstGeom prst="rect">
            <a:avLst/>
          </a:prstGeom>
          <a:noFill/>
        </p:spPr>
        <p:txBody>
          <a:bodyPr wrap="square" lIns="0" rIns="0" tIns="0" bIns="0">
            <a:spAutoFit/>
          </a:bodyPr>
          <a:lstStyle/>
          <a:p>
            <a:pPr algn="l">
              <a:spcAft>
                <a:spcPts val="100"/>
              </a:spcAft>
            </a:pPr>
            <a:r>
              <a:rPr sz="3100" b="1" i="0">
                <a:solidFill>
                  <a:srgbClr val="A6333F"/>
                </a:solidFill>
                <a:latin typeface="Segoe UI"/>
              </a:rPr>
              <a:t>438×</a:t>
            </a:r>
          </a:p>
          <a:p>
            <a:pPr algn="l">
              <a:spcAft>
                <a:spcPts val="0"/>
              </a:spcAft>
            </a:pPr>
            <a:r>
              <a:rPr sz="1000" b="0" i="0">
                <a:solidFill>
                  <a:srgbClr val="6B7A8A"/>
                </a:solidFill>
                <a:latin typeface="Segoe UI"/>
              </a:rPr>
              <a:t>chi phí thời gian</a:t>
            </a:r>
          </a:p>
        </p:txBody>
      </p:sp>
      <p:sp>
        <p:nvSpPr>
          <p:cNvPr id="12" name="TextBox 11"/>
          <p:cNvSpPr txBox="1"/>
          <p:nvPr/>
        </p:nvSpPr>
        <p:spPr>
          <a:xfrm>
            <a:off x="9070848" y="1481328"/>
            <a:ext cx="2651760" cy="914400"/>
          </a:xfrm>
          <a:prstGeom prst="rect">
            <a:avLst/>
          </a:prstGeom>
          <a:noFill/>
        </p:spPr>
        <p:txBody>
          <a:bodyPr wrap="square" lIns="0" rIns="0" tIns="0" bIns="0">
            <a:spAutoFit/>
          </a:bodyPr>
          <a:lstStyle/>
          <a:p>
            <a:pPr algn="l">
              <a:spcAft>
                <a:spcPts val="100"/>
              </a:spcAft>
            </a:pPr>
            <a:r>
              <a:rPr sz="3100" b="1" i="0">
                <a:solidFill>
                  <a:srgbClr val="C96F1E"/>
                </a:solidFill>
                <a:latin typeface="Segoe UI"/>
              </a:rPr>
              <a:t>19/20</a:t>
            </a:r>
          </a:p>
          <a:p>
            <a:pPr algn="l">
              <a:spcAft>
                <a:spcPts val="0"/>
              </a:spcAft>
            </a:pPr>
            <a:r>
              <a:rPr sz="1000" b="0" i="0">
                <a:solidFill>
                  <a:srgbClr val="6B7A8A"/>
                </a:solidFill>
                <a:latin typeface="Segoe UI"/>
              </a:rPr>
              <a:t>kết cục GIỐNG HỆT NHAU</a:t>
            </a:r>
          </a:p>
        </p:txBody>
      </p:sp>
      <p:sp>
        <p:nvSpPr>
          <p:cNvPr id="13" name="Rectangle 12"/>
          <p:cNvSpPr/>
          <p:nvPr/>
        </p:nvSpPr>
        <p:spPr>
          <a:xfrm>
            <a:off x="566928" y="2542032"/>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788920"/>
            <a:ext cx="5669280" cy="320040"/>
          </a:xfrm>
          <a:prstGeom prst="rect">
            <a:avLst/>
          </a:prstGeom>
          <a:noFill/>
        </p:spPr>
        <p:txBody>
          <a:bodyPr wrap="square" lIns="0" rIns="0" tIns="0" bIns="0">
            <a:spAutoFit/>
          </a:bodyPr>
          <a:lstStyle/>
          <a:p>
            <a:pPr algn="l">
              <a:spcAft>
                <a:spcPts val="0"/>
              </a:spcAft>
            </a:pPr>
            <a:r>
              <a:rPr sz="1200" b="1" i="0">
                <a:solidFill>
                  <a:srgbClr val="141B24"/>
                </a:solidFill>
                <a:latin typeface="Segoe UI"/>
              </a:rPr>
              <a:t>Câu duy nhất khác biệt</a:t>
            </a:r>
          </a:p>
        </p:txBody>
      </p:sp>
      <p:sp>
        <p:nvSpPr>
          <p:cNvPr id="15" name="Rectangle 14"/>
          <p:cNvSpPr/>
          <p:nvPr/>
        </p:nvSpPr>
        <p:spPr>
          <a:xfrm>
            <a:off x="566928" y="3154680"/>
            <a:ext cx="5669280" cy="86868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82696"/>
            <a:ext cx="5349240" cy="630936"/>
          </a:xfrm>
          <a:prstGeom prst="rect">
            <a:avLst/>
          </a:prstGeom>
          <a:noFill/>
        </p:spPr>
        <p:txBody>
          <a:bodyPr wrap="square" lIns="0" rIns="0" tIns="0" bIns="0">
            <a:spAutoFit/>
          </a:bodyPr>
          <a:lstStyle/>
          <a:p>
            <a:pPr>
              <a:spcAft>
                <a:spcPts val="200"/>
              </a:spcAft>
            </a:pPr>
            <a:r>
              <a:rPr sz="1050" b="0">
                <a:solidFill>
                  <a:srgbClr val="C8D6E2"/>
                </a:solidFill>
                <a:latin typeface="Consolas"/>
              </a:rPr>
              <a:t>bgk16   offline → clarify / A-CROSS-CURRENCY-SCOPE</a:t>
            </a:r>
          </a:p>
          <a:p>
            <a:pPr>
              <a:spcAft>
                <a:spcPts val="200"/>
              </a:spcAft>
            </a:pPr>
            <a:r>
              <a:rPr sz="1050" b="0">
                <a:solidFill>
                  <a:srgbClr val="C8D6E2"/>
                </a:solidFill>
                <a:latin typeface="Consolas"/>
              </a:rPr>
              <a:t>        LLM     → clarify / A22-ALIGN-MEASURE</a:t>
            </a:r>
          </a:p>
        </p:txBody>
      </p:sp>
      <p:sp>
        <p:nvSpPr>
          <p:cNvPr id="17" name="TextBox 16"/>
          <p:cNvSpPr txBox="1"/>
          <p:nvPr/>
        </p:nvSpPr>
        <p:spPr>
          <a:xfrm>
            <a:off x="566928" y="4160520"/>
            <a:ext cx="5669280" cy="457200"/>
          </a:xfrm>
          <a:prstGeom prst="rect">
            <a:avLst/>
          </a:prstGeom>
          <a:noFill/>
        </p:spPr>
        <p:txBody>
          <a:bodyPr wrap="square" lIns="0" rIns="0" tIns="0" bIns="0">
            <a:spAutoFit/>
          </a:bodyPr>
          <a:lstStyle/>
          <a:p>
            <a:pPr algn="l">
              <a:spcAft>
                <a:spcPts val="0"/>
              </a:spcAft>
            </a:pPr>
            <a:r>
              <a:rPr sz="1050" b="0" i="1">
                <a:solidFill>
                  <a:srgbClr val="33414E"/>
                </a:solidFill>
                <a:latin typeface="Segoe UI"/>
              </a:rPr>
              <a:t>Một lý do từ chối đổi thành một lý do từ chối khác — không phải một câu trả lời tốt hơn.</a:t>
            </a:r>
          </a:p>
        </p:txBody>
      </p:sp>
      <p:graphicFrame>
        <p:nvGraphicFramePr>
          <p:cNvPr id="18" name="Table 17"/>
          <p:cNvGraphicFramePr>
            <a:graphicFrameLocks noGrp="1"/>
          </p:cNvGraphicFramePr>
          <p:nvPr/>
        </p:nvGraphicFramePr>
        <p:xfrm>
          <a:off x="566928" y="4709160"/>
          <a:ext cx="5669280" cy="1280160"/>
        </p:xfrm>
        <a:graphic>
          <a:graphicData uri="http://schemas.openxmlformats.org/drawingml/2006/table">
            <a:tbl>
              <a:tblPr firstRow="1" bandRow="1">
                <a:tableStyleId>{5C22544A-7EE6-4342-B048-85BDC9FD1C3A}</a:tableStyleId>
              </a:tblPr>
              <a:tblGrid>
                <a:gridCol w="3968496"/>
                <a:gridCol w="1700784"/>
              </a:tblGrid>
              <a:tr h="320040">
                <a:tc>
                  <a:txBody>
                    <a:bodyPr wrap="square"/>
                    <a:lstStyle/>
                    <a:p>
                      <a:pPr algn="l"/>
                      <a:r>
                        <a:rPr sz="1050" b="1">
                          <a:solidFill>
                            <a:srgbClr val="FFFFFF"/>
                          </a:solidFill>
                          <a:latin typeface="Segoe UI"/>
                        </a:rPr>
                        <a:t>Đo trên 32 case có nhãn</a:t>
                      </a:r>
                    </a:p>
                  </a:txBody>
                  <a:tcPr marL="82296" marR="82296" marT="18288" marB="18288" anchor="ctr">
                    <a:solidFill>
                      <a:srgbClr val="0F2A43"/>
                    </a:solidFill>
                  </a:tcPr>
                </a:tc>
                <a:tc>
                  <a:txBody>
                    <a:bodyPr wrap="square"/>
                    <a:lstStyle/>
                    <a:p>
                      <a:pPr algn="r"/>
                      <a:r>
                        <a:rPr sz="1050" b="1">
                          <a:solidFill>
                            <a:srgbClr val="FFFFFF"/>
                          </a:solidFill>
                          <a:latin typeface="Segoe UI"/>
                        </a:rPr>
                        <a:t>Độ đúng intent</a:t>
                      </a:r>
                    </a:p>
                  </a:txBody>
                  <a:tcPr marL="82296" marR="82296" marT="18288" marB="18288" anchor="ctr">
                    <a:solidFill>
                      <a:srgbClr val="0F2A43"/>
                    </a:solidFill>
                  </a:tcPr>
                </a:tc>
              </a:tr>
              <a:tr h="320040">
                <a:tc>
                  <a:txBody>
                    <a:bodyPr wrap="square"/>
                    <a:lstStyle/>
                    <a:p>
                      <a:pPr algn="l"/>
                      <a:r>
                        <a:rPr sz="1050" b="0">
                          <a:solidFill>
                            <a:srgbClr val="33414E"/>
                          </a:solidFill>
                          <a:latin typeface="Segoe UI"/>
                        </a:rPr>
                        <a:t>LLM thô</a:t>
                      </a:r>
                    </a:p>
                  </a:txBody>
                  <a:tcPr marL="82296" marR="82296" marT="18288" marB="18288" anchor="ctr">
                    <a:solidFill>
                      <a:srgbClr val="FFFFFF"/>
                    </a:solidFill>
                  </a:tcPr>
                </a:tc>
                <a:tc>
                  <a:txBody>
                    <a:bodyPr wrap="square"/>
                    <a:lstStyle/>
                    <a:p>
                      <a:pPr algn="r"/>
                      <a:r>
                        <a:rPr sz="1050" b="0">
                          <a:solidFill>
                            <a:srgbClr val="33414E"/>
                          </a:solidFill>
                          <a:latin typeface="Segoe UI"/>
                        </a:rPr>
                        <a:t>71,9%</a:t>
                      </a:r>
                    </a:p>
                  </a:txBody>
                  <a:tcPr marL="82296" marR="82296" marT="18288" marB="18288" anchor="ctr">
                    <a:solidFill>
                      <a:srgbClr val="FFFFFF"/>
                    </a:solidFill>
                  </a:tcPr>
                </a:tc>
              </a:tr>
              <a:tr h="320040">
                <a:tc>
                  <a:txBody>
                    <a:bodyPr wrap="square"/>
                    <a:lstStyle/>
                    <a:p>
                      <a:pPr algn="l"/>
                      <a:r>
                        <a:rPr sz="1050" b="0">
                          <a:solidFill>
                            <a:srgbClr val="33414E"/>
                          </a:solidFill>
                          <a:latin typeface="Segoe UI"/>
                        </a:rPr>
                        <a:t>Deterministic</a:t>
                      </a:r>
                    </a:p>
                  </a:txBody>
                  <a:tcPr marL="82296" marR="82296" marT="18288" marB="18288" anchor="ctr">
                    <a:solidFill>
                      <a:srgbClr val="F2F5F8"/>
                    </a:solidFill>
                  </a:tcPr>
                </a:tc>
                <a:tc>
                  <a:txBody>
                    <a:bodyPr wrap="square"/>
                    <a:lstStyle/>
                    <a:p>
                      <a:pPr algn="r"/>
                      <a:r>
                        <a:rPr sz="1050" b="0">
                          <a:solidFill>
                            <a:srgbClr val="33414E"/>
                          </a:solidFill>
                          <a:latin typeface="Segoe UI"/>
                        </a:rPr>
                        <a:t>53,1%</a:t>
                      </a:r>
                    </a:p>
                  </a:txBody>
                  <a:tcPr marL="82296" marR="82296" marT="18288" marB="18288" anchor="ctr">
                    <a:solidFill>
                      <a:srgbClr val="F2F5F8"/>
                    </a:solidFill>
                  </a:tcPr>
                </a:tc>
              </a:tr>
              <a:tr h="320040">
                <a:tc>
                  <a:txBody>
                    <a:bodyPr wrap="square"/>
                    <a:lstStyle/>
                    <a:p>
                      <a:pPr algn="l"/>
                      <a:r>
                        <a:rPr sz="1050" b="0">
                          <a:solidFill>
                            <a:srgbClr val="33414E"/>
                          </a:solidFill>
                          <a:latin typeface="Segoe UI"/>
                        </a:rPr>
                        <a:t>Sau khi MERGE (thực tế đang chạy)</a:t>
                      </a:r>
                    </a:p>
                  </a:txBody>
                  <a:tcPr marL="82296" marR="82296" marT="18288" marB="18288" anchor="ctr">
                    <a:solidFill>
                      <a:srgbClr val="FFFFFF"/>
                    </a:solidFill>
                  </a:tcPr>
                </a:tc>
                <a:tc>
                  <a:txBody>
                    <a:bodyPr wrap="square"/>
                    <a:lstStyle/>
                    <a:p>
                      <a:pPr algn="r"/>
                      <a:r>
                        <a:rPr sz="1050" b="0">
                          <a:solidFill>
                            <a:srgbClr val="33414E"/>
                          </a:solidFill>
                          <a:latin typeface="Segoe UI"/>
                        </a:rPr>
                        <a:t>53,1%</a:t>
                      </a:r>
                    </a:p>
                  </a:txBody>
                  <a:tcPr marL="82296" marR="82296" marT="18288" marB="18288" anchor="ctr">
                    <a:solidFill>
                      <a:srgbClr val="FFFFFF"/>
                    </a:solidFill>
                  </a:tcPr>
                </a:tc>
              </a:tr>
            </a:tbl>
          </a:graphicData>
        </a:graphic>
      </p:graphicFrame>
      <p:sp>
        <p:nvSpPr>
          <p:cNvPr id="19" name="Rectangle 18"/>
          <p:cNvSpPr/>
          <p:nvPr/>
        </p:nvSpPr>
        <p:spPr>
          <a:xfrm>
            <a:off x="6446520" y="2788920"/>
            <a:ext cx="5193792" cy="16002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46520" y="2788920"/>
            <a:ext cx="41148" cy="160020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47688" y="2935224"/>
            <a:ext cx="4828032" cy="132588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Đọc con số này cho đúng</a:t>
            </a:r>
          </a:p>
          <a:p>
            <a:pPr algn="l">
              <a:spcAft>
                <a:spcPts val="300"/>
              </a:spcAft>
            </a:pPr>
            <a:r>
              <a:rPr sz="1000" b="0" i="0">
                <a:solidFill>
                  <a:srgbClr val="33414E"/>
                </a:solidFill>
                <a:latin typeface="Segoe UI"/>
              </a:rPr>
              <a:t>LLM ĐANG đúng hơn ở tầng intent thô (71,9% so với 53,1%),</a:t>
            </a:r>
          </a:p>
          <a:p>
            <a:pPr algn="l">
              <a:spcAft>
                <a:spcPts val="300"/>
              </a:spcAft>
            </a:pPr>
            <a:r>
              <a:rPr sz="1000" b="0" i="0">
                <a:solidFill>
                  <a:srgbClr val="33414E"/>
                </a:solidFill>
                <a:latin typeface="Segoe UI"/>
              </a:rPr>
              <a:t>nhưng luật precedence trong khâu merge cho deterministic</a:t>
            </a:r>
          </a:p>
          <a:p>
            <a:pPr algn="l">
              <a:spcAft>
                <a:spcPts val="300"/>
              </a:spcAft>
            </a:pPr>
            <a:r>
              <a:rPr sz="1000" b="0" i="0">
                <a:solidFill>
                  <a:srgbClr val="33414E"/>
                </a:solidFill>
                <a:latin typeface="Segoe UI"/>
              </a:rPr>
              <a:t>thắng — nên đóng góp thực tế bằng 0.</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Đây KHÔNG phải lỗi cần vá gấp. Nó là một quyết định an toàn</a:t>
            </a:r>
          </a:p>
          <a:p>
            <a:pPr algn="l">
              <a:spcAft>
                <a:spcPts val="300"/>
              </a:spcAft>
            </a:pPr>
            <a:r>
              <a:rPr sz="1000" b="0" i="0">
                <a:solidFill>
                  <a:srgbClr val="33414E"/>
                </a:solidFill>
                <a:latin typeface="Segoe UI"/>
              </a:rPr>
              <a:t>đang quá chặt.</a:t>
            </a:r>
          </a:p>
        </p:txBody>
      </p:sp>
      <p:sp>
        <p:nvSpPr>
          <p:cNvPr id="22" name="Rectangle 21"/>
          <p:cNvSpPr/>
          <p:nvPr/>
        </p:nvSpPr>
        <p:spPr>
          <a:xfrm>
            <a:off x="6446520" y="4526280"/>
            <a:ext cx="5193792" cy="15087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46520" y="4526280"/>
            <a:ext cx="41148" cy="1508760"/>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47688" y="4672584"/>
            <a:ext cx="4828032" cy="123444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Phạm vi vòng này — cố ý hẹp</a:t>
            </a:r>
          </a:p>
          <a:p>
            <a:pPr algn="l">
              <a:spcAft>
                <a:spcPts val="300"/>
              </a:spcAft>
            </a:pPr>
            <a:r>
              <a:rPr sz="1000" b="0" i="0">
                <a:solidFill>
                  <a:srgbClr val="33414E"/>
                </a:solidFill>
                <a:latin typeface="Segoe UI"/>
              </a:rPr>
              <a:t>✘  KHÔNG đổi luật precedence — đó là quyết định về an toàn,</a:t>
            </a:r>
          </a:p>
          <a:p>
            <a:pPr algn="l">
              <a:spcAft>
                <a:spcPts val="300"/>
              </a:spcAft>
            </a:pPr>
            <a:r>
              <a:rPr sz="1000" b="0" i="0">
                <a:solidFill>
                  <a:srgbClr val="33414E"/>
                </a:solidFill>
                <a:latin typeface="Segoe UI"/>
              </a:rPr>
              <a:t>     cần W3/W4 cùng sign-off.</a:t>
            </a:r>
          </a:p>
          <a:p>
            <a:pPr algn="l">
              <a:spcAft>
                <a:spcPts val="300"/>
              </a:spcAft>
            </a:pPr>
            <a:r>
              <a:rPr sz="1000" b="0" i="0">
                <a:solidFill>
                  <a:srgbClr val="33414E"/>
                </a:solidFill>
                <a:latin typeface="Segoe UI"/>
              </a:rPr>
              <a:t>✔  GHI chi phí/lợi ích vào trace từng request: llm_intent,</a:t>
            </a:r>
          </a:p>
          <a:p>
            <a:pPr algn="l">
              <a:spcAft>
                <a:spcPts val="300"/>
              </a:spcAft>
            </a:pPr>
            <a:r>
              <a:rPr sz="1000" b="0" i="0">
                <a:solidFill>
                  <a:srgbClr val="33414E"/>
                </a:solidFill>
                <a:latin typeface="Segoe UI"/>
              </a:rPr>
              <a:t>     deterministic_intent, merge_winner, merge_reason.</a:t>
            </a:r>
          </a:p>
          <a:p>
            <a:pPr algn="l">
              <a:spcAft>
                <a:spcPts val="300"/>
              </a:spcAft>
            </a:pPr>
            <a:r>
              <a:rPr sz="1000" b="0" i="0">
                <a:solidFill>
                  <a:srgbClr val="33414E"/>
                </a:solidFill>
                <a:latin typeface="Segoe UI"/>
              </a:rPr>
              <a:t>✔  KHÔNG gọi LLM ở nhánh mà precedence chắc chắn ghi đè.</a:t>
            </a:r>
          </a:p>
          <a:p>
            <a:pPr algn="l">
              <a:spcAft>
                <a:spcPts val="300"/>
              </a:spcAft>
            </a:pPr>
            <a:r>
              <a:rPr sz="1000" b="0" i="0">
                <a:solidFill>
                  <a:srgbClr val="33414E"/>
                </a:solidFill>
                <a:latin typeface="Segoe UI"/>
              </a:rPr>
              <a:t>     Tối ưu chi phí thuần; đổi hành vi ở đây là LỖI.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Insight Mart, PAM và dashboard — phần sản phẩm, cùng kỷ luật bằng chứng</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§12 · Bundle bất biến, build hai lần phải cho hash và thứ tự giống 100%</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18</a:t>
            </a:r>
          </a:p>
        </p:txBody>
      </p:sp>
      <p:sp>
        <p:nvSpPr>
          <p:cNvPr id="9" name="Rectangle 8"/>
          <p:cNvSpPr/>
          <p:nvPr/>
        </p:nvSpPr>
        <p:spPr>
          <a:xfrm>
            <a:off x="566928" y="1481328"/>
            <a:ext cx="5029200" cy="141732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609344"/>
            <a:ext cx="4709160" cy="1179576"/>
          </a:xfrm>
          <a:prstGeom prst="rect">
            <a:avLst/>
          </a:prstGeom>
          <a:noFill/>
        </p:spPr>
        <p:txBody>
          <a:bodyPr wrap="square" lIns="0" rIns="0" tIns="0" bIns="0">
            <a:spAutoFit/>
          </a:bodyPr>
          <a:lstStyle/>
          <a:p>
            <a:pPr>
              <a:spcAft>
                <a:spcPts val="200"/>
              </a:spcAft>
            </a:pPr>
            <a:r>
              <a:rPr sz="1100" b="0">
                <a:solidFill>
                  <a:srgbClr val="C8D6E2"/>
                </a:solidFill>
                <a:latin typeface="Consolas"/>
              </a:rPr>
              <a:t>artifacts/insights/&lt;dataset_version&gt;/</a:t>
            </a:r>
          </a:p>
          <a:p>
            <a:pPr>
              <a:spcAft>
                <a:spcPts val="200"/>
              </a:spcAft>
            </a:pPr>
            <a:r>
              <a:rPr sz="1100" b="0">
                <a:solidFill>
                  <a:srgbClr val="C8D6E2"/>
                </a:solidFill>
                <a:latin typeface="Consolas"/>
              </a:rPr>
              <a:t>├── pam_scorecard.csv</a:t>
            </a:r>
          </a:p>
          <a:p>
            <a:pPr>
              <a:spcAft>
                <a:spcPts val="200"/>
              </a:spcAft>
            </a:pPr>
            <a:r>
              <a:rPr sz="1100" b="0">
                <a:solidFill>
                  <a:srgbClr val="C8D6E2"/>
                </a:solidFill>
                <a:latin typeface="Consolas"/>
              </a:rPr>
              <a:t>├── insight_cards.jsonl</a:t>
            </a:r>
          </a:p>
          <a:p>
            <a:pPr>
              <a:spcAft>
                <a:spcPts val="200"/>
              </a:spcAft>
            </a:pPr>
            <a:r>
              <a:rPr sz="1100" b="0">
                <a:solidFill>
                  <a:srgbClr val="C8D6E2"/>
                </a:solidFill>
                <a:latin typeface="Consolas"/>
              </a:rPr>
              <a:t>├── insight_evidence.jsonl</a:t>
            </a:r>
          </a:p>
          <a:p>
            <a:pPr>
              <a:spcAft>
                <a:spcPts val="200"/>
              </a:spcAft>
            </a:pPr>
            <a:r>
              <a:rPr sz="1100" b="0">
                <a:solidFill>
                  <a:srgbClr val="C8D6E2"/>
                </a:solidFill>
                <a:latin typeface="Consolas"/>
              </a:rPr>
              <a:t>└── manifest.json</a:t>
            </a:r>
          </a:p>
        </p:txBody>
      </p:sp>
      <p:sp>
        <p:nvSpPr>
          <p:cNvPr id="11" name="Rectangle 10"/>
          <p:cNvSpPr/>
          <p:nvPr/>
        </p:nvSpPr>
        <p:spPr>
          <a:xfrm>
            <a:off x="566928" y="3063240"/>
            <a:ext cx="5029200" cy="14630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3063240"/>
            <a:ext cx="41148" cy="146304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3209544"/>
            <a:ext cx="4663440" cy="118872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Giao thức build — chống ghi đè âm thầm</a:t>
            </a:r>
          </a:p>
          <a:p>
            <a:pPr algn="l">
              <a:spcAft>
                <a:spcPts val="300"/>
              </a:spcAft>
            </a:pPr>
            <a:r>
              <a:rPr sz="1000" b="0" i="0">
                <a:solidFill>
                  <a:srgbClr val="33414E"/>
                </a:solidFill>
                <a:latin typeface="Segoe UI"/>
              </a:rPr>
              <a:t>1  Acquire lock theo dataset_version</a:t>
            </a:r>
          </a:p>
          <a:p>
            <a:pPr algn="l">
              <a:spcAft>
                <a:spcPts val="300"/>
              </a:spcAft>
            </a:pPr>
            <a:r>
              <a:rPr sz="1000" b="0" i="0">
                <a:solidFill>
                  <a:srgbClr val="33414E"/>
                </a:solidFill>
                <a:latin typeface="Segoe UI"/>
              </a:rPr>
              <a:t>2  Ghi vào temp dir cùng parent → validate → atomic rename</a:t>
            </a:r>
          </a:p>
          <a:p>
            <a:pPr algn="l">
              <a:spcAft>
                <a:spcPts val="300"/>
              </a:spcAft>
            </a:pPr>
            <a:r>
              <a:rPr sz="1000" b="0" i="0">
                <a:solidFill>
                  <a:srgbClr val="33414E"/>
                </a:solidFill>
                <a:latin typeface="Segoe UI"/>
              </a:rPr>
              <a:t>3  Cùng content hash  → idempotent success</a:t>
            </a:r>
          </a:p>
          <a:p>
            <a:pPr algn="l">
              <a:spcAft>
                <a:spcPts val="300"/>
              </a:spcAft>
            </a:pPr>
            <a:r>
              <a:rPr sz="1000" b="0" i="0">
                <a:solidFill>
                  <a:srgbClr val="33414E"/>
                </a:solidFill>
                <a:latin typeface="Segoe UI"/>
              </a:rPr>
              <a:t>4  Cùng version, KHÁC hash → IMMUTABLE_INSIGHT_COLLISION</a:t>
            </a:r>
          </a:p>
          <a:p>
            <a:pPr algn="l">
              <a:spcAft>
                <a:spcPts val="300"/>
              </a:spcAft>
            </a:pPr>
            <a:r>
              <a:rPr sz="1000" b="0" i="0">
                <a:solidFill>
                  <a:srgbClr val="33414E"/>
                </a:solidFill>
                <a:latin typeface="Segoe UI"/>
              </a:rPr>
              <a:t>     và KHÔNG overwrite</a:t>
            </a:r>
          </a:p>
        </p:txBody>
      </p:sp>
      <p:sp>
        <p:nvSpPr>
          <p:cNvPr id="14" name="Rectangle 13"/>
          <p:cNvSpPr/>
          <p:nvPr/>
        </p:nvSpPr>
        <p:spPr>
          <a:xfrm>
            <a:off x="566928" y="4663440"/>
            <a:ext cx="5029200" cy="13716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663440"/>
            <a:ext cx="41148" cy="1371600"/>
          </a:xfrm>
          <a:prstGeom prst="rect">
            <a:avLst/>
          </a:prstGeom>
          <a:solidFill>
            <a:srgbClr val="6B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809744"/>
            <a:ext cx="4663440" cy="109728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PAM là phân khúc LISTING dựa trên proxy — không phải buyer-RFM</a:t>
            </a:r>
          </a:p>
          <a:p>
            <a:pPr algn="l">
              <a:spcAft>
                <a:spcPts val="300"/>
              </a:spcAft>
            </a:pPr>
            <a:r>
              <a:rPr sz="980" b="0" i="0">
                <a:solidFill>
                  <a:srgbClr val="33414E"/>
                </a:solidFill>
                <a:latin typeface="Segoe UI"/>
              </a:rPr>
              <a:t>pam_score = 100 × (0,30·activity + 0,40·momentum + 0,30·monetary)</a:t>
            </a:r>
          </a:p>
          <a:p>
            <a:pPr algn="l">
              <a:spcAft>
                <a:spcPts val="300"/>
              </a:spcAft>
            </a:pPr>
            <a:r>
              <a:rPr sz="980" b="0" i="0">
                <a:solidFill>
                  <a:srgbClr val="33414E"/>
                </a:solidFill>
                <a:latin typeface="Segoe UI"/>
              </a:rPr>
              <a:t>Chấm trong cohort country × platform_category; cohort nhỏ fallback country.</a:t>
            </a:r>
          </a:p>
          <a:p>
            <a:pPr algn="l">
              <a:spcAft>
                <a:spcPts val="300"/>
              </a:spcAft>
            </a:pPr>
            <a:r>
              <a:rPr sz="980" b="0" i="0">
                <a:solidFill>
                  <a:srgbClr val="33414E"/>
                </a:solidFill>
                <a:latin typeface="Segoe UI"/>
              </a:rPr>
              <a:t>KHÔNG BAO GIỜ rank VN với ID. Segment theo precedence cố định:</a:t>
            </a:r>
          </a:p>
          <a:p>
            <a:pPr algn="l">
              <a:spcAft>
                <a:spcPts val="300"/>
              </a:spcAft>
            </a:pPr>
            <a:r>
              <a:rPr sz="980" b="0" i="0">
                <a:solidFill>
                  <a:srgbClr val="33414E"/>
                </a:solidFill>
                <a:latin typeface="Segoe UI"/>
              </a:rPr>
              <a:t>InsufficientData → Dormant → Cooling → Star → Rising → Steady</a:t>
            </a:r>
          </a:p>
        </p:txBody>
      </p:sp>
      <p:sp>
        <p:nvSpPr>
          <p:cNvPr id="17" name="TextBox 16"/>
          <p:cNvSpPr txBox="1"/>
          <p:nvPr/>
        </p:nvSpPr>
        <p:spPr>
          <a:xfrm>
            <a:off x="5852160" y="1481328"/>
            <a:ext cx="5788152" cy="320040"/>
          </a:xfrm>
          <a:prstGeom prst="rect">
            <a:avLst/>
          </a:prstGeom>
          <a:noFill/>
        </p:spPr>
        <p:txBody>
          <a:bodyPr wrap="square" lIns="0" rIns="0" tIns="0" bIns="0">
            <a:spAutoFit/>
          </a:bodyPr>
          <a:lstStyle/>
          <a:p>
            <a:pPr algn="l">
              <a:spcAft>
                <a:spcPts val="0"/>
              </a:spcAft>
            </a:pPr>
            <a:r>
              <a:rPr sz="1200" b="1" i="0">
                <a:solidFill>
                  <a:srgbClr val="141B24"/>
                </a:solidFill>
                <a:latin typeface="Segoe UI"/>
              </a:rPr>
              <a:t>Bốn miner deterministic — và điều kiện KHÔNG phát card</a:t>
            </a:r>
          </a:p>
        </p:txBody>
      </p:sp>
      <p:sp>
        <p:nvSpPr>
          <p:cNvPr id="18" name="Rectangle 17"/>
          <p:cNvSpPr/>
          <p:nvPr/>
        </p:nvSpPr>
        <p:spPr>
          <a:xfrm>
            <a:off x="5852160" y="1874519"/>
            <a:ext cx="5788152" cy="78638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52160" y="1874519"/>
            <a:ext cx="41148" cy="786384"/>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53328" y="1956815"/>
            <a:ext cx="5440680" cy="658368"/>
          </a:xfrm>
          <a:prstGeom prst="rect">
            <a:avLst/>
          </a:prstGeom>
          <a:noFill/>
        </p:spPr>
        <p:txBody>
          <a:bodyPr wrap="square" lIns="0" rIns="0" tIns="0" bIns="0">
            <a:spAutoFit/>
          </a:bodyPr>
          <a:lstStyle/>
          <a:p>
            <a:pPr algn="l">
              <a:spcAft>
                <a:spcPts val="200"/>
              </a:spcAft>
            </a:pPr>
            <a:r>
              <a:rPr sz="1050" b="1" i="0">
                <a:solidFill>
                  <a:srgbClr val="1E4D8C"/>
                </a:solidFill>
                <a:latin typeface="Segoe UI"/>
              </a:rPr>
              <a:t>Top movers</a:t>
            </a:r>
          </a:p>
          <a:p>
            <a:pPr algn="l">
              <a:spcAft>
                <a:spcPts val="200"/>
              </a:spcAft>
            </a:pPr>
            <a:r>
              <a:rPr sz="950" b="0" i="0">
                <a:solidFill>
                  <a:srgbClr val="33414E"/>
                </a:solidFill>
                <a:latin typeface="Segoe UI"/>
              </a:rPr>
              <a:t>positive snapshot_sales_delta_clean, top-k</a:t>
            </a:r>
          </a:p>
          <a:p>
            <a:pPr algn="l">
              <a:spcAft>
                <a:spcPts val="0"/>
              </a:spcAft>
            </a:pPr>
            <a:r>
              <a:rPr sz="900" b="0" i="0">
                <a:solidFill>
                  <a:srgbClr val="6B7A8A"/>
                </a:solidFill>
                <a:latin typeface="Segoe UI"/>
              </a:rPr>
              <a:t>✘  không phát khi delta null/≤0 hoặc transition qua gap</a:t>
            </a:r>
          </a:p>
        </p:txBody>
      </p:sp>
      <p:sp>
        <p:nvSpPr>
          <p:cNvPr id="21" name="Rectangle 20"/>
          <p:cNvSpPr/>
          <p:nvPr/>
        </p:nvSpPr>
        <p:spPr>
          <a:xfrm>
            <a:off x="5852160" y="2770631"/>
            <a:ext cx="5788152" cy="78638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52160" y="2770631"/>
            <a:ext cx="41148" cy="7863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53328" y="2852927"/>
            <a:ext cx="5440680" cy="658368"/>
          </a:xfrm>
          <a:prstGeom prst="rect">
            <a:avLst/>
          </a:prstGeom>
          <a:noFill/>
        </p:spPr>
        <p:txBody>
          <a:bodyPr wrap="square" lIns="0" rIns="0" tIns="0" bIns="0">
            <a:spAutoFit/>
          </a:bodyPr>
          <a:lstStyle/>
          <a:p>
            <a:pPr algn="l">
              <a:spcAft>
                <a:spcPts val="200"/>
              </a:spcAft>
            </a:pPr>
            <a:r>
              <a:rPr sz="1050" b="1" i="0">
                <a:solidFill>
                  <a:srgbClr val="0E7C86"/>
                </a:solidFill>
                <a:latin typeface="Segoe UI"/>
              </a:rPr>
              <a:t>Price move</a:t>
            </a:r>
          </a:p>
          <a:p>
            <a:pPr algn="l">
              <a:spcAft>
                <a:spcPts val="200"/>
              </a:spcAft>
            </a:pPr>
            <a:r>
              <a:rPr sz="950" b="0" i="0">
                <a:solidFill>
                  <a:srgbClr val="33414E"/>
                </a:solidFill>
                <a:latin typeface="Segoe UI"/>
              </a:rPr>
              <a:t>nêu hai biến cùng thay đổi, evidence riêng</a:t>
            </a:r>
          </a:p>
          <a:p>
            <a:pPr algn="l">
              <a:spcAft>
                <a:spcPts val="0"/>
              </a:spcAft>
            </a:pPr>
            <a:r>
              <a:rPr sz="900" b="0" i="0">
                <a:solidFill>
                  <a:srgbClr val="6B7A8A"/>
                </a:solidFill>
                <a:latin typeface="Segoe UI"/>
              </a:rPr>
              <a:t>✘  cấm causal wording; loại sentinel và previous price ≤ 0</a:t>
            </a:r>
          </a:p>
        </p:txBody>
      </p:sp>
      <p:sp>
        <p:nvSpPr>
          <p:cNvPr id="24" name="Rectangle 23"/>
          <p:cNvSpPr/>
          <p:nvPr/>
        </p:nvSpPr>
        <p:spPr>
          <a:xfrm>
            <a:off x="5852160" y="3666743"/>
            <a:ext cx="5788152" cy="78638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52160" y="3666743"/>
            <a:ext cx="41148" cy="786384"/>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53328" y="3749039"/>
            <a:ext cx="5440680" cy="658368"/>
          </a:xfrm>
          <a:prstGeom prst="rect">
            <a:avLst/>
          </a:prstGeom>
          <a:noFill/>
        </p:spPr>
        <p:txBody>
          <a:bodyPr wrap="square" lIns="0" rIns="0" tIns="0" bIns="0">
            <a:spAutoFit/>
          </a:bodyPr>
          <a:lstStyle/>
          <a:p>
            <a:pPr algn="l">
              <a:spcAft>
                <a:spcPts val="200"/>
              </a:spcAft>
            </a:pPr>
            <a:r>
              <a:rPr sz="1050" b="1" i="0">
                <a:solidFill>
                  <a:srgbClr val="C96F1E"/>
                </a:solidFill>
                <a:latin typeface="Segoe UI"/>
              </a:rPr>
              <a:t>Voucher gap VN</a:t>
            </a:r>
          </a:p>
          <a:p>
            <a:pPr algn="l">
              <a:spcAft>
                <a:spcPts val="200"/>
              </a:spcAft>
            </a:pPr>
            <a:r>
              <a:rPr sz="950" b="0" i="0">
                <a:solidFill>
                  <a:srgbClr val="33414E"/>
                </a:solidFill>
                <a:latin typeface="Segoe UI"/>
              </a:rPr>
              <a:t>median sold proxy từng nhóm + sample size</a:t>
            </a:r>
          </a:p>
          <a:p>
            <a:pPr algn="l">
              <a:spcAft>
                <a:spcPts val="0"/>
              </a:spcAft>
            </a:pPr>
            <a:r>
              <a:rPr sz="900" b="0" i="0">
                <a:solidFill>
                  <a:srgbClr val="6B7A8A"/>
                </a:solidFill>
                <a:latin typeface="Segoe UI"/>
              </a:rPr>
              <a:t>✘  mỗi nhóm ≥10; cấm dùng chữ “lift” hay “hiệu quả”</a:t>
            </a:r>
          </a:p>
        </p:txBody>
      </p:sp>
      <p:sp>
        <p:nvSpPr>
          <p:cNvPr id="27" name="Rectangle 26"/>
          <p:cNvSpPr/>
          <p:nvPr/>
        </p:nvSpPr>
        <p:spPr>
          <a:xfrm>
            <a:off x="5852160" y="4562855"/>
            <a:ext cx="5788152" cy="78638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52160" y="4562855"/>
            <a:ext cx="41148" cy="786384"/>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53328" y="4645151"/>
            <a:ext cx="5440680" cy="658368"/>
          </a:xfrm>
          <a:prstGeom prst="rect">
            <a:avLst/>
          </a:prstGeom>
          <a:noFill/>
        </p:spPr>
        <p:txBody>
          <a:bodyPr wrap="square" lIns="0" rIns="0" tIns="0" bIns="0">
            <a:spAutoFit/>
          </a:bodyPr>
          <a:lstStyle/>
          <a:p>
            <a:pPr algn="l">
              <a:spcAft>
                <a:spcPts val="200"/>
              </a:spcAft>
            </a:pPr>
            <a:r>
              <a:rPr sz="1050" b="1" i="0">
                <a:solidFill>
                  <a:srgbClr val="A6333F"/>
                </a:solidFill>
                <a:latin typeface="Segoe UI"/>
              </a:rPr>
              <a:t>Data quality</a:t>
            </a:r>
          </a:p>
          <a:p>
            <a:pPr algn="l">
              <a:spcAft>
                <a:spcPts val="200"/>
              </a:spcAft>
            </a:pPr>
            <a:r>
              <a:rPr sz="950" b="0" i="0">
                <a:solidFill>
                  <a:srgbClr val="33414E"/>
                </a:solidFill>
                <a:latin typeface="Segoe UI"/>
              </a:rPr>
              <a:t>count, scope ảnh hưởng, phép tính bị ảnh hưởng</a:t>
            </a:r>
          </a:p>
          <a:p>
            <a:pPr algn="l">
              <a:spcAft>
                <a:spcPts val="0"/>
              </a:spcAft>
            </a:pPr>
            <a:r>
              <a:rPr sz="900" b="0" i="0">
                <a:solidFill>
                  <a:srgbClr val="6B7A8A"/>
                </a:solidFill>
                <a:latin typeface="Segoe UI"/>
              </a:rPr>
              <a:t>✘  không phát khi issue không có source/row mapping</a:t>
            </a:r>
          </a:p>
        </p:txBody>
      </p:sp>
      <p:sp>
        <p:nvSpPr>
          <p:cNvPr id="30" name="Rectangle 29"/>
          <p:cNvSpPr/>
          <p:nvPr/>
        </p:nvSpPr>
        <p:spPr>
          <a:xfrm>
            <a:off x="5852160" y="5486400"/>
            <a:ext cx="5788152"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52160" y="5486400"/>
            <a:ext cx="41148" cy="548640"/>
          </a:xfrm>
          <a:prstGeom prst="rect">
            <a:avLst/>
          </a:prstGeom>
          <a:solidFill>
            <a:srgbClr val="8A9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53328" y="5632704"/>
            <a:ext cx="5422392" cy="274320"/>
          </a:xfrm>
          <a:prstGeom prst="rect">
            <a:avLst/>
          </a:prstGeom>
          <a:noFill/>
        </p:spPr>
        <p:txBody>
          <a:bodyPr wrap="square" lIns="0" rIns="0" tIns="0" bIns="0">
            <a:spAutoFit/>
          </a:bodyPr>
          <a:lstStyle/>
          <a:p>
            <a:pPr algn="l">
              <a:spcAft>
                <a:spcPts val="500"/>
              </a:spcAft>
            </a:pPr>
            <a:r>
              <a:rPr sz="1050" b="1" i="0">
                <a:solidFill>
                  <a:srgbClr val="141B24"/>
                </a:solidFill>
                <a:latin typeface="Segoe UI"/>
              </a:rPr>
              <a:t>Ràng buộc UI</a:t>
            </a:r>
          </a:p>
          <a:p>
            <a:pPr algn="l">
              <a:spcAft>
                <a:spcPts val="300"/>
              </a:spcAft>
            </a:pPr>
            <a:r>
              <a:rPr sz="950" b="0" i="0">
                <a:solidFill>
                  <a:srgbClr val="33414E"/>
                </a:solidFill>
                <a:latin typeface="Segoe UI"/>
              </a:rPr>
              <a:t>Percent, local currency và count KHÔNG dùng chung axis · không có country=all cho monetary chart · empty state phải nói “không đủ nhóm”, không render chart 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External context — mở ra thế giới mà không để nó nhiễm vào con số</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§13 · Tavily. Mặc định OFF; replay bắt buộc, live có điều kiện</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19</a:t>
            </a:r>
          </a:p>
        </p:txBody>
      </p:sp>
      <p:sp>
        <p:nvSpPr>
          <p:cNvPr id="9" name="TextBox 8"/>
          <p:cNvSpPr txBox="1"/>
          <p:nvPr/>
        </p:nvSpPr>
        <p:spPr>
          <a:xfrm>
            <a:off x="566928" y="1481328"/>
            <a:ext cx="5669280" cy="320040"/>
          </a:xfrm>
          <a:prstGeom prst="rect">
            <a:avLst/>
          </a:prstGeom>
          <a:noFill/>
        </p:spPr>
        <p:txBody>
          <a:bodyPr wrap="square" lIns="0" rIns="0" tIns="0" bIns="0">
            <a:spAutoFit/>
          </a:bodyPr>
          <a:lstStyle/>
          <a:p>
            <a:pPr algn="l">
              <a:spcAft>
                <a:spcPts val="0"/>
              </a:spcAft>
            </a:pPr>
            <a:r>
              <a:rPr sz="1200" b="1" i="0">
                <a:solidFill>
                  <a:srgbClr val="141B24"/>
                </a:solidFill>
                <a:latin typeface="Segoe UI"/>
              </a:rPr>
              <a:t>Ranh giới cứng — external không bao giờ chạm vào số nội bộ</a:t>
            </a:r>
          </a:p>
        </p:txBody>
      </p:sp>
      <p:sp>
        <p:nvSpPr>
          <p:cNvPr id="10" name="Rectangle 9"/>
          <p:cNvSpPr/>
          <p:nvPr/>
        </p:nvSpPr>
        <p:spPr>
          <a:xfrm>
            <a:off x="566928" y="1874519"/>
            <a:ext cx="5669280" cy="3840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874519"/>
            <a:ext cx="36576" cy="384048"/>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56815"/>
            <a:ext cx="5349240" cy="274320"/>
          </a:xfrm>
          <a:prstGeom prst="rect">
            <a:avLst/>
          </a:prstGeom>
          <a:noFill/>
        </p:spPr>
        <p:txBody>
          <a:bodyPr wrap="square" lIns="0" rIns="0" tIns="0" bIns="0">
            <a:spAutoFit/>
          </a:bodyPr>
          <a:lstStyle/>
          <a:p>
            <a:pPr algn="l">
              <a:spcAft>
                <a:spcPts val="0"/>
              </a:spcAft>
            </a:pPr>
            <a:r>
              <a:rPr sz="1050" b="0" i="0">
                <a:solidFill>
                  <a:srgbClr val="33414E"/>
                </a:solidFill>
                <a:latin typeface="Segoe UI"/>
              </a:rPr>
              <a:t>source_tier = "external"  ·  mapping_status = "needs_review"</a:t>
            </a:r>
          </a:p>
        </p:txBody>
      </p:sp>
      <p:sp>
        <p:nvSpPr>
          <p:cNvPr id="13" name="Rectangle 12"/>
          <p:cNvSpPr/>
          <p:nvPr/>
        </p:nvSpPr>
        <p:spPr>
          <a:xfrm>
            <a:off x="566928" y="2331719"/>
            <a:ext cx="56692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331719"/>
            <a:ext cx="36576" cy="384048"/>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414015"/>
            <a:ext cx="5349240" cy="274320"/>
          </a:xfrm>
          <a:prstGeom prst="rect">
            <a:avLst/>
          </a:prstGeom>
          <a:noFill/>
        </p:spPr>
        <p:txBody>
          <a:bodyPr wrap="square" lIns="0" rIns="0" tIns="0" bIns="0">
            <a:spAutoFit/>
          </a:bodyPr>
          <a:lstStyle/>
          <a:p>
            <a:pPr algn="l">
              <a:spcAft>
                <a:spcPts val="0"/>
              </a:spcAft>
            </a:pPr>
            <a:r>
              <a:rPr sz="1050" b="0" i="0">
                <a:solidFill>
                  <a:srgbClr val="33414E"/>
                </a:solidFill>
                <a:latin typeface="Segoe UI"/>
              </a:rPr>
              <a:t>admission   = "context_only"  — clamp, không có ngoại lệ</a:t>
            </a:r>
          </a:p>
        </p:txBody>
      </p:sp>
      <p:sp>
        <p:nvSpPr>
          <p:cNvPr id="16" name="Rectangle 15"/>
          <p:cNvSpPr/>
          <p:nvPr/>
        </p:nvSpPr>
        <p:spPr>
          <a:xfrm>
            <a:off x="566928" y="2788919"/>
            <a:ext cx="5669280" cy="3840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2788919"/>
            <a:ext cx="36576" cy="384048"/>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2871215"/>
            <a:ext cx="5349240" cy="274320"/>
          </a:xfrm>
          <a:prstGeom prst="rect">
            <a:avLst/>
          </a:prstGeom>
          <a:noFill/>
        </p:spPr>
        <p:txBody>
          <a:bodyPr wrap="square" lIns="0" rIns="0" tIns="0" bIns="0">
            <a:spAutoFit/>
          </a:bodyPr>
          <a:lstStyle/>
          <a:p>
            <a:pPr algn="l">
              <a:spcAft>
                <a:spcPts val="0"/>
              </a:spcAft>
            </a:pPr>
            <a:r>
              <a:rPr sz="1050" b="0" i="0">
                <a:solidFill>
                  <a:srgbClr val="33414E"/>
                </a:solidFill>
                <a:latin typeface="Segoe UI"/>
              </a:rPr>
              <a:t>CẤM tính toán hoặc suy nhân quả xuyên tier   [A20-TIER]</a:t>
            </a:r>
          </a:p>
        </p:txBody>
      </p:sp>
      <p:sp>
        <p:nvSpPr>
          <p:cNvPr id="19" name="Rectangle 18"/>
          <p:cNvSpPr/>
          <p:nvPr/>
        </p:nvSpPr>
        <p:spPr>
          <a:xfrm>
            <a:off x="566928" y="3246119"/>
            <a:ext cx="56692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3246119"/>
            <a:ext cx="36576" cy="384048"/>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3328415"/>
            <a:ext cx="5349240" cy="274320"/>
          </a:xfrm>
          <a:prstGeom prst="rect">
            <a:avLst/>
          </a:prstGeom>
          <a:noFill/>
        </p:spPr>
        <p:txBody>
          <a:bodyPr wrap="square" lIns="0" rIns="0" tIns="0" bIns="0">
            <a:spAutoFit/>
          </a:bodyPr>
          <a:lstStyle/>
          <a:p>
            <a:pPr algn="l">
              <a:spcAft>
                <a:spcPts val="0"/>
              </a:spcAft>
            </a:pPr>
            <a:r>
              <a:rPr sz="1050" b="0" i="0">
                <a:solidFill>
                  <a:srgbClr val="33414E"/>
                </a:solidFill>
                <a:latin typeface="Segoe UI"/>
              </a:rPr>
              <a:t>KHÔNG dùng để tính KPI, PAM, competitor price hay causal claim</a:t>
            </a:r>
          </a:p>
        </p:txBody>
      </p:sp>
      <p:sp>
        <p:nvSpPr>
          <p:cNvPr id="22" name="Rectangle 21"/>
          <p:cNvSpPr/>
          <p:nvPr/>
        </p:nvSpPr>
        <p:spPr>
          <a:xfrm>
            <a:off x="566928" y="3703319"/>
            <a:ext cx="5669280" cy="3840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703319"/>
            <a:ext cx="36576" cy="384048"/>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785615"/>
            <a:ext cx="5349240" cy="274320"/>
          </a:xfrm>
          <a:prstGeom prst="rect">
            <a:avLst/>
          </a:prstGeom>
          <a:noFill/>
        </p:spPr>
        <p:txBody>
          <a:bodyPr wrap="square" lIns="0" rIns="0" tIns="0" bIns="0">
            <a:spAutoFit/>
          </a:bodyPr>
          <a:lstStyle/>
          <a:p>
            <a:pPr algn="l">
              <a:spcAft>
                <a:spcPts val="0"/>
              </a:spcAft>
            </a:pPr>
            <a:r>
              <a:rPr sz="1050" b="0" i="0">
                <a:solidFill>
                  <a:srgbClr val="33414E"/>
                </a:solidFill>
                <a:latin typeface="Segoe UI"/>
              </a:rPr>
              <a:t>External panel tách hẳn khỏi internal KPI trên UI</a:t>
            </a:r>
          </a:p>
        </p:txBody>
      </p:sp>
      <p:sp>
        <p:nvSpPr>
          <p:cNvPr id="25" name="Rectangle 24"/>
          <p:cNvSpPr/>
          <p:nvPr/>
        </p:nvSpPr>
        <p:spPr>
          <a:xfrm>
            <a:off x="566928" y="4343400"/>
            <a:ext cx="5669280" cy="1691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43400"/>
            <a:ext cx="41148" cy="169164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4489704"/>
            <a:ext cx="5303520" cy="141732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Ba mode, và vì sao replay là điều kiện bắt buộc</a:t>
            </a:r>
          </a:p>
          <a:p>
            <a:pPr algn="l">
              <a:spcAft>
                <a:spcPts val="300"/>
              </a:spcAft>
            </a:pPr>
            <a:r>
              <a:rPr sz="1000" b="0" i="0">
                <a:solidFill>
                  <a:srgbClr val="33414E"/>
                </a:solidFill>
                <a:latin typeface="Segoe UI"/>
              </a:rPr>
              <a:t>cache_only   không gọi network KỂ CẢ khi cache miss. Không cần API key.</a:t>
            </a:r>
          </a:p>
          <a:p>
            <a:pPr algn="l">
              <a:spcAft>
                <a:spcPts val="300"/>
              </a:spcAft>
            </a:pPr>
            <a:r>
              <a:rPr sz="1000" b="0" i="0">
                <a:solidFill>
                  <a:srgbClr val="33414E"/>
                </a:solidFill>
                <a:latin typeface="Segoe UI"/>
              </a:rPr>
              <a:t>record       gọi network, sanitize → relevance → admission RỒI mới commit cache.</a:t>
            </a:r>
          </a:p>
          <a:p>
            <a:pPr algn="l">
              <a:spcAft>
                <a:spcPts val="300"/>
              </a:spcAft>
            </a:pPr>
            <a:r>
              <a:rPr sz="1000" b="0" i="0">
                <a:solidFill>
                  <a:srgbClr val="33414E"/>
                </a:solidFill>
                <a:latin typeface="Segoe UI"/>
              </a:rPr>
              <a:t>live         CONDITIONAL — đúng một câu đã rehearsal.</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Acceptance: replay ×3 phải có provider calls = 0 và Evidence hash/thứ tự</a:t>
            </a:r>
          </a:p>
          <a:p>
            <a:pPr algn="l">
              <a:spcAft>
                <a:spcPts val="300"/>
              </a:spcAft>
            </a:pPr>
            <a:r>
              <a:rPr sz="1000" b="0" i="0">
                <a:solidFill>
                  <a:srgbClr val="33414E"/>
                </a:solidFill>
                <a:latin typeface="Segoe UI"/>
              </a:rPr>
              <a:t>GIỐNG HỆT bản record. Không tái lập được thì không được tính là đã chạy.</a:t>
            </a:r>
          </a:p>
        </p:txBody>
      </p:sp>
      <p:sp>
        <p:nvSpPr>
          <p:cNvPr id="28" name="TextBox 27"/>
          <p:cNvSpPr txBox="1"/>
          <p:nvPr/>
        </p:nvSpPr>
        <p:spPr>
          <a:xfrm>
            <a:off x="6446520" y="1481328"/>
            <a:ext cx="5193792" cy="320040"/>
          </a:xfrm>
          <a:prstGeom prst="rect">
            <a:avLst/>
          </a:prstGeom>
          <a:noFill/>
        </p:spPr>
        <p:txBody>
          <a:bodyPr wrap="square" lIns="0" rIns="0" tIns="0" bIns="0">
            <a:spAutoFit/>
          </a:bodyPr>
          <a:lstStyle/>
          <a:p>
            <a:pPr algn="l">
              <a:spcAft>
                <a:spcPts val="0"/>
              </a:spcAft>
            </a:pPr>
            <a:r>
              <a:rPr sz="1200" b="1" i="0">
                <a:solidFill>
                  <a:srgbClr val="141B24"/>
                </a:solidFill>
                <a:latin typeface="Segoe UI"/>
              </a:rPr>
              <a:t>Công thức relevance — có trọng số, có ngưỡng calibrate</a:t>
            </a:r>
          </a:p>
        </p:txBody>
      </p:sp>
      <p:sp>
        <p:nvSpPr>
          <p:cNvPr id="29" name="Rectangle 28"/>
          <p:cNvSpPr/>
          <p:nvPr/>
        </p:nvSpPr>
        <p:spPr>
          <a:xfrm>
            <a:off x="6446520" y="1874519"/>
            <a:ext cx="5193792" cy="123444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2002535"/>
            <a:ext cx="4873752" cy="996696"/>
          </a:xfrm>
          <a:prstGeom prst="rect">
            <a:avLst/>
          </a:prstGeom>
          <a:noFill/>
        </p:spPr>
        <p:txBody>
          <a:bodyPr wrap="square" lIns="0" rIns="0" tIns="0" bIns="0">
            <a:spAutoFit/>
          </a:bodyPr>
          <a:lstStyle/>
          <a:p>
            <a:pPr>
              <a:spcAft>
                <a:spcPts val="200"/>
              </a:spcAft>
            </a:pPr>
            <a:r>
              <a:rPr sz="1050" b="0">
                <a:solidFill>
                  <a:srgbClr val="C8D6E2"/>
                </a:solidFill>
                <a:latin typeface="Consolas"/>
              </a:rPr>
              <a:t>relevance_score =</a:t>
            </a:r>
          </a:p>
          <a:p>
            <a:pPr>
              <a:spcAft>
                <a:spcPts val="200"/>
              </a:spcAft>
            </a:pPr>
            <a:r>
              <a:rPr sz="1050" b="0">
                <a:solidFill>
                  <a:srgbClr val="C8D6E2"/>
                </a:solidFill>
                <a:latin typeface="Consolas"/>
              </a:rPr>
              <a:t>    0.55 × tavily_score</a:t>
            </a:r>
          </a:p>
          <a:p>
            <a:pPr>
              <a:spcAft>
                <a:spcPts val="200"/>
              </a:spcAft>
            </a:pPr>
            <a:r>
              <a:rPr sz="1050" b="0">
                <a:solidFill>
                  <a:srgbClr val="C8D6E2"/>
                </a:solidFill>
                <a:latin typeface="Consolas"/>
              </a:rPr>
              <a:t>  + 0.30 × anchor_coverage</a:t>
            </a:r>
          </a:p>
          <a:p>
            <a:pPr>
              <a:spcAft>
                <a:spcPts val="200"/>
              </a:spcAft>
            </a:pPr>
            <a:r>
              <a:rPr sz="1050" b="0">
                <a:solidFill>
                  <a:srgbClr val="C8D6E2"/>
                </a:solidFill>
                <a:latin typeface="Consolas"/>
              </a:rPr>
              <a:t>  + 0.15 × lexical_overlap</a:t>
            </a:r>
          </a:p>
        </p:txBody>
      </p:sp>
      <p:sp>
        <p:nvSpPr>
          <p:cNvPr id="31" name="Rectangle 30"/>
          <p:cNvSpPr/>
          <p:nvPr/>
        </p:nvSpPr>
        <p:spPr>
          <a:xfrm>
            <a:off x="6446520" y="3246120"/>
            <a:ext cx="5193792" cy="13716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46520" y="3246120"/>
            <a:ext cx="41148" cy="137160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47688" y="3392424"/>
            <a:ext cx="4828032" cy="109728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Ngưỡng phải do người gán nhãn quyết</a:t>
            </a:r>
          </a:p>
          <a:p>
            <a:pPr algn="l">
              <a:spcAft>
                <a:spcPts val="300"/>
              </a:spcAft>
            </a:pPr>
            <a:r>
              <a:rPr sz="1000" b="0" i="0">
                <a:solidFill>
                  <a:srgbClr val="33414E"/>
                </a:solidFill>
                <a:latin typeface="Segoe UI"/>
              </a:rPr>
              <a:t>Label tối thiểu 30 result THẬT với HAI reviewer.</a:t>
            </a:r>
          </a:p>
          <a:p>
            <a:pPr algn="l">
              <a:spcAft>
                <a:spcPts val="300"/>
              </a:spcAft>
            </a:pPr>
            <a:r>
              <a:rPr sz="1000" b="0" i="0">
                <a:solidFill>
                  <a:srgbClr val="33414E"/>
                </a:solidFill>
                <a:latin typeface="Segoe UI"/>
              </a:rPr>
              <a:t>Chọn threshold trong điều kiện precision ≥ 0,80 và</a:t>
            </a:r>
          </a:p>
          <a:p>
            <a:pPr algn="l">
              <a:spcAft>
                <a:spcPts val="300"/>
              </a:spcAft>
            </a:pPr>
            <a:r>
              <a:rPr sz="1000" b="0" i="0">
                <a:solidFill>
                  <a:srgbClr val="33414E"/>
                </a:solidFill>
                <a:latin typeface="Segoe UI"/>
              </a:rPr>
              <a:t>injection leakage = 0.</a:t>
            </a:r>
          </a:p>
          <a:p>
            <a:pPr algn="l">
              <a:spcAft>
                <a:spcPts val="300"/>
              </a:spcAft>
            </a:pPr>
            <a:r>
              <a:rPr sz="1000" b="0" i="0">
                <a:solidFill>
                  <a:srgbClr val="33414E"/>
                </a:solidFill>
                <a:latin typeface="Segoe UI"/>
              </a:rPr>
              <a:t>Result không đạt bị drop kèm reason code — và nếu không</a:t>
            </a:r>
          </a:p>
          <a:p>
            <a:pPr algn="l">
              <a:spcAft>
                <a:spcPts val="300"/>
              </a:spcAft>
            </a:pPr>
            <a:r>
              <a:rPr sz="1000" b="0" i="0">
                <a:solidFill>
                  <a:srgbClr val="33414E"/>
                </a:solidFill>
                <a:latin typeface="Segoe UI"/>
              </a:rPr>
              <a:t>còn result nào, câu trả lời nội bộ GIỮ NGUYÊN.</a:t>
            </a:r>
          </a:p>
        </p:txBody>
      </p:sp>
      <p:sp>
        <p:nvSpPr>
          <p:cNvPr id="34" name="Rectangle 33"/>
          <p:cNvSpPr/>
          <p:nvPr/>
        </p:nvSpPr>
        <p:spPr>
          <a:xfrm>
            <a:off x="6446520" y="4754880"/>
            <a:ext cx="5193792" cy="12801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46520" y="4754880"/>
            <a:ext cx="41148" cy="1280160"/>
          </a:xfrm>
          <a:prstGeom prst="rect">
            <a:avLst/>
          </a:prstGeom>
          <a:solidFill>
            <a:srgbClr val="8A9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47688" y="4901184"/>
            <a:ext cx="4828032" cy="100584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Trạng thái thật hôm nay</a:t>
            </a:r>
          </a:p>
          <a:p>
            <a:pPr algn="l">
              <a:spcAft>
                <a:spcPts val="300"/>
              </a:spcAft>
            </a:pPr>
            <a:r>
              <a:rPr sz="1000" b="0" i="0">
                <a:solidFill>
                  <a:srgbClr val="33414E"/>
                </a:solidFill>
                <a:latin typeface="Segoe UI"/>
              </a:rPr>
              <a:t>Cờ live search mặc định OFF · E6 PENDING, chưa sign-off</a:t>
            </a:r>
          </a:p>
          <a:p>
            <a:pPr algn="l">
              <a:spcAft>
                <a:spcPts val="300"/>
              </a:spcAft>
            </a:pPr>
            <a:r>
              <a:rPr sz="1000" b="0" i="0">
                <a:solidFill>
                  <a:srgbClr val="33414E"/>
                </a:solidFill>
                <a:latin typeface="Segoe UI"/>
              </a:rPr>
              <a:t>Phase 6 external: 12/12 ở chế độ offline-no-network</a:t>
            </a:r>
          </a:p>
          <a:p>
            <a:pPr algn="l">
              <a:spcAft>
                <a:spcPts val="300"/>
              </a:spcAft>
            </a:pPr>
            <a:r>
              <a:rPr sz="1000" b="0" i="0">
                <a:solidFill>
                  <a:srgbClr val="33414E"/>
                </a:solidFill>
                <a:latin typeface="Segoe UI"/>
              </a:rPr>
              <a:t>Badge bắt buộc trên UI: provider · LIVE|RECORDED REPLAY ·</a:t>
            </a:r>
          </a:p>
          <a:p>
            <a:pPr algn="l">
              <a:spcAft>
                <a:spcPts val="300"/>
              </a:spcAft>
            </a:pPr>
            <a:r>
              <a:rPr sz="1000" b="0" i="0">
                <a:solidFill>
                  <a:srgbClr val="33414E"/>
                </a:solidFill>
                <a:latin typeface="Segoe UI"/>
              </a:rPr>
              <a:t>context only · retrieved_at · domain · content hash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Ranh giới tuyên bố — thứ quyết định độ tin cậy của cả hệ thống</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§18 · Được nói gì, và tuyệt đối không được nói gì</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Analytical QA System</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20</a:t>
            </a:r>
          </a:p>
        </p:txBody>
      </p:sp>
      <p:sp>
        <p:nvSpPr>
          <p:cNvPr id="9" name="Rectangle 8"/>
          <p:cNvSpPr/>
          <p:nvPr/>
        </p:nvSpPr>
        <p:spPr>
          <a:xfrm>
            <a:off x="566928" y="1481328"/>
            <a:ext cx="5577840" cy="3246120"/>
          </a:xfrm>
          <a:prstGeom prst="rect">
            <a:avLst/>
          </a:prstGeom>
          <a:solidFill>
            <a:srgbClr val="EF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81328"/>
            <a:ext cx="45720" cy="3246120"/>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45920"/>
            <a:ext cx="5120640" cy="2926080"/>
          </a:xfrm>
          <a:prstGeom prst="rect">
            <a:avLst/>
          </a:prstGeom>
          <a:noFill/>
        </p:spPr>
        <p:txBody>
          <a:bodyPr wrap="square" lIns="0" rIns="0" tIns="0" bIns="0">
            <a:spAutoFit/>
          </a:bodyPr>
          <a:lstStyle/>
          <a:p>
            <a:pPr algn="l">
              <a:spcAft>
                <a:spcPts val="900"/>
              </a:spcAft>
            </a:pPr>
            <a:r>
              <a:rPr sz="1250" b="1" i="0">
                <a:solidFill>
                  <a:srgbClr val="2F7A4F"/>
                </a:solidFill>
                <a:latin typeface="Segoe UI"/>
              </a:rPr>
              <a:t>✔   ĐƯỢC TUYÊN BỐ</a:t>
            </a:r>
          </a:p>
          <a:p>
            <a:pPr algn="l">
              <a:spcAft>
                <a:spcPts val="400"/>
              </a:spcAft>
            </a:pPr>
            <a:r>
              <a:rPr sz="1050" b="0" i="0">
                <a:solidFill>
                  <a:srgbClr val="33414E"/>
                </a:solidFill>
                <a:latin typeface="Segoe UI"/>
              </a:rPr>
              <a:t>LLM lập kế hoạch trong semantic space ĐÓNG; SQL và composition</a:t>
            </a:r>
          </a:p>
          <a:p>
            <a:pPr algn="l">
              <a:spcAft>
                <a:spcPts val="400"/>
              </a:spcAft>
            </a:pPr>
            <a:r>
              <a:rPr sz="1050" b="0" i="0">
                <a:solidFill>
                  <a:srgbClr val="33414E"/>
                </a:solidFill>
                <a:latin typeface="Segoe UI"/>
              </a:rPr>
              <a:t>thực hiện deterministic.</a:t>
            </a:r>
          </a:p>
          <a:p>
            <a:pPr algn="l">
              <a:spcAft>
                <a:spcPts val="400"/>
              </a:spcAft>
            </a:pPr>
            <a:r>
              <a:rPr sz="1050" b="0" i="0">
                <a:solidFill>
                  <a:srgbClr val="33414E"/>
                </a:solidFill>
                <a:latin typeface="Segoe UI"/>
              </a:rPr>
              <a:t>Topic routing tối ưu context SAU capability admission.</a:t>
            </a:r>
          </a:p>
          <a:p>
            <a:pPr algn="l">
              <a:spcAft>
                <a:spcPts val="400"/>
              </a:spcAft>
            </a:pPr>
            <a:r>
              <a:rPr sz="1050" b="0" i="0">
                <a:solidFill>
                  <a:srgbClr val="33414E"/>
                </a:solidFill>
                <a:latin typeface="Segoe UI"/>
              </a:rPr>
              <a:t>Decomposer hỗ trợ các canonical signature ĐÃ QUA GATE — không</a:t>
            </a:r>
          </a:p>
          <a:p>
            <a:pPr algn="l">
              <a:spcAft>
                <a:spcPts val="400"/>
              </a:spcAft>
            </a:pPr>
            <a:r>
              <a:rPr sz="1050" b="0" i="0">
                <a:solidFill>
                  <a:srgbClr val="33414E"/>
                </a:solidFill>
                <a:latin typeface="Segoe UI"/>
              </a:rPr>
              <a:t>phải truy vấn tự do vô hạn.</a:t>
            </a:r>
          </a:p>
          <a:p>
            <a:pPr algn="l">
              <a:spcAft>
                <a:spcPts val="400"/>
              </a:spcAft>
            </a:pPr>
            <a:r>
              <a:rPr sz="1050" b="0" i="0">
                <a:solidFill>
                  <a:srgbClr val="33414E"/>
                </a:solidFill>
                <a:latin typeface="Segoe UI"/>
              </a:rPr>
              <a:t>Trên benchmark có oracle, mọi câu ALLOW giữ đúng measure,</a:t>
            </a:r>
          </a:p>
          <a:p>
            <a:pPr algn="l">
              <a:spcAft>
                <a:spcPts val="400"/>
              </a:spcAft>
            </a:pPr>
            <a:r>
              <a:rPr sz="1050" b="0" i="0">
                <a:solidFill>
                  <a:srgbClr val="33414E"/>
                </a:solidFill>
                <a:latin typeface="Segoe UI"/>
              </a:rPr>
              <a:t>aggregation, grouping, scope và compound parts.</a:t>
            </a:r>
          </a:p>
          <a:p>
            <a:pPr algn="l">
              <a:spcAft>
                <a:spcPts val="400"/>
              </a:spcAft>
            </a:pPr>
            <a:r>
              <a:rPr sz="1050" b="0" i="0">
                <a:solidFill>
                  <a:srgbClr val="33414E"/>
                </a:solidFill>
                <a:latin typeface="Segoe UI"/>
              </a:rPr>
              <a:t>PAM là phân khúc listing dựa trên proxy.</a:t>
            </a:r>
          </a:p>
          <a:p>
            <a:pPr algn="l">
              <a:spcAft>
                <a:spcPts val="400"/>
              </a:spcAft>
            </a:pPr>
            <a:r>
              <a:rPr sz="1050" b="0" i="0">
                <a:solidFill>
                  <a:srgbClr val="33414E"/>
                </a:solidFill>
                <a:latin typeface="Segoe UI"/>
              </a:rPr>
              <a:t>Price/voucher miner mô tả đồng biến hoặc group difference.</a:t>
            </a:r>
          </a:p>
          <a:p>
            <a:pPr algn="l">
              <a:spcAft>
                <a:spcPts val="400"/>
              </a:spcAft>
            </a:pPr>
            <a:r>
              <a:rPr sz="1050" b="0" i="0">
                <a:solidFill>
                  <a:srgbClr val="33414E"/>
                </a:solidFill>
                <a:latin typeface="Segoe UI"/>
              </a:rPr>
              <a:t>Tavily là external context có provenance, replay bắt buộc.</a:t>
            </a:r>
          </a:p>
        </p:txBody>
      </p:sp>
      <p:sp>
        <p:nvSpPr>
          <p:cNvPr id="12" name="Rectangle 11"/>
          <p:cNvSpPr/>
          <p:nvPr/>
        </p:nvSpPr>
        <p:spPr>
          <a:xfrm>
            <a:off x="6446520" y="1481328"/>
            <a:ext cx="5193792" cy="3246120"/>
          </a:xfrm>
          <a:prstGeom prst="rect">
            <a:avLst/>
          </a:prstGeom>
          <a:solidFill>
            <a:srgbClr val="FD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46520" y="1481328"/>
            <a:ext cx="45720" cy="3246120"/>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02552" y="1645920"/>
            <a:ext cx="4754880" cy="2926080"/>
          </a:xfrm>
          <a:prstGeom prst="rect">
            <a:avLst/>
          </a:prstGeom>
          <a:noFill/>
        </p:spPr>
        <p:txBody>
          <a:bodyPr wrap="square" lIns="0" rIns="0" tIns="0" bIns="0">
            <a:spAutoFit/>
          </a:bodyPr>
          <a:lstStyle/>
          <a:p>
            <a:pPr algn="l">
              <a:spcAft>
                <a:spcPts val="900"/>
              </a:spcAft>
            </a:pPr>
            <a:r>
              <a:rPr sz="1250" b="1" i="0">
                <a:solidFill>
                  <a:srgbClr val="A6333F"/>
                </a:solidFill>
                <a:latin typeface="Segoe UI"/>
              </a:rPr>
              <a:t>✘   KHÔNG ĐƯỢC TUYÊN BỐ</a:t>
            </a:r>
          </a:p>
          <a:p>
            <a:pPr algn="l">
              <a:spcAft>
                <a:spcPts val="500"/>
              </a:spcAft>
            </a:pPr>
            <a:r>
              <a:rPr sz="1050" b="0" i="0">
                <a:solidFill>
                  <a:srgbClr val="33414E"/>
                </a:solidFill>
                <a:latin typeface="Segoe UI"/>
              </a:rPr>
              <a:t>“Trả lời được mọi câu hỏi.”</a:t>
            </a:r>
          </a:p>
          <a:p>
            <a:pPr algn="l">
              <a:spcAft>
                <a:spcPts val="500"/>
              </a:spcAft>
            </a:pPr>
            <a:r>
              <a:rPr sz="1050" b="0" i="0">
                <a:solidFill>
                  <a:srgbClr val="33414E"/>
                </a:solidFill>
                <a:latin typeface="Segoe UI"/>
              </a:rPr>
              <a:t>“LLM không thể chọn relation sai trước validator.”</a:t>
            </a:r>
          </a:p>
          <a:p>
            <a:pPr algn="l">
              <a:spcAft>
                <a:spcPts val="500"/>
              </a:spcAft>
            </a:pPr>
            <a:r>
              <a:rPr sz="1050" b="0" i="0">
                <a:solidFill>
                  <a:srgbClr val="33414E"/>
                </a:solidFill>
                <a:latin typeface="Segoe UI"/>
              </a:rPr>
              <a:t>“find_path() hiện tự động dựng mọi join.”</a:t>
            </a:r>
          </a:p>
          <a:p>
            <a:pPr algn="l">
              <a:spcAft>
                <a:spcPts val="500"/>
              </a:spcAft>
            </a:pPr>
            <a:r>
              <a:rPr sz="1050" b="0" i="0">
                <a:solidFill>
                  <a:srgbClr val="33414E"/>
                </a:solidFill>
                <a:latin typeface="Segoe UI"/>
              </a:rPr>
              <a:t>“Context ngắn hơn đồng nghĩa chính xác hơn.”</a:t>
            </a:r>
          </a:p>
          <a:p>
            <a:pPr algn="l">
              <a:spcAft>
                <a:spcPts val="500"/>
              </a:spcAft>
            </a:pPr>
            <a:r>
              <a:rPr sz="1050" b="0" i="0">
                <a:solidFill>
                  <a:srgbClr val="33414E"/>
                </a:solidFill>
                <a:latin typeface="Segoe UI"/>
              </a:rPr>
              <a:t>“subplan_count tự nó là Decomposer.”</a:t>
            </a:r>
          </a:p>
          <a:p>
            <a:pPr algn="l">
              <a:spcAft>
                <a:spcPts val="500"/>
              </a:spcAft>
            </a:pPr>
            <a:r>
              <a:rPr sz="1050" b="0" i="0">
                <a:solidFill>
                  <a:srgbClr val="33414E"/>
                </a:solidFill>
                <a:latin typeface="Segoe UI"/>
              </a:rPr>
              <a:t>“Deterministic đồng nghĩa không thể sai.”</a:t>
            </a:r>
          </a:p>
          <a:p>
            <a:pPr algn="l">
              <a:spcAft>
                <a:spcPts val="500"/>
              </a:spcAft>
            </a:pPr>
            <a:r>
              <a:rPr sz="1050" b="0" i="0">
                <a:solidFill>
                  <a:srgbClr val="33414E"/>
                </a:solidFill>
                <a:latin typeface="Segoe UI"/>
              </a:rPr>
              <a:t>“Dashboard hoặc Tavily đã production-ready.”</a:t>
            </a:r>
          </a:p>
          <a:p>
            <a:pPr algn="l">
              <a:spcAft>
                <a:spcPts val="500"/>
              </a:spcAft>
            </a:pPr>
            <a:r>
              <a:rPr sz="1050" b="0" i="0">
                <a:solidFill>
                  <a:srgbClr val="33414E"/>
                </a:solidFill>
                <a:latin typeface="Segoe UI"/>
              </a:rPr>
              <a:t>Bất kỳ tuyên bố nào về buyer behavior, forecast, profit, ROI</a:t>
            </a:r>
          </a:p>
          <a:p>
            <a:pPr algn="l">
              <a:spcAft>
                <a:spcPts val="500"/>
              </a:spcAft>
            </a:pPr>
            <a:r>
              <a:rPr sz="1050" b="0" i="0">
                <a:solidFill>
                  <a:srgbClr val="33414E"/>
                </a:solidFill>
                <a:latin typeface="Segoe UI"/>
              </a:rPr>
              <a:t>hoặc causal uplift — dataset không có bằng chứng cho chúng.</a:t>
            </a:r>
          </a:p>
        </p:txBody>
      </p:sp>
      <p:sp>
        <p:nvSpPr>
          <p:cNvPr id="15" name="Rectangle 14"/>
          <p:cNvSpPr/>
          <p:nvPr/>
        </p:nvSpPr>
        <p:spPr>
          <a:xfrm>
            <a:off x="566928" y="4956048"/>
            <a:ext cx="11057839" cy="1078992"/>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956048"/>
            <a:ext cx="54864" cy="10789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120640"/>
            <a:ext cx="10417759" cy="822960"/>
          </a:xfrm>
          <a:prstGeom prst="rect">
            <a:avLst/>
          </a:prstGeom>
          <a:noFill/>
        </p:spPr>
        <p:txBody>
          <a:bodyPr wrap="square" lIns="0" rIns="0" tIns="0" bIns="0">
            <a:spAutoFit/>
          </a:bodyPr>
          <a:lstStyle/>
          <a:p>
            <a:pPr algn="l">
              <a:spcAft>
                <a:spcPts val="600"/>
              </a:spcAft>
            </a:pPr>
            <a:r>
              <a:rPr sz="1200" b="1" i="0">
                <a:solidFill>
                  <a:srgbClr val="6FC7D1"/>
                </a:solidFill>
                <a:latin typeface="Segoe UI"/>
              </a:rPr>
              <a:t>Đang chờ NGƯỜI quyết — không code thay được</a:t>
            </a:r>
          </a:p>
          <a:p>
            <a:pPr algn="l">
              <a:spcAft>
                <a:spcPts val="0"/>
              </a:spcAft>
            </a:pPr>
            <a:r>
              <a:rPr sz="1100" b="0" i="0">
                <a:solidFill>
                  <a:srgbClr val="C8D6E2"/>
                </a:solidFill>
                <a:latin typeface="Segoe UI"/>
              </a:rPr>
              <a:t>Hai luật chất lượng dữ liệu DR1  ·  PAM golden review  ·  claim-boundary review P13  ·  fixture gap TC34  ·  policy sentinel giá TC19  ·  6 metric topic-gate ở trạng thái pending_oracle (cố ý KHÔNG tự chấm)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